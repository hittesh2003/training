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 / page</c:v>
                </c:pt>
              </c:strCache>
            </c:strRef>
          </c:tx>
          <c:spPr>
            <a:solidFill>
              <a:srgbClr val="2F80E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20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Federal register</c:v>
                  </c:pt>
                  <c:pt idx="1">
                    <c:v>Synthetic sample</c:v>
                  </c:pt>
                  <c:pt idx="2">
                    <c:v>NASA ISS factsheet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508.7</c:v>
                </c:pt>
                <c:pt idx="1">
                  <c:v>513</c:v>
                </c:pt>
                <c:pt idx="2">
                  <c:v>247.5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720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12700" cap="flat">
              <a:solidFill>
                <a:srgbClr val="E5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2 ·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475720" y="651052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002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2 · ANALYSIS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Validating What OCR Actually Extracted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28803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7C2D3"/>
                </a:solidFill>
              </a:rPr>
              <a:t>Module 1 produces a markdown file and says it's done. This module asks: is it actually right?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38160" y="3977640"/>
            <a:ext cx="1143000" cy="1234440"/>
          </a:xfrm>
          <a:prstGeom prst="roundRect">
            <a:avLst>
              <a:gd name="adj" fmla="val 6400"/>
            </a:avLst>
          </a:prstGeom>
          <a:solidFill>
            <a:srgbClr val="172033"/>
          </a:solidFill>
          <a:ln w="12700">
            <a:solidFill>
              <a:srgbClr val="2B3A5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321040" y="433425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.md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372600" y="4590288"/>
            <a:ext cx="777240" cy="0"/>
          </a:xfrm>
          <a:prstGeom prst="line">
            <a:avLst/>
          </a:prstGeom>
          <a:noFill/>
          <a:ln w="27940">
            <a:solidFill>
              <a:srgbClr val="58A6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177272" y="4133088"/>
            <a:ext cx="658368" cy="658368"/>
          </a:xfrm>
          <a:prstGeom prst="ellipse">
            <a:avLst/>
          </a:prstGeom>
          <a:solidFill>
            <a:srgbClr val="111827">
              <a:alpha val="0"/>
            </a:srgbClr>
          </a:solidFill>
          <a:ln w="38100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716768" y="4690872"/>
            <a:ext cx="384048" cy="384048"/>
          </a:xfrm>
          <a:prstGeom prst="line">
            <a:avLst/>
          </a:prstGeom>
          <a:noFill/>
          <a:ln w="38100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109960" y="4206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FD18B"/>
                </a:solidFill>
              </a:rPr>
              <a:t>✓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94360" y="592531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0B7"/>
                </a:solidFill>
              </a:rPr>
              <a:t>Identification  ·  Validation  ·  Root Cause Analysis</a:t>
            </a:r>
            <a:endParaRPr lang="en-US" sz="850" dirty="0"/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VIDEO SERIES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Part of a Series: How to Build Your First Chatbot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7385"/>
                </a:solidFill>
              </a:rPr>
              <a:t>Real documents, real models, real measured results — not toy examples.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106070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1837944"/>
            <a:ext cx="347472" cy="347472"/>
          </a:xfrm>
          <a:prstGeom prst="ellipse">
            <a:avLst/>
          </a:prstGeom>
          <a:solidFill>
            <a:srgbClr val="97A3B5"/>
          </a:solidFill>
          <a:ln w="12700">
            <a:solidFill>
              <a:srgbClr val="97A3B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1920240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44752" y="18562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385"/>
                </a:solidFill>
              </a:rPr>
              <a:t>OCR &amp; Document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0" y="185623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385"/>
                </a:solidFill>
              </a:rPr>
              <a:t>PDF → structured markdown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2441448"/>
            <a:ext cx="10607040" cy="475488"/>
          </a:xfrm>
          <a:prstGeom prst="roundRect">
            <a:avLst>
              <a:gd name="adj" fmla="val 11538"/>
            </a:avLst>
          </a:prstGeom>
          <a:solidFill>
            <a:srgbClr val="EAF3FF"/>
          </a:solidFill>
          <a:ln w="2032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60120" y="2496312"/>
            <a:ext cx="347472" cy="34747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60120" y="2578608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44752" y="25146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Analysis &amp; Validation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251460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80ED"/>
                </a:solidFill>
              </a:rPr>
              <a:t>Is the extraction actually right?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0" y="25146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F80ED"/>
                </a:solidFill>
              </a:rPr>
              <a:t>YOU ARE HERE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77240" y="3099816"/>
            <a:ext cx="106070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60120" y="3154680"/>
            <a:ext cx="347472" cy="347472"/>
          </a:xfrm>
          <a:prstGeom prst="ellipse">
            <a:avLst/>
          </a:prstGeom>
          <a:solidFill>
            <a:srgbClr val="97A3B5"/>
          </a:solidFill>
          <a:ln w="12700">
            <a:solidFill>
              <a:srgbClr val="97A3B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60120" y="3236976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44752" y="31729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385"/>
                </a:solidFill>
              </a:rPr>
              <a:t>Chunking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3172968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385"/>
                </a:solidFill>
              </a:rPr>
              <a:t>Splitting documents for retrieval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3758184"/>
            <a:ext cx="106070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60120" y="3813048"/>
            <a:ext cx="347472" cy="347472"/>
          </a:xfrm>
          <a:prstGeom prst="ellipse">
            <a:avLst/>
          </a:prstGeom>
          <a:solidFill>
            <a:srgbClr val="97A3B5"/>
          </a:solidFill>
          <a:ln w="12700">
            <a:solidFill>
              <a:srgbClr val="97A3B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60120" y="3895344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44752" y="383133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385"/>
                </a:solidFill>
              </a:rPr>
              <a:t>Embedding &amp; Database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3831336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385"/>
                </a:solidFill>
              </a:rPr>
              <a:t>Vectors, Postgres, pgvector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" y="4416552"/>
            <a:ext cx="106070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60120" y="4471416"/>
            <a:ext cx="347472" cy="347472"/>
          </a:xfrm>
          <a:prstGeom prst="ellipse">
            <a:avLst/>
          </a:prstGeom>
          <a:solidFill>
            <a:srgbClr val="97A3B5"/>
          </a:solidFill>
          <a:ln w="12700">
            <a:solidFill>
              <a:srgbClr val="97A3B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60120" y="4553712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44752" y="44897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385"/>
                </a:solidFill>
              </a:rPr>
              <a:t>Database Deep Dive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4489704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385"/>
                </a:solidFill>
              </a:rPr>
              <a:t>Search, indexes, and what Postgres actually does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" y="5074920"/>
            <a:ext cx="106070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60120" y="5129784"/>
            <a:ext cx="347472" cy="347472"/>
          </a:xfrm>
          <a:prstGeom prst="ellipse">
            <a:avLst/>
          </a:prstGeom>
          <a:solidFill>
            <a:srgbClr val="97A3B5"/>
          </a:solidFill>
          <a:ln w="12700">
            <a:solidFill>
              <a:srgbClr val="97A3B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60120" y="5212080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444752" y="51480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385"/>
                </a:solidFill>
              </a:rPr>
              <a:t>Summarization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080" y="514807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385"/>
                </a:solidFill>
              </a:rPr>
              <a:t>Retrieval + a real LLM + a UI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A8493"/>
                </a:solidFill>
              </a:rPr>
              <a:t>Series context reproduced from the provided Module 2 deck.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02920" y="438912"/>
            <a:ext cx="36576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80ED"/>
                </a:solidFill>
                <a:latin typeface="Aptos"/>
              </a:rPr>
              <a:t>VALIDATION METHODOLOGY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713232"/>
            <a:ext cx="1097280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233A"/>
                </a:solidFill>
                <a:latin typeface="Aptos"/>
              </a:rPr>
              <a:t>How We Validate OCR 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261872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66748C"/>
                </a:solidFill>
                <a:latin typeface="Aptos"/>
              </a:rPr>
              <a:t>Sample across document structures → measure extraction signals → analyze statistically → inspect what looks wrong.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1828800"/>
            <a:ext cx="3246120" cy="3520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2057400"/>
            <a:ext cx="27432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9233A"/>
                </a:solidFill>
                <a:latin typeface="Aptos"/>
              </a:rPr>
              <a:t>1  BUILD A REPRESENTATIVE SAMPLE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2487168"/>
            <a:ext cx="269748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6748C"/>
                </a:solidFill>
                <a:latin typeface="Aptos"/>
              </a:rPr>
              <a:t>Do not validate only the easiest PDFs. Sample documents across the structures present in the corpus.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3182112"/>
            <a:ext cx="25146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336042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19" b="1">
                <a:solidFill>
                  <a:srgbClr val="2F80ED"/>
                </a:solidFill>
                <a:latin typeface="Aptos"/>
              </a:rPr>
              <a:t>TEXT-HEAVY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3639312"/>
            <a:ext cx="2514600" cy="256032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FFF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36896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19" b="1">
                <a:solidFill>
                  <a:srgbClr val="F59E0B"/>
                </a:solidFill>
                <a:latin typeface="Aptos"/>
              </a:rPr>
              <a:t>TABLES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3968496"/>
            <a:ext cx="2514600" cy="256032"/>
          </a:xfrm>
          <a:prstGeom prst="roundRect">
            <a:avLst/>
          </a:prstGeom>
          <a:solidFill>
            <a:srgbClr val="F0FAF5"/>
          </a:solidFill>
          <a:ln w="12700">
            <a:solidFill>
              <a:srgbClr val="F0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4018787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19" b="1">
                <a:solidFill>
                  <a:srgbClr val="27AE60"/>
                </a:solidFill>
                <a:latin typeface="Aptos"/>
              </a:rPr>
              <a:t>FORMS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4297680"/>
            <a:ext cx="251460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347972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19" b="1">
                <a:solidFill>
                  <a:srgbClr val="2F80ED"/>
                </a:solidFill>
                <a:latin typeface="Aptos"/>
              </a:rPr>
              <a:t>MULTI-COLUMN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" y="4626864"/>
            <a:ext cx="2514600" cy="256032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FFF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4677155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19" b="1">
                <a:solidFill>
                  <a:srgbClr val="F59E0B"/>
                </a:solidFill>
                <a:latin typeface="Aptos"/>
              </a:rPr>
              <a:t>SCANNED / MIXED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029200"/>
            <a:ext cx="26517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6748C"/>
                </a:solidFill>
                <a:latin typeface="Aptos"/>
              </a:rPr>
              <a:t>This makes the validation set reflect the actual variety of the corpus.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60520" y="1828800"/>
            <a:ext cx="73609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34840" y="2057400"/>
            <a:ext cx="3474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9233A"/>
                </a:solidFill>
                <a:latin typeface="Aptos"/>
              </a:rPr>
              <a:t>2  TURN THE SAMPLE INTO 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4462272" y="2542032"/>
            <a:ext cx="347472" cy="347472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19472" y="2532888"/>
            <a:ext cx="1828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233A"/>
                </a:solidFill>
                <a:latin typeface="Aptos"/>
              </a:rPr>
              <a:t>MEASURE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523744"/>
            <a:ext cx="47091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48C"/>
                </a:solidFill>
                <a:latin typeface="Aptos"/>
              </a:rPr>
              <a:t>tokens/page · confidence · dropped regions · artifacts</a:t>
            </a:r>
          </a:p>
        </p:txBody>
      </p:sp>
      <p:sp>
        <p:nvSpPr>
          <p:cNvPr id="48" name="Oval 47"/>
          <p:cNvSpPr/>
          <p:nvPr/>
        </p:nvSpPr>
        <p:spPr>
          <a:xfrm>
            <a:off x="4462272" y="3154680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19472" y="3145536"/>
            <a:ext cx="1828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233A"/>
                </a:solidFill>
                <a:latin typeface="Aptos"/>
              </a:rPr>
              <a:t>ANALYZE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3136392"/>
            <a:ext cx="47091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48C"/>
                </a:solidFill>
                <a:latin typeface="Aptos"/>
              </a:rPr>
              <a:t>mean / median · spread · distributions · structure-wise rates</a:t>
            </a:r>
          </a:p>
        </p:txBody>
      </p:sp>
      <p:sp>
        <p:nvSpPr>
          <p:cNvPr id="51" name="Oval 50"/>
          <p:cNvSpPr/>
          <p:nvPr/>
        </p:nvSpPr>
        <p:spPr>
          <a:xfrm>
            <a:off x="4462272" y="3767328"/>
            <a:ext cx="347472" cy="3474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19472" y="3758184"/>
            <a:ext cx="1828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233A"/>
                </a:solidFill>
                <a:latin typeface="Aptos"/>
              </a:rPr>
              <a:t>FIND OUTLIERS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3749040"/>
            <a:ext cx="47091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48C"/>
                </a:solidFill>
                <a:latin typeface="Aptos"/>
              </a:rPr>
              <a:t>unusually low/high density · missing content · malformed regions</a:t>
            </a:r>
          </a:p>
        </p:txBody>
      </p:sp>
      <p:sp>
        <p:nvSpPr>
          <p:cNvPr id="54" name="Oval 53"/>
          <p:cNvSpPr/>
          <p:nvPr/>
        </p:nvSpPr>
        <p:spPr>
          <a:xfrm>
            <a:off x="4462272" y="4379976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19472" y="4370832"/>
            <a:ext cx="1828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233A"/>
                </a:solidFill>
                <a:latin typeface="Aptos"/>
              </a:rPr>
              <a:t>VALIDATE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361688"/>
            <a:ext cx="47091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48C"/>
                </a:solidFill>
                <a:latin typeface="Aptos"/>
              </a:rPr>
              <a:t>inspect a sample + flagged cases and decide if output is trustworthy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34840" y="4983480"/>
            <a:ext cx="6720840" cy="20116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0" y="4992624"/>
            <a:ext cx="109728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>
                <a:solidFill>
                  <a:srgbClr val="66748C"/>
                </a:solidFill>
                <a:latin typeface="Aptos"/>
              </a:rPr>
              <a:t>EXPECTED RANGE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37960" y="4983480"/>
            <a:ext cx="2926080" cy="201168"/>
          </a:xfrm>
          <a:prstGeom prst="roundRect">
            <a:avLst/>
          </a:prstGeom>
          <a:solidFill>
            <a:srgbClr val="F0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78040" y="4992624"/>
            <a:ext cx="1463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27AE60"/>
                </a:solidFill>
                <a:latin typeface="Aptos"/>
              </a:rPr>
              <a:t>NORMAL VARIATION</a:t>
            </a:r>
          </a:p>
        </p:txBody>
      </p:sp>
      <p:sp>
        <p:nvSpPr>
          <p:cNvPr id="61" name="Oval 60"/>
          <p:cNvSpPr/>
          <p:nvPr/>
        </p:nvSpPr>
        <p:spPr>
          <a:xfrm>
            <a:off x="6080760" y="4937760"/>
            <a:ext cx="274320" cy="274320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35040" y="5212080"/>
            <a:ext cx="5029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EB5757"/>
                </a:solidFill>
                <a:latin typeface="Aptos"/>
              </a:rPr>
              <a:t>LOW</a:t>
            </a:r>
          </a:p>
        </p:txBody>
      </p:sp>
      <p:sp>
        <p:nvSpPr>
          <p:cNvPr id="63" name="Oval 62"/>
          <p:cNvSpPr/>
          <p:nvPr/>
        </p:nvSpPr>
        <p:spPr>
          <a:xfrm>
            <a:off x="9738360" y="4937760"/>
            <a:ext cx="274320" cy="274320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92640" y="5212080"/>
            <a:ext cx="5029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EB5757"/>
                </a:solidFill>
                <a:latin typeface="Aptos"/>
              </a:rPr>
              <a:t>HIGH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8680" y="5650992"/>
            <a:ext cx="10561320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5797296"/>
            <a:ext cx="101041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F80ED"/>
                </a:solidFill>
                <a:latin typeface="Aptos"/>
              </a:rPr>
              <a:t>The goal is not one “correct” number — it is evidence that the OCR behaves consistently across the document population.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438912"/>
            <a:ext cx="36576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80ED"/>
                </a:solidFill>
                <a:latin typeface="Aptos"/>
              </a:rPr>
              <a:t>VALIDATION METHODOLOGY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HOW THIS HELPS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Three Things This Module Actually Buys You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0632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9021696150000000" dist="26014464100000000" dir="583200000000000000000">
              <a:srgbClr val="000000">
                <a:alpha val="1300000000000000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057400"/>
            <a:ext cx="530352" cy="292608"/>
          </a:xfrm>
          <a:prstGeom prst="roundRect">
            <a:avLst>
              <a:gd name="adj" fmla="val 25000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41832" y="21031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25877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0ED"/>
                </a:solidFill>
              </a:rPr>
              <a:t>IDENTIFICATION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Find the documents most likely to have extraction problems — from metrics alone.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0632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495575541105000000000" dist="330383694070000000000" dir="3.4992e+25">
              <a:srgbClr val="000000">
                <a:alpha val="1.3e+24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80560" y="2057400"/>
            <a:ext cx="530352" cy="292608"/>
          </a:xfrm>
          <a:prstGeom prst="roundRect">
            <a:avLst>
              <a:gd name="adj" fmla="val 25000"/>
            </a:avLst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53712" y="21031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80560" y="25877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A36B"/>
                </a:solidFill>
              </a:rPr>
              <a:t>VALIDATION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3108960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Decide whether a completed document is trustworthy enough to move downstream.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1828800"/>
            <a:ext cx="30632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6.2938093720335e+24" dist="4.195872914689e+24" dir="2.09952e+30">
              <a:srgbClr val="000000">
                <a:alpha val="1.3e+29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92440" y="2057400"/>
            <a:ext cx="530352" cy="292608"/>
          </a:xfrm>
          <a:prstGeom prst="roundRect">
            <a:avLst>
              <a:gd name="adj" fmla="val 25000"/>
            </a:avLst>
          </a:prstGeom>
          <a:solidFill>
            <a:srgbClr val="E45757"/>
          </a:solidFill>
          <a:ln w="12700">
            <a:solidFill>
              <a:srgbClr val="E4575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165592" y="21031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092440" y="25877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57"/>
                </a:solidFill>
              </a:rPr>
              <a:t>ROOT CAUSE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92440" y="3108960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Trace a bad result back to the exact page and region that caused it.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48840" y="51023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Same underlying evidence → three different human decisions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What This Module Does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7385"/>
                </a:solidFill>
              </a:rPr>
              <a:t>One pass turns raw OCR output into a validation workbook a human can scan quickly.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2240280" cy="24231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7.993137902482545e+28" dist="5.3287586016550295e+28" dir="1.259712e+35">
              <a:srgbClr val="000000">
                <a:alpha val="1.3e+34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2267712"/>
            <a:ext cx="457200" cy="45720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35000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9077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0ED"/>
                </a:solidFill>
              </a:rPr>
              <a:t>READ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31927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7385"/>
                </a:solidFill>
              </a:rPr>
              <a:t>markdown + metadata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852928" y="3310128"/>
            <a:ext cx="512064" cy="0"/>
          </a:xfrm>
          <a:prstGeom prst="line">
            <a:avLst/>
          </a:prstGeom>
          <a:noFill/>
          <a:ln w="25400">
            <a:solidFill>
              <a:srgbClr val="9AA4B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520440" y="2057400"/>
            <a:ext cx="2240280" cy="24231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.0151285136152831e+33" dist="6.767523424101888e+32" dir="7.558272e+39">
              <a:srgbClr val="000000">
                <a:alpha val="1.3e+39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703320" y="2267712"/>
            <a:ext cx="457200" cy="457200"/>
          </a:xfrm>
          <a:prstGeom prst="ellipse">
            <a:avLst/>
          </a:prstGeom>
          <a:solidFill>
            <a:srgbClr val="25A7D9"/>
          </a:solidFill>
          <a:ln w="12700">
            <a:solidFill>
              <a:srgbClr val="25A7D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703320" y="235000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29077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A7D9"/>
                </a:solidFill>
              </a:rPr>
              <a:t>MEASURE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03320" y="331927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7385"/>
                </a:solidFill>
              </a:rPr>
              <a:t>tokens · pages · layout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779008" y="3310128"/>
            <a:ext cx="512064" cy="0"/>
          </a:xfrm>
          <a:prstGeom prst="line">
            <a:avLst/>
          </a:prstGeom>
          <a:noFill/>
          <a:ln w="25400">
            <a:solidFill>
              <a:srgbClr val="9AA4B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46520" y="2057400"/>
            <a:ext cx="2240280" cy="24231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.2892132122914095e+37" dist="8.594754748609397e+36" dir="4.5349632000000006e+44">
              <a:srgbClr val="000000">
                <a:alpha val="1.3e+44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629400" y="226771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29400" y="235000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29077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FLAG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331927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7385"/>
                </a:solidFill>
              </a:rPr>
              <a:t>uncertain / dropped / malformed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705088" y="3310128"/>
            <a:ext cx="512064" cy="0"/>
          </a:xfrm>
          <a:prstGeom prst="line">
            <a:avLst/>
          </a:prstGeom>
          <a:noFill/>
          <a:ln w="25400">
            <a:solidFill>
              <a:srgbClr val="9AA4B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372600" y="2057400"/>
            <a:ext cx="2240280" cy="2423160"/>
          </a:xfrm>
          <a:prstGeom prst="roundRect">
            <a:avLst>
              <a:gd name="adj" fmla="val 3265"/>
            </a:avLst>
          </a:prstGeom>
          <a:solidFill>
            <a:srgbClr val="F2FBF6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.6373007796100902e+41" dist="1.0915338530733935e+41" dir="2.72097792e+49">
              <a:srgbClr val="000000">
                <a:alpha val="1.3e+49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555480" y="2267712"/>
            <a:ext cx="457200" cy="457200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555480" y="235000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555480" y="29077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A36B"/>
                </a:solidFill>
              </a:rPr>
              <a:t>REPORT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55480" y="331927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7385"/>
                </a:solidFill>
              </a:rPr>
              <a:t>Excel summary + detail sheets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371600" y="507492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The workbook becomes the quality gate between OCR and chunking.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TEACHING BUILD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From “files exist” to “evidence exists” · Step 1 of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7385"/>
                </a:solidFill>
              </a:rPr>
              <a:t>Use these three slides as a click-through build while teaching the validation pipeline.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965960" cy="347472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2.0793719901048145e+45" dist="1.3862479934032098e+45" dir="1.6325867520000003e+54">
              <a:srgbClr val="000000">
                <a:alpha val="1.2999999999999999e+54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20574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87385"/>
                </a:solidFill>
              </a:rPr>
              <a:t>MODULE 1 OUTPUT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14173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283464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document.md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3355848"/>
            <a:ext cx="14173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34930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metadata.json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4014216"/>
            <a:ext cx="14173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05840" y="415137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regions.json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79192" y="3520440"/>
            <a:ext cx="1115568" cy="0"/>
          </a:xfrm>
          <a:prstGeom prst="line">
            <a:avLst/>
          </a:prstGeom>
          <a:noFill/>
          <a:ln w="3175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931920" y="1828800"/>
            <a:ext cx="2926080" cy="3474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2.640802427433114e+49" dist="1.7605349516220764e+49" dir="9.795520512000002e+58">
              <a:srgbClr val="000000">
                <a:alpha val="1.2999999999999998e+59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251960" y="2148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87385"/>
                </a:solidFill>
              </a:rPr>
              <a:t>ANALYSIS MODULE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15968" y="2697480"/>
            <a:ext cx="2148840" cy="475488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43984" y="277977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87385"/>
                </a:solidFill>
              </a:rPr>
              <a:t>TOKENS / PAGE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40680" y="27523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AA4B2"/>
                </a:solidFill>
              </a:rPr>
              <a:t>≈ 510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15968" y="3383280"/>
            <a:ext cx="2148840" cy="475488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443984" y="346557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87385"/>
                </a:solidFill>
              </a:rPr>
              <a:t>LOW CONF.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40680" y="34381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AA4B2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15968" y="4069080"/>
            <a:ext cx="2148840" cy="475488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443984" y="415137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87385"/>
                </a:solidFill>
              </a:rPr>
              <a:t>DROPPED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40680" y="41239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AA4B2"/>
                </a:solidFill>
              </a:rPr>
              <a:t>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22592" y="3520440"/>
            <a:ext cx="1115568" cy="0"/>
          </a:xfrm>
          <a:prstGeom prst="line">
            <a:avLst/>
          </a:prstGeom>
          <a:noFill/>
          <a:ln w="31750">
            <a:solidFill>
              <a:srgbClr val="B7C0C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275320" y="182880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.353819082840055e+53" dist="2.235879388560037e+53" dir="5.877312307200001e+63">
              <a:srgbClr val="000000">
                <a:alpha val="1.2999999999999998e+64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595360" y="21488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87385"/>
                </a:solidFill>
              </a:rPr>
              <a:t>VALIDATION WORKBOOK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732520" y="2697480"/>
            <a:ext cx="16459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51392" y="2770632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Summary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732520" y="3118104"/>
            <a:ext cx="16459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851392" y="319125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Low Confidence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732520" y="3538728"/>
            <a:ext cx="16459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851392" y="361188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Dropped Regions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732520" y="3959352"/>
            <a:ext cx="16459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851392" y="403250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Artifacts Detail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51560" y="5623560"/>
            <a:ext cx="10058400" cy="512064"/>
          </a:xfrm>
          <a:prstGeom prst="roundRect">
            <a:avLst>
              <a:gd name="adj" fmla="val 7143"/>
            </a:avLst>
          </a:prstGeom>
          <a:solidFill>
            <a:srgbClr val="FFF6D6"/>
          </a:solidFill>
          <a:ln w="12700">
            <a:solidFill>
              <a:srgbClr val="F2D67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325880" y="5779008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33"/>
                </a:solidFill>
              </a:rPr>
              <a:t>Step 1: Module 1 produced files. That only proves the run completed.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TEACHING BUILD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From “files exist” to “evidence exists” · Step 2 of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7385"/>
                </a:solidFill>
              </a:rPr>
              <a:t>Use these three slides as a click-through build while teaching the validation pipeline.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965960" cy="347472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4.2593502352068695e+57" dist="2.839566823471247e+57" dir="3.526387384320001e+68">
              <a:srgbClr val="000000">
                <a:alpha val="1.2999999999999999e+69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20574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87385"/>
                </a:solidFill>
              </a:rPr>
              <a:t>MODULE 1 OUTPUT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14173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283464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document.md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3355848"/>
            <a:ext cx="14173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34930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metadata.json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4014216"/>
            <a:ext cx="14173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05840" y="415137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regions.json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79192" y="3520440"/>
            <a:ext cx="1115568" cy="0"/>
          </a:xfrm>
          <a:prstGeom prst="line">
            <a:avLst/>
          </a:prstGeom>
          <a:noFill/>
          <a:ln w="3175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931920" y="1828800"/>
            <a:ext cx="2926080" cy="3474720"/>
          </a:xfrm>
          <a:prstGeom prst="roundRect">
            <a:avLst>
              <a:gd name="adj" fmla="val 2500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  <a:effectLst>
            <a:outerShdw sx="100000" sy="100000" kx="0" ky="0" algn="bl" rotWithShape="0" blurRad="5.409374798712724e+61" dist="3.606249865808484e+61" dir="2.1158324305920003e+73">
              <a:srgbClr val="000000">
                <a:alpha val="1.3e+74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251960" y="2148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0ED"/>
                </a:solidFill>
              </a:rPr>
              <a:t>ANALYSIS MODULE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15968" y="2697480"/>
            <a:ext cx="21488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B7D8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43984" y="277977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87385"/>
                </a:solidFill>
              </a:rPr>
              <a:t>TOKENS / PAGE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40680" y="27523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F80ED"/>
                </a:solidFill>
              </a:rPr>
              <a:t>≈ 510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15968" y="3383280"/>
            <a:ext cx="21488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B7D8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443984" y="346557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87385"/>
                </a:solidFill>
              </a:rPr>
              <a:t>LOW CONF.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40680" y="34381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F80ED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15968" y="4069080"/>
            <a:ext cx="21488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B7D8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443984" y="415137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87385"/>
                </a:solidFill>
              </a:rPr>
              <a:t>DROPPED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40680" y="41239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F80ED"/>
                </a:solidFill>
              </a:rPr>
              <a:t>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22592" y="3520440"/>
            <a:ext cx="1115568" cy="0"/>
          </a:xfrm>
          <a:prstGeom prst="line">
            <a:avLst/>
          </a:prstGeom>
          <a:noFill/>
          <a:ln w="31750">
            <a:solidFill>
              <a:srgbClr val="B7C0C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275320" y="182880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6.86990599436516e+65" dist="4.579937329576775e+65" dir="1.2694994583552002e+78">
              <a:srgbClr val="000000">
                <a:alpha val="1.3e+79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595360" y="21488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87385"/>
                </a:solidFill>
              </a:rPr>
              <a:t>VALIDATION WORKBOOK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732520" y="2697480"/>
            <a:ext cx="16459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51392" y="2770632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Summary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732520" y="3118104"/>
            <a:ext cx="16459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851392" y="319125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Low Confidence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732520" y="3538728"/>
            <a:ext cx="16459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851392" y="361188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Dropped Regions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732520" y="3959352"/>
            <a:ext cx="16459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851392" y="403250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Artifacts Detail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51560" y="5623560"/>
            <a:ext cx="10058400" cy="512064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 w="12700">
            <a:solidFill>
              <a:srgbClr val="B7D8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325880" y="5779008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33"/>
                </a:solidFill>
              </a:rPr>
              <a:t>Step 2: Analysis converts those files into comparable quality signals.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TEACHING BUILD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From “files exist” to “evidence exists” · Step 3 of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7385"/>
                </a:solidFill>
              </a:rPr>
              <a:t>Use these three slides as a click-through build while teaching the validation pipeline.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965960" cy="347472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.724780612843754e+69" dist="5.816520408562504e+69" dir="7.616996750131201e+82">
              <a:srgbClr val="000000">
                <a:alpha val="1.3e+84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20574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87385"/>
                </a:solidFill>
              </a:rPr>
              <a:t>MODULE 1 OUTPUT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14173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283464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document.md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3355848"/>
            <a:ext cx="14173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34930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metadata.json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4014216"/>
            <a:ext cx="14173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05840" y="415137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regions.json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79192" y="3520440"/>
            <a:ext cx="1115568" cy="0"/>
          </a:xfrm>
          <a:prstGeom prst="line">
            <a:avLst/>
          </a:prstGeom>
          <a:noFill/>
          <a:ln w="3175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931920" y="1828800"/>
            <a:ext cx="2926080" cy="3474720"/>
          </a:xfrm>
          <a:prstGeom prst="roundRect">
            <a:avLst>
              <a:gd name="adj" fmla="val 2500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  <a:effectLst>
            <a:outerShdw sx="100000" sy="100000" kx="0" ky="0" algn="bl" rotWithShape="0" blurRad="1.1080471378311567e+74" dist="7.38698091887438e+73" dir="4.57019805007872e+87">
              <a:srgbClr val="000000">
                <a:alpha val="1.3e+89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251960" y="2148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0ED"/>
                </a:solidFill>
              </a:rPr>
              <a:t>ANALYSIS MODULE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15968" y="2697480"/>
            <a:ext cx="21488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B7D8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43984" y="277977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87385"/>
                </a:solidFill>
              </a:rPr>
              <a:t>TOKENS / PAGE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40680" y="27523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F80ED"/>
                </a:solidFill>
              </a:rPr>
              <a:t>≈ 510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15968" y="3383280"/>
            <a:ext cx="21488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B7D8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443984" y="346557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87385"/>
                </a:solidFill>
              </a:rPr>
              <a:t>LOW CONF.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40680" y="34381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F80ED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15968" y="4069080"/>
            <a:ext cx="21488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B7D8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443984" y="415137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87385"/>
                </a:solidFill>
              </a:rPr>
              <a:t>DROPPED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40680" y="41239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F80ED"/>
                </a:solidFill>
              </a:rPr>
              <a:t>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22592" y="3520440"/>
            <a:ext cx="1115568" cy="0"/>
          </a:xfrm>
          <a:prstGeom prst="line">
            <a:avLst/>
          </a:prstGeom>
          <a:noFill/>
          <a:ln w="31750">
            <a:solidFill>
              <a:srgbClr val="2FA36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275320" y="182880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2FBF6"/>
          </a:solidFill>
          <a:ln w="12700">
            <a:solidFill>
              <a:srgbClr val="9AD7B5"/>
            </a:solidFill>
            <a:prstDash val="solid"/>
          </a:ln>
          <a:effectLst>
            <a:outerShdw sx="100000" sy="100000" kx="0" ky="0" algn="bl" rotWithShape="0" blurRad="1.407219865045569e+78" dist="9.381465766970462e+77" dir="2.742118830047232e+92">
              <a:srgbClr val="000000">
                <a:alpha val="1.3e+94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595360" y="21488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A36B"/>
                </a:solidFill>
              </a:rPr>
              <a:t>VALIDATION WORKBOOK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732520" y="2697480"/>
            <a:ext cx="16459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51392" y="2770632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Summary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732520" y="3118104"/>
            <a:ext cx="16459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851392" y="319125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Low Confidence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732520" y="3538728"/>
            <a:ext cx="1645920" cy="310896"/>
          </a:xfrm>
          <a:prstGeom prst="rect">
            <a:avLst/>
          </a:prstGeom>
          <a:solidFill>
            <a:srgbClr val="FFF1F1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851392" y="361188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5757"/>
                </a:solidFill>
              </a:rPr>
              <a:t>Dropped Regions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732520" y="3959352"/>
            <a:ext cx="16459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851392" y="403250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Artifacts Detail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698480" y="4160520"/>
            <a:ext cx="475488" cy="475488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698480" y="4242816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948672" y="468172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A36B"/>
                </a:solidFill>
              </a:rPr>
              <a:t>Human checks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FA36B"/>
                </a:solidFill>
              </a:rPr>
              <a:t>exact page + bbox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51560" y="5623560"/>
            <a:ext cx="10058400" cy="512064"/>
          </a:xfrm>
          <a:prstGeom prst="roundRect">
            <a:avLst>
              <a:gd name="adj" fmla="val 7143"/>
            </a:avLst>
          </a:prstGeom>
          <a:solidFill>
            <a:srgbClr val="F2FBF6"/>
          </a:solidFill>
          <a:ln w="12700">
            <a:solidFill>
              <a:srgbClr val="9AD7B5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325880" y="5779008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33"/>
                </a:solidFill>
              </a:rPr>
              <a:t>Step 3: Flags land in a workbook that tells a human exactly where to look.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REAL NUMBERS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Tokens Per Page, Three Real Documents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7385"/>
                </a:solidFill>
              </a:rPr>
              <a:t>Content density tells you more than raw document length.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828800"/>
          <a:ext cx="64465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52360" y="1828800"/>
            <a:ext cx="40690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.209470961743788e+115" dist="8.063139744958588e+114" dir="2.763423996509167e+135">
              <a:srgbClr val="000000">
                <a:alpha val="1.3e+139"/>
              </a:srgbClr>
            </a:outerShdw>
          </a:effectLst>
        </p:spPr>
        <p:txBody>
          <a:bodyPr/>
          <a:p/>
        </p:txBody>
      </p:sp>
      <p:pic>
        <p:nvPicPr>
          <p:cNvPr id="7" name="Image 0" descr="/mnt/data/nasa_iss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2181416"/>
            <a:ext cx="3639312" cy="20471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54112" y="45537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NASA ISS factsheet visual context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754112" y="484632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87385"/>
                </a:solidFill>
              </a:rPr>
              <a:t>Despite 2 pages, this document averaged only 247.5 tokens/page in the measured corpus.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02920" y="647395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A8493"/>
                </a:solidFill>
              </a:rPr>
              <a:t>Data: provided Module 2 deck. Image: NASA Headquarters, “NASA Science Facilities on the International Space Station,” https://svs.gsfc.nasa.gov/30280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LAYOUT ANALYSIS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The Other Half of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7385"/>
                </a:solidFill>
              </a:rPr>
              <a:t>Token analysis and layout analysis answer two independent questions.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66360" cy="3520440"/>
          </a:xfrm>
          <a:prstGeom prst="roundRect">
            <a:avLst>
              <a:gd name="adj" fmla="val 2078"/>
            </a:avLst>
          </a:prstGeom>
          <a:solidFill>
            <a:srgbClr val="EAF3FF"/>
          </a:solidFill>
          <a:ln w="12700">
            <a:solidFill>
              <a:srgbClr val="B7D8FF"/>
            </a:solidFill>
            <a:prstDash val="solid"/>
          </a:ln>
          <a:effectLst>
            <a:outerShdw sx="100000" sy="100000" kx="0" ky="0" algn="bl" rotWithShape="0" blurRad="1.5360281214146108e+119" dist="1.0240187476097407e+119" dir="1.6580543979055002e+140">
              <a:srgbClr val="000000">
                <a:alpha val="1.3000000000000001e+144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51560" y="221284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0ED"/>
                </a:solidFill>
              </a:rPr>
              <a:t>HOW MUCH CAME OUT?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58775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0ED"/>
                </a:solidFill>
              </a:rPr>
              <a:t>TOKEN ANALYSIS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34440" y="3044952"/>
            <a:ext cx="310896" cy="31089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34440" y="3127248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82496" y="30998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token count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234440" y="3611880"/>
            <a:ext cx="310896" cy="31089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34440" y="3694176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82496" y="36667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tokens / page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234440" y="4178808"/>
            <a:ext cx="310896" cy="31089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34440" y="426110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82496" y="42336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density outliers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05840" y="50109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0ED"/>
                </a:solidFill>
              </a:rPr>
              <a:t>Question: did enough content survive extraction?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1920240"/>
            <a:ext cx="5166360" cy="3520440"/>
          </a:xfrm>
          <a:prstGeom prst="roundRect">
            <a:avLst>
              <a:gd name="adj" fmla="val 2078"/>
            </a:avLst>
          </a:prstGeom>
          <a:solidFill>
            <a:srgbClr val="FFF7E8"/>
          </a:solidFill>
          <a:ln w="12700">
            <a:solidFill>
              <a:srgbClr val="F2D29A"/>
            </a:solidFill>
            <a:prstDash val="solid"/>
          </a:ln>
          <a:effectLst>
            <a:outerShdw sx="100000" sy="100000" kx="0" ky="0" algn="bl" rotWithShape="0" blurRad="1.9507557141965558e+123" dist="1.3005038094643706e+123" dir="9.948326387433002e+144">
              <a:srgbClr val="000000">
                <a:alpha val="1.3000000000000001e+149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29400" y="221284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DID IT SEE THE PAGE CORRECTLY?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258775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LAYOUT ANALYSIS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12280" y="3044952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12280" y="3127248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60336" y="3099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low-confidence regions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12280" y="3611880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812280" y="3694176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60336" y="36667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dropped regions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12280" y="4178808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12280" y="4261104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60336" y="4233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artifacts / malformed tables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83680" y="50109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Question: did the detector understand the page structure?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THE DELIVERABLE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One Workbook, Built for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6400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2.4774597570296257e+127" dist="1.6516398380197506e+127" dir="5.968995832459801e+149">
              <a:srgbClr val="000000">
                <a:alpha val="1.3000000000000001e+154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87552" y="2029968"/>
            <a:ext cx="5888736" cy="384048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88720" y="2130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analysis_report.xlsx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87552" y="5074920"/>
            <a:ext cx="1353312" cy="329184"/>
          </a:xfrm>
          <a:prstGeom prst="roundRect">
            <a:avLst>
              <a:gd name="adj" fmla="val 8333"/>
            </a:avLst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33272" y="5166360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Summary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2404872" y="5074920"/>
            <a:ext cx="1353312" cy="329184"/>
          </a:xfrm>
          <a:prstGeom prst="roundRect">
            <a:avLst>
              <a:gd name="adj" fmla="val 8333"/>
            </a:avLst>
          </a:prstGeom>
          <a:solidFill>
            <a:srgbClr val="4D8FC7"/>
          </a:solidFill>
          <a:ln w="12700">
            <a:solidFill>
              <a:srgbClr val="4D8FC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450592" y="5166360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Artifacts Detail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822192" y="5074920"/>
            <a:ext cx="1353312" cy="329184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867912" y="5166360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Low Confidence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5239512" y="5074920"/>
            <a:ext cx="1353312" cy="329184"/>
          </a:xfrm>
          <a:prstGeom prst="roundRect">
            <a:avLst>
              <a:gd name="adj" fmla="val 8333"/>
            </a:avLst>
          </a:prstGeom>
          <a:solidFill>
            <a:srgbClr val="E45757"/>
          </a:solidFill>
          <a:ln w="12700">
            <a:solidFill>
              <a:srgbClr val="E4575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85232" y="5166360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Dropped Regions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987552" y="2606040"/>
            <a:ext cx="2011680" cy="384048"/>
          </a:xfrm>
          <a:prstGeom prst="rect">
            <a:avLst/>
          </a:prstGeom>
          <a:solidFill>
            <a:srgbClr val="EAF3FF"/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51560" y="2724912"/>
            <a:ext cx="1883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Document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999232" y="2606040"/>
            <a:ext cx="1005840" cy="384048"/>
          </a:xfrm>
          <a:prstGeom prst="rect">
            <a:avLst/>
          </a:prstGeom>
          <a:solidFill>
            <a:srgbClr val="EAF3FF"/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063240" y="2724912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Tokens/page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005072" y="2606040"/>
            <a:ext cx="960120" cy="384048"/>
          </a:xfrm>
          <a:prstGeom prst="rect">
            <a:avLst/>
          </a:prstGeom>
          <a:solidFill>
            <a:srgbClr val="EAF3FF"/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069080" y="2724912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Low conf.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965192" y="2606040"/>
            <a:ext cx="960120" cy="384048"/>
          </a:xfrm>
          <a:prstGeom prst="rect">
            <a:avLst/>
          </a:prstGeom>
          <a:solidFill>
            <a:srgbClr val="EAF3FF"/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029200" y="2724912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Dropped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87552" y="2990088"/>
            <a:ext cx="20116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51560" y="3136392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federal_register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2999232" y="2990088"/>
            <a:ext cx="100584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063240" y="313639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508.7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4005072" y="2990088"/>
            <a:ext cx="96012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069080" y="3136392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0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4965192" y="2990088"/>
            <a:ext cx="96012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029200" y="3136392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0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987552" y="3447288"/>
            <a:ext cx="20116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51560" y="3593592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synthetic_sample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2999232" y="3447288"/>
            <a:ext cx="100584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063240" y="359359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513.0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4005072" y="3447288"/>
            <a:ext cx="960120" cy="457200"/>
          </a:xfrm>
          <a:prstGeom prst="rect">
            <a:avLst/>
          </a:prstGeom>
          <a:solidFill>
            <a:srgbClr val="FFF1F1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069080" y="3593592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E45757"/>
                </a:solidFill>
              </a:rPr>
              <a:t>1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4965192" y="3447288"/>
            <a:ext cx="960120" cy="457200"/>
          </a:xfrm>
          <a:prstGeom prst="rect">
            <a:avLst/>
          </a:prstGeom>
          <a:solidFill>
            <a:srgbClr val="FFF1F1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029200" y="3593592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E45757"/>
                </a:solidFill>
              </a:rPr>
              <a:t>1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987552" y="3904488"/>
            <a:ext cx="20116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051560" y="4050792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nasa_iss_factsheet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2999232" y="3904488"/>
            <a:ext cx="100584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063240" y="405079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247.5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4005072" y="3904488"/>
            <a:ext cx="96012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069080" y="4050792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2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4965192" y="3904488"/>
            <a:ext cx="96012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029200" y="4050792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0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7498080" y="1737360"/>
            <a:ext cx="3886200" cy="3931920"/>
          </a:xfrm>
          <a:prstGeom prst="roundRect">
            <a:avLst>
              <a:gd name="adj" fmla="val 1882"/>
            </a:avLst>
          </a:prstGeom>
          <a:solidFill>
            <a:srgbClr val="F7F9FC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.1463738914276248e+131" dist="2.097582594285083e+131" dir="3.581397499475881e+154">
              <a:srgbClr val="000000">
                <a:alpha val="1.3e+159"/>
              </a:srgbClr>
            </a:outerShdw>
          </a:effectLst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818120" y="208483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87385"/>
                </a:solidFill>
              </a:rPr>
              <a:t>WHY EXCEL?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818120" y="2633472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891272" y="2679192"/>
            <a:ext cx="722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SCAN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823960" y="27066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50 rows quickly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818120" y="324612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891272" y="3291840"/>
            <a:ext cx="722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FILTER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823960" y="33192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show only flagged docs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818120" y="385876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891272" y="3904488"/>
            <a:ext cx="722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TRACE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823960" y="39319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page + bbox for every finding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818120" y="4471416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891272" y="4517136"/>
            <a:ext cx="722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HAND OFF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823960" y="45445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usable by non-pipeline authors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ROOT CAUSE ANALYSIS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Tracing a Dropped Region Back to a Real Bug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7385"/>
                </a:solidFill>
              </a:rPr>
              <a:t>A useful flag always carries a route back to the page that created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.9958948421130834e+135" dist="2.6639298947420556e+135" dir="2.1488384996855287e+159">
              <a:srgbClr val="000000">
                <a:alpha val="1.3e+164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2057400"/>
            <a:ext cx="420624" cy="420624"/>
          </a:xfrm>
          <a:prstGeom prst="ellipse">
            <a:avLst/>
          </a:prstGeom>
          <a:solidFill>
            <a:srgbClr val="E45757"/>
          </a:solidFill>
          <a:ln w="12700">
            <a:solidFill>
              <a:srgbClr val="E4575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13969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1396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5757"/>
                </a:solidFill>
              </a:rPr>
              <a:t>WORKBOOK FLAG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78224" y="182880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5.074786449483616e+139" dist="3.3831909663224106e+139" dir="1.2893030998113172e+164">
              <a:srgbClr val="000000">
                <a:alpha val="1.3e+169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261104" y="2057400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261104" y="213969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9744" y="21396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JUMP TO BBOX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62088" y="182880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6.444978790844192e+143" dist="4.296652527229462e+143" dir="7.735818598867904e+168">
              <a:srgbClr val="000000">
                <a:alpha val="1.3e+174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744968" y="2057400"/>
            <a:ext cx="420624" cy="420624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44968" y="213969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3608" y="21396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36B"/>
                </a:solidFill>
              </a:rPr>
              <a:t>CONFIRM THE BUG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2852928"/>
            <a:ext cx="2423160" cy="685800"/>
          </a:xfrm>
          <a:prstGeom prst="rect">
            <a:avLst/>
          </a:prstGeom>
          <a:solidFill>
            <a:srgbClr val="FFF1F1"/>
          </a:solidFill>
          <a:ln w="12700">
            <a:solidFill>
              <a:srgbClr val="E9A9A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78992" y="302666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45757"/>
                </a:solidFill>
              </a:rPr>
              <a:t>page 1  ·  dropped region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45757"/>
                </a:solidFill>
              </a:rPr>
              <a:t>confidence 0.31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400507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87385"/>
                </a:solidFill>
              </a:rPr>
              <a:t>The report says exactly where to inspect.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2697480"/>
            <a:ext cx="21488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7D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754880" y="288036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REPORT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7385"/>
                </a:solidFill>
              </a:rPr>
              <a:t>Quarterly operations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87385"/>
                </a:solidFill>
              </a:rPr>
              <a:t>summary text…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36008" y="4005072"/>
            <a:ext cx="566928" cy="384048"/>
          </a:xfrm>
          <a:prstGeom prst="ellipse">
            <a:avLst/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681728" y="4133088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F80ED"/>
                </a:solidFill>
              </a:rPr>
              <a:t>LOGO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4553712" y="3913632"/>
            <a:ext cx="758952" cy="585216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E4575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358384" y="40416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5757"/>
                </a:solidFill>
              </a:rPr>
              <a:t>bbox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01000" y="28529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A36B"/>
                </a:solidFill>
              </a:rPr>
              <a:t>Visible logo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001000" y="3337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033"/>
                </a:solidFill>
              </a:rPr>
              <a:t>misclassified as page furniture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83880" y="4096512"/>
            <a:ext cx="1901952" cy="457200"/>
          </a:xfrm>
          <a:prstGeom prst="roundRect">
            <a:avLst>
              <a:gd name="adj" fmla="val 10000"/>
            </a:avLst>
          </a:prstGeom>
          <a:solidFill>
            <a:srgbClr val="F2FBF6"/>
          </a:solidFill>
          <a:ln w="12700">
            <a:solidFill>
              <a:srgbClr val="9AD7B5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321040" y="4242816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A36B"/>
                </a:solidFill>
              </a:rPr>
              <a:t>hidden bug → traceable bug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12464" y="3621024"/>
            <a:ext cx="292608" cy="0"/>
          </a:xfrm>
          <a:prstGeom prst="line">
            <a:avLst/>
          </a:prstGeom>
          <a:noFill/>
          <a:ln w="25400">
            <a:solidFill>
              <a:srgbClr val="6873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187184" y="3621024"/>
            <a:ext cx="292608" cy="0"/>
          </a:xfrm>
          <a:prstGeom prst="line">
            <a:avLst/>
          </a:prstGeom>
          <a:noFill/>
          <a:ln w="25400">
            <a:solidFill>
              <a:srgbClr val="6873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224528" y="489204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7385"/>
                </a:solidFill>
              </a:rPr>
              <a:t>Schematic page reconstruction for teaching — not the original source image.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HUMAN-IN-THE-LOOP, BY DESIGN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A Flag Is Only Useful If Someone Can Act On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3000" y="3246120"/>
            <a:ext cx="1508760" cy="15087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8.185123064372124e+147" dist="5.4567487095814166e+147" dir="4.6414911593207425e+173">
              <a:srgbClr val="000000">
                <a:alpha val="1.2999999999999998e+179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34440" y="369417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DETECTOR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80160" y="399592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87385"/>
                </a:solidFill>
              </a:rPr>
              <a:t>flags uncertainty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886200" y="1783080"/>
            <a:ext cx="1508760" cy="15087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F80ED"/>
            </a:solidFill>
            <a:prstDash val="solid"/>
          </a:ln>
          <a:effectLst>
            <a:outerShdw sx="100000" sy="100000" kx="0" ky="0" algn="bl" rotWithShape="0" blurRad="1.0395106291752597e+152" dist="6.9300708611684e+151" dir="2.7848946955924455e+178">
              <a:srgbClr val="000000">
                <a:alpha val="1.2999999999999998e+184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977640" y="22311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80ED"/>
                </a:solidFill>
              </a:rPr>
              <a:t>WORKBOOK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23360" y="253288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87385"/>
                </a:solidFill>
              </a:rPr>
              <a:t>stores page + bbox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60920" y="1783080"/>
            <a:ext cx="1508760" cy="15087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FA36B"/>
            </a:solidFill>
            <a:prstDash val="solid"/>
          </a:ln>
          <a:effectLst>
            <a:outerShdw sx="100000" sy="100000" kx="0" ky="0" algn="bl" rotWithShape="0" blurRad="1.32017849905258e+156" dist="8.801189993683867e+155" dir="1.6709368173554673e+183">
              <a:srgbClr val="000000">
                <a:alpha val="1.2999999999999997e+189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452360" y="22311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36B"/>
                </a:solidFill>
              </a:rPr>
              <a:t>HUMAN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0" y="253288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87385"/>
                </a:solidFill>
              </a:rPr>
              <a:t>checks exact spot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738360" y="3246120"/>
            <a:ext cx="1508760" cy="15087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.6766266937967764e+160" dist="1.117751129197851e+160" dir="1.0025620904132804e+188">
              <a:srgbClr val="000000">
                <a:alpha val="1.2999999999999996e+194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829800" y="369417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DECISION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875520" y="399592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87385"/>
                </a:solidFill>
              </a:rPr>
              <a:t>confirm / clear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97480" y="3108960"/>
            <a:ext cx="1033272" cy="-621792"/>
          </a:xfrm>
          <a:prstGeom prst="line">
            <a:avLst/>
          </a:prstGeom>
          <a:noFill/>
          <a:ln w="2921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440680" y="2532888"/>
            <a:ext cx="1783080" cy="0"/>
          </a:xfrm>
          <a:prstGeom prst="line">
            <a:avLst/>
          </a:prstGeom>
          <a:noFill/>
          <a:ln w="2921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915400" y="2487168"/>
            <a:ext cx="731520" cy="621792"/>
          </a:xfrm>
          <a:prstGeom prst="line">
            <a:avLst/>
          </a:prstGeom>
          <a:noFill/>
          <a:ln w="29210">
            <a:solidFill>
              <a:srgbClr val="2FA36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012680" y="4892040"/>
            <a:ext cx="-7406640" cy="0"/>
          </a:xfrm>
          <a:prstGeom prst="line">
            <a:avLst/>
          </a:prstGeom>
          <a:noFill/>
          <a:ln w="29210">
            <a:solidFill>
              <a:srgbClr val="7C3AED"/>
            </a:solidFill>
            <a:prstDash val="dash"/>
            <a:headEnd type="none"/>
            <a:tailEnd type="triangle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486400" y="50383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Feedback / next pipeline fix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80160" y="561441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The key design choice: the workbook does not merely say “something is wrong” — it points to the exact region a person should inspect.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A VALIDATION HABIT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Tokens/Page as an Anomaly Signal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7385"/>
                </a:solidFill>
              </a:rPr>
              <a:t>There is no universal “correct” number — the useful signal is deviation from peers.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14400" y="3337560"/>
            <a:ext cx="10149840" cy="0"/>
          </a:xfrm>
          <a:prstGeom prst="line">
            <a:avLst/>
          </a:prstGeom>
          <a:noFill/>
          <a:ln w="25400">
            <a:solidFill>
              <a:srgbClr val="B7C0CD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499616" y="3246120"/>
            <a:ext cx="182880" cy="1828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176272" y="3246120"/>
            <a:ext cx="182880" cy="1828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852928" y="3246120"/>
            <a:ext cx="182880" cy="1828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022092" y="3246120"/>
            <a:ext cx="182880" cy="1828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360420" y="3246120"/>
            <a:ext cx="182880" cy="1828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529584" y="3246120"/>
            <a:ext cx="182880" cy="1828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867912" y="3246120"/>
            <a:ext cx="182880" cy="1828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206240" y="3246120"/>
            <a:ext cx="182880" cy="1828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44568" y="3246120"/>
            <a:ext cx="182880" cy="1828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882896" y="3246120"/>
            <a:ext cx="182880" cy="1828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052060" y="3246120"/>
            <a:ext cx="182880" cy="1828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390388" y="3246120"/>
            <a:ext cx="182880" cy="1828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957816" y="3246120"/>
            <a:ext cx="182880" cy="182880"/>
          </a:xfrm>
          <a:prstGeom prst="ellipse">
            <a:avLst/>
          </a:prstGeom>
          <a:solidFill>
            <a:srgbClr val="E45757"/>
          </a:solidFill>
          <a:ln w="12700">
            <a:solidFill>
              <a:srgbClr val="E4575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729216" y="27889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45757"/>
                </a:solidFill>
              </a:rPr>
              <a:t>510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5844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87385"/>
                </a:solidFill>
              </a:rPr>
              <a:t>LOW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680192" y="35844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385"/>
                </a:solidFill>
              </a:rPr>
              <a:t>HIGH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68680" y="4251960"/>
            <a:ext cx="4892040" cy="109728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12700">
            <a:solidFill>
              <a:srgbClr val="B7D8FF"/>
            </a:solidFill>
            <a:prstDash val="solid"/>
          </a:ln>
          <a:effectLst>
            <a:outerShdw sx="100000" sy="100000" kx="0" ky="0" algn="bl" rotWithShape="0" blurRad="2.1293159011219062e+164" dist="1.4195439340812709e+164" dir="6.015372542479682e+192">
              <a:srgbClr val="000000">
                <a:alpha val="1.2999999999999996e+199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143000" y="4498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0ED"/>
                </a:solidFill>
              </a:rPr>
              <a:t>Much lower than peers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4846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385"/>
                </a:solidFill>
              </a:rPr>
              <a:t>Possible missed / truncated content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4251960"/>
            <a:ext cx="4892040" cy="1097280"/>
          </a:xfrm>
          <a:prstGeom prst="roundRect">
            <a:avLst>
              <a:gd name="adj" fmla="val 6667"/>
            </a:avLst>
          </a:prstGeom>
          <a:solidFill>
            <a:srgbClr val="FFF1F1"/>
          </a:solidFill>
          <a:ln w="12700">
            <a:solidFill>
              <a:srgbClr val="F1B1B1"/>
            </a:solidFill>
            <a:prstDash val="solid"/>
          </a:ln>
          <a:effectLst>
            <a:outerShdw sx="100000" sy="100000" kx="0" ky="0" algn="bl" rotWithShape="0" blurRad="2.704231194424821e+168" dist="1.802820796283214e+168" dir="3.6092235254878095e+197">
              <a:srgbClr val="000000">
                <a:alpha val="1.2999999999999998e+204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675120" y="4498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57"/>
                </a:solidFill>
              </a:rPr>
              <a:t>Much higher than peers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4846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385"/>
                </a:solidFill>
              </a:rPr>
              <a:t>Possible duplication / garbled extraction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THE SCALING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Reviewing Everything Doesn’t Scale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4663440"/>
            <a:ext cx="1325880" cy="457200"/>
          </a:xfrm>
          <a:prstGeom prst="rect">
            <a:avLst/>
          </a:prstGeom>
          <a:solidFill>
            <a:srgbClr val="B7D8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43708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0ED"/>
                </a:solidFill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52852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Teaching corpus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66160" y="4114800"/>
            <a:ext cx="1325880" cy="1005840"/>
          </a:xfrm>
          <a:prstGeom prst="rect">
            <a:avLst/>
          </a:prstGeom>
          <a:solidFill>
            <a:srgbClr val="B7D8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382219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0ED"/>
                </a:solidFill>
              </a:rPr>
              <a:t>50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54680" y="52852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Small batch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3200400"/>
            <a:ext cx="1325880" cy="1920240"/>
          </a:xfrm>
          <a:prstGeom prst="rect">
            <a:avLst/>
          </a:prstGeom>
          <a:solidFill>
            <a:srgbClr val="F2D29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290779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500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97880" y="52852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Team scale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52560" y="2194560"/>
            <a:ext cx="1325880" cy="2926080"/>
          </a:xfrm>
          <a:prstGeom prst="rect">
            <a:avLst/>
          </a:prstGeom>
          <a:solidFill>
            <a:srgbClr val="F1B1B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9019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5757"/>
                </a:solidFill>
              </a:rPr>
              <a:t>5000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41080" y="52852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Production scale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97280" y="5806440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Manual review effort grows with corpus size — so validation needs a triage rule, not heroic rereading.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STEP 1: TARGETED REVIEW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Full Coverage Where It’s Cheap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" y="1874520"/>
            <a:ext cx="4069080" cy="3474720"/>
          </a:xfrm>
          <a:prstGeom prst="roundRect">
            <a:avLst>
              <a:gd name="adj" fmla="val 2105"/>
            </a:avLst>
          </a:prstGeom>
          <a:solidFill>
            <a:srgbClr val="FFF1F1"/>
          </a:solidFill>
          <a:ln w="12700">
            <a:solidFill>
              <a:srgbClr val="F1B1B1"/>
            </a:solidFill>
            <a:prstDash val="solid"/>
          </a:ln>
          <a:effectLst>
            <a:outerShdw sx="100000" sy="100000" kx="0" ky="0" algn="bl" rotWithShape="0" blurRad="3.434373616919523e+172" dist="2.289582411279682e+172" dir="2.1655341152926858e+202">
              <a:srgbClr val="000000">
                <a:alpha val="1.2999999999999998e+209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88720" y="219456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5757"/>
                </a:solidFill>
              </a:rPr>
              <a:t>FLAGGED BUCKET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27889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45757"/>
                </a:solidFill>
              </a:rPr>
              <a:t>100%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188720" y="36118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review every document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low confidence · dropped region · malformed 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32120" y="1874520"/>
            <a:ext cx="5623560" cy="3474720"/>
          </a:xfrm>
          <a:prstGeom prst="roundRect">
            <a:avLst>
              <a:gd name="adj" fmla="val 2105"/>
            </a:avLst>
          </a:prstGeom>
          <a:solidFill>
            <a:srgbClr val="F7F9FC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4.3616544934877943e+176" dist="2.907769662325196e+176" dir="1.2993204691756116e+207">
              <a:srgbClr val="000000">
                <a:alpha val="1.2999999999999997e+214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897880" y="225856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Why this stays affordable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25312" y="285292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25312" y="2935224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19088" y="289864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385"/>
                </a:solidFill>
              </a:rPr>
              <a:t>The model already told you where it is unsure.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25312" y="3557016"/>
            <a:ext cx="347472" cy="34747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25312" y="3639312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19088" y="360273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385"/>
                </a:solidFill>
              </a:rPr>
              <a:t>The flagged bucket is typically much smaller than the whole corpus.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25312" y="4261104"/>
            <a:ext cx="347472" cy="347472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25312" y="4343400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19088" y="430682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385"/>
                </a:solidFill>
              </a:rPr>
              <a:t>You get maximum scrutiny exactly where expected risk is highest.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STEP 2: RANDOM AUDITS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Catching What the Model Didn’t Flag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" y="1874520"/>
            <a:ext cx="4069080" cy="3474720"/>
          </a:xfrm>
          <a:prstGeom prst="roundRect">
            <a:avLst>
              <a:gd name="adj" fmla="val 2105"/>
            </a:avLst>
          </a:prstGeom>
          <a:solidFill>
            <a:srgbClr val="F2FBF6"/>
          </a:solidFill>
          <a:ln w="12700">
            <a:solidFill>
              <a:srgbClr val="9AD7B5"/>
            </a:solidFill>
            <a:prstDash val="solid"/>
          </a:ln>
          <a:effectLst>
            <a:outerShdw sx="100000" sy="100000" kx="0" ky="0" algn="bl" rotWithShape="0" blurRad="5.539301206729498e+180" dist="3.692867471152999e+180" dir="7.795922815053669e+211">
              <a:srgbClr val="000000">
                <a:alpha val="1.2999999999999997e+219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88720" y="219456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A36B"/>
                </a:solidFill>
              </a:rPr>
              <a:t>CLEAN BUCKET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27889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A36B"/>
                </a:solidFill>
              </a:rPr>
              <a:t>5–10%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88720" y="35844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random audit starting point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17320" y="4096512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856232" y="4096512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295144" y="409651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734056" y="4096512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172968" y="4096512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611880" y="4096512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050792" y="4096512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417320" y="4352544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856232" y="4352544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295144" y="435254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734056" y="4352544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172968" y="4352544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611880" y="4352544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050792" y="4352544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417320" y="4608576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856232" y="4608576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295144" y="4608576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2734056" y="4608576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172968" y="460857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611880" y="4608576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050792" y="4608576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417320" y="4864608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856232" y="4864608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2295144" y="4864608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2734056" y="4864608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3172968" y="4864608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3611880" y="4864608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050792" y="4864608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417320" y="5120640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856232" y="5120640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295144" y="5120640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2734056" y="5120640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3172968" y="5120640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3611880" y="5120640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050792" y="5120640"/>
            <a:ext cx="128016" cy="128016"/>
          </a:xfrm>
          <a:prstGeom prst="ellipse">
            <a:avLst/>
          </a:prstGeom>
          <a:solidFill>
            <a:srgbClr val="A7D8BE"/>
          </a:solidFill>
          <a:ln w="12700">
            <a:solidFill>
              <a:srgbClr val="A7D8BE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5532120" y="1874520"/>
            <a:ext cx="56235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7.034912532546463e+184" dist="4.689941688364309e+184" dir="4.677553689032201e+216">
              <a:srgbClr val="000000">
                <a:alpha val="1.2999999999999996e+224"/>
              </a:srgbClr>
            </a:outerShdw>
          </a:effectLst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897880" y="2267712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Why audit “clean” documents?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897880" y="2834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A validator that only checks its own doubts can never discover its own blind spots.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5897880" y="397764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7385"/>
                </a:solidFill>
              </a:rPr>
              <a:t>Audit hit rate becomes evidence about whether “zero flags” is actually trustworthy.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PUTTING IT TOGETHER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A Simple Sampling Rule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7385"/>
                </a:solidFill>
              </a:rPr>
              <a:t>Methodology — not a result from the three-document teaching corpus.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8.934338916334009e+188" dist="5.956225944222673e+188" dir="2.806532213419321e+221">
              <a:srgbClr val="000000">
                <a:alpha val="1.2999999999999997e+229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34440" y="22585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DOCUMENT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2404872"/>
            <a:ext cx="822960" cy="0"/>
          </a:xfrm>
          <a:prstGeom prst="line">
            <a:avLst/>
          </a:prstGeom>
          <a:noFill/>
          <a:ln w="29210">
            <a:solidFill>
              <a:srgbClr val="6873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297680" y="1828800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FFF7E8"/>
          </a:solidFill>
          <a:ln w="12700">
            <a:solidFill>
              <a:srgbClr val="F2D29A"/>
            </a:solidFill>
            <a:prstDash val="solid"/>
          </a:ln>
          <a:effectLst>
            <a:outerShdw sx="100000" sy="100000" kx="0" ky="0" algn="bl" rotWithShape="0" blurRad="1.1346610423744191e+193" dist="7.564406949162794e+192" dir="1.6839193280515925e+226">
              <a:srgbClr val="000000">
                <a:alpha val="1.2999999999999997e+234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208483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Any flags?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low confidence / dropped / malformed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3063240"/>
            <a:ext cx="0" cy="640080"/>
          </a:xfrm>
          <a:prstGeom prst="line">
            <a:avLst/>
          </a:prstGeom>
          <a:noFill/>
          <a:ln w="29210">
            <a:solidFill>
              <a:srgbClr val="E4575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806440" y="32461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5757"/>
                </a:solidFill>
              </a:rPr>
              <a:t>YES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34840" y="3822192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FF1F1"/>
          </a:solidFill>
          <a:ln w="12700">
            <a:solidFill>
              <a:srgbClr val="F1B1B1"/>
            </a:solidFill>
            <a:prstDash val="solid"/>
          </a:ln>
          <a:effectLst>
            <a:outerShdw sx="100000" sy="100000" kx="0" ky="0" algn="bl" rotWithShape="0" blurRad="1.4410195238155123e+197" dist="9.606796825436748e+196" dir="1.0103515968309554e+231">
              <a:srgbClr val="000000">
                <a:alpha val="1.2999999999999996e+239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54880" y="42245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5757"/>
                </a:solidFill>
              </a:rPr>
              <a:t>REVIEW 100%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23760" y="2404872"/>
            <a:ext cx="822960" cy="0"/>
          </a:xfrm>
          <a:prstGeom prst="line">
            <a:avLst/>
          </a:prstGeom>
          <a:noFill/>
          <a:ln w="29210">
            <a:solidFill>
              <a:srgbClr val="2FA36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88352" y="20848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A36B"/>
                </a:solidFill>
              </a:rPr>
              <a:t>NO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183880" y="182880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2FBF6"/>
          </a:solidFill>
          <a:ln w="12700">
            <a:solidFill>
              <a:srgbClr val="9AD7B5"/>
            </a:solidFill>
            <a:prstDash val="solid"/>
          </a:ln>
          <a:effectLst>
            <a:outerShdw sx="100000" sy="100000" kx="0" ky="0" algn="bl" rotWithShape="0" blurRad="1.8300947952457007e+201" dist="1.220063196830467e+201" dir="6.062109580985733e+235">
              <a:srgbClr val="000000">
                <a:alpha val="1.2999999999999996e+244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58200" y="2240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A36B"/>
                </a:solidFill>
              </a:rPr>
              <a:t>Tokens/page outlier?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74352" y="3063240"/>
            <a:ext cx="0" cy="640080"/>
          </a:xfrm>
          <a:prstGeom prst="line">
            <a:avLst/>
          </a:prstGeom>
          <a:noFill/>
          <a:ln w="2921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829800" y="32461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YES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458200" y="3822192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7E8"/>
          </a:solidFill>
          <a:ln w="12700">
            <a:solidFill>
              <a:srgbClr val="F2D29A"/>
            </a:solidFill>
            <a:prstDash val="solid"/>
          </a:ln>
          <a:effectLst>
            <a:outerShdw sx="100000" sy="100000" kx="0" ky="0" algn="bl" rotWithShape="0" blurRad="2.3242203899620397e+205" dist="1.5494802599746932e+205" dir="3.63726574859144e+240">
              <a:srgbClr val="000000">
                <a:alpha val="1.2999999999999995e+249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823960" y="42245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REVIEW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219688" y="2404872"/>
            <a:ext cx="438912" cy="0"/>
          </a:xfrm>
          <a:prstGeom prst="line">
            <a:avLst/>
          </a:prstGeom>
          <a:noFill/>
          <a:ln w="2921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1201400" y="20848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NO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991088" y="3822192"/>
            <a:ext cx="969264" cy="1097280"/>
          </a:xfrm>
          <a:prstGeom prst="roundRect">
            <a:avLst>
              <a:gd name="adj" fmla="val 7547"/>
            </a:avLst>
          </a:prstGeom>
          <a:solidFill>
            <a:srgbClr val="EAF3FF"/>
          </a:solidFill>
          <a:ln w="12700">
            <a:solidFill>
              <a:srgbClr val="B7D8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1027664" y="4123944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0ED"/>
                </a:solidFill>
              </a:rPr>
              <a:t>AUDIT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F80ED"/>
                </a:solidFill>
              </a:rPr>
              <a:t>5–10%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965960" y="5577840"/>
            <a:ext cx="8321040" cy="502920"/>
          </a:xfrm>
          <a:prstGeom prst="roundRect">
            <a:avLst>
              <a:gd name="adj" fmla="val 7273"/>
            </a:avLst>
          </a:prstGeom>
          <a:solidFill>
            <a:srgbClr val="EAF3FF"/>
          </a:solidFill>
          <a:ln w="12700">
            <a:solidFill>
              <a:srgbClr val="B7D8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240280" y="5742432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80ED"/>
                </a:solidFill>
              </a:rPr>
              <a:t>If audits keep finding real issues → raise the clean-bucket audit rate until the hit rate falls.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A QUIET DETAIL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Partial Runs Get Skipped, Not Guessed 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100584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2.9517598952517903e+209" dist="1.9678399301678603e+209" dir="2.182359449154864e+245">
              <a:srgbClr val="000000">
                <a:alpha val="1.2999999999999995e+254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43000" y="2157984"/>
            <a:ext cx="438912" cy="438912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3000" y="224028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64792" y="222199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36B"/>
                </a:solidFill>
              </a:rPr>
              <a:t>FINISHED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20440" y="2221992"/>
            <a:ext cx="6172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385"/>
                </a:solidFill>
              </a:rPr>
              <a:t>complete extraction → analyze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246120"/>
            <a:ext cx="100584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.7487350669697734e+213" dist="2.4991567113131827e+213" dir="1.3094156694929184e+250">
              <a:srgbClr val="000000">
                <a:alpha val="1.2999999999999995e+259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43000" y="3392424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43000" y="347472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64792" y="34564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IN PROGRESS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3456432"/>
            <a:ext cx="6172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385"/>
                </a:solidFill>
              </a:rPr>
              <a:t>output incomplete → wait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480560"/>
            <a:ext cx="100584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4.760893535051613e+217" dist="3.173929023367742e+217" dir="7.85649401695751e+254">
              <a:srgbClr val="000000">
                <a:alpha val="1.2999999999999995e+264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43000" y="4626864"/>
            <a:ext cx="438912" cy="438912"/>
          </a:xfrm>
          <a:prstGeom prst="ellipse">
            <a:avLst/>
          </a:prstGeom>
          <a:solidFill>
            <a:srgbClr val="687385"/>
          </a:solidFill>
          <a:ln w="12700">
            <a:solidFill>
              <a:srgbClr val="68738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43000" y="470916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64792" y="469087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87385"/>
                </a:solidFill>
              </a:rPr>
              <a:t>INTERRUPTED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4690872"/>
            <a:ext cx="6172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385"/>
                </a:solidFill>
              </a:rPr>
              <a:t>output incomplete → skip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74520" y="5715000"/>
            <a:ext cx="8366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Validation should never invent certainty from incomplete evidence.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WRAP-UP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Why This Module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420624" cy="42062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86537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81965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80ED"/>
                </a:solidFill>
              </a:rPr>
              <a:t>Execution ≠ correctness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13632" y="1819656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385"/>
                </a:solidFill>
              </a:rPr>
              <a:t>A completed run only proves the pipeline did not crash.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62432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70662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66090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</a:rPr>
              <a:t>Two independent checks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13632" y="2660904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385"/>
                </a:solidFill>
              </a:rPr>
              <a:t>Tokens tell you how much came out; layout tells you whether the page was understood.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465576"/>
            <a:ext cx="420624" cy="420624"/>
          </a:xfrm>
          <a:prstGeom prst="ellipse">
            <a:avLst/>
          </a:prstGeom>
          <a:solidFill>
            <a:srgbClr val="E45757"/>
          </a:solidFill>
          <a:ln w="12700">
            <a:solidFill>
              <a:srgbClr val="E4575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354787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502152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757"/>
                </a:solidFill>
              </a:rPr>
              <a:t>Traceable flags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13632" y="3502152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385"/>
                </a:solidFill>
              </a:rPr>
              <a:t>Every useful finding carries a page + bounding box back to the source.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4306824"/>
            <a:ext cx="420624" cy="420624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438912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34340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36B"/>
                </a:solidFill>
              </a:rPr>
              <a:t>Human review that scales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913632" y="4343400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385"/>
                </a:solidFill>
              </a:rPr>
              <a:t>100% of flagged docs + audits of clean docs + tokens/page outliers.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5148072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523036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518464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</a:rPr>
              <a:t>Next: chunking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913632" y="5184648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385"/>
                </a:solidFill>
              </a:rPr>
              <a:t>Only validated content should become retrieval-ready chunks.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011680" y="5989320"/>
            <a:ext cx="8183880" cy="41148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12700">
            <a:solidFill>
              <a:srgbClr val="D8DEE9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286000" y="6108192"/>
            <a:ext cx="7635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</a:rPr>
              <a:t>Module 1 extracts → Module 2 validates → Module 3 chunks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0ED"/>
                </a:solidFill>
              </a:rPr>
              <a:t>SOURCES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Internet Visuals &amp; Technical 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10652760" cy="4343400"/>
          </a:xfrm>
          <a:prstGeom prst="roundRect">
            <a:avLst>
              <a:gd name="adj" fmla="val 1684"/>
            </a:avLst>
          </a:prstGeom>
          <a:solidFill>
            <a:srgbClr val="F7F9FC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6.046334789515548e+221" dist="4.030889859677033e+221" dir="4.713896410174506e+259">
              <a:srgbClr val="000000">
                <a:alpha val="1.2999999999999996e+269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43000" y="2103120"/>
            <a:ext cx="438912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16152" y="21488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783080" y="211226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Qwen3.5-0.8B model / tokenizer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54880" y="211226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385"/>
                </a:solidFill>
              </a:rPr>
              <a:t>Qwen on Hugging Face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07808" y="211226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F80ED"/>
                </a:solidFill>
              </a:rPr>
              <a:t>https://huggingface.co/Qwen/Qwen3.5-0.8B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143000" y="3218688"/>
            <a:ext cx="438912" cy="292608"/>
          </a:xfrm>
          <a:prstGeom prst="roundRect">
            <a:avLst>
              <a:gd name="adj" fmla="val 25000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16152" y="326440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783080" y="32278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International Space Station visual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0" y="32278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385"/>
                </a:solidFill>
              </a:rPr>
              <a:t>NASA Scientific Visualization Studio · ID 30280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07808" y="322783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F80ED"/>
                </a:solidFill>
              </a:rPr>
              <a:t>https://svs.gsfc.nasa.gov/30280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43000" y="4334256"/>
            <a:ext cx="438912" cy="292608"/>
          </a:xfrm>
          <a:prstGeom prst="roundRect">
            <a:avLst>
              <a:gd name="adj" fmla="val 25000"/>
            </a:avLst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16152" y="437997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783080" y="43434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Measured metrics, case studies, and methodology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0" y="434340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385"/>
                </a:solidFill>
              </a:rPr>
              <a:t>Provided Module 2 Analysis deck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07808" y="43434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F80ED"/>
                </a:solidFill>
              </a:rPr>
              <a:t>Analysis_Module_Overview.pptx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234440" y="5559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</a:rPr>
              <a:t>No AI-generated imagery is used in this deck. Diagrams are native PowerPoint shapes; the NASA visual is sourced from NASA.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7432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Questions?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05840" y="36941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FB0C7"/>
                </a:solidFill>
              </a:rPr>
              <a:t>2. ANALYSIS/  —  README.md has the full column-by-column report reference and every real number in this deck.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57150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Module 2  ·  Data Processing → Analysis → Chunking</a:t>
            </a:r>
            <a:endParaRPr lang="en-US" sz="800" dirty="0"/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Validating What OCR Actually Extracted</dc:title>
  <dc:subject>Module 2 Analysis &amp; Validation — enhanced teaching deck</dc:subject>
  <dc:creator>OpenAI</dc:creator>
  <cp:lastModifiedBy>OpenAI</cp:lastModifiedBy>
  <cp:revision>1</cp:revision>
  <dcterms:created xsi:type="dcterms:W3CDTF">2026-08-12T07:33:20Z</dcterms:created>
  <dcterms:modified xsi:type="dcterms:W3CDTF">2026-08-12T07:33:20Z</dcterms:modified>
</cp:coreProperties>
</file>