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E8E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3E8EDE"/>
                </a:solidFill>
                <a:latin typeface="Calibri"/>
              </a:rPr>
              <a:t>MODULE 2 ·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743200"/>
            <a:ext cx="10332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Validating What OCR Actually Extracted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977639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8A93A6"/>
                </a:solidFill>
                <a:latin typeface="Calibri"/>
              </a:rPr>
              <a:t>Module 1 produces a markdown file and says it's done. This module asks: is it actually right?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612648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B6374"/>
                </a:solidFill>
                <a:latin typeface="Calibri"/>
              </a:rPr>
              <a:t>Identification  ·  Validation  ·  Root Cause Analysis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E8E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3E8EDE"/>
                </a:solidFill>
                <a:latin typeface="Calibri"/>
              </a:rPr>
              <a:t>VIDEO SERIES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881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D27"/>
                </a:solidFill>
                <a:latin typeface="Calibri"/>
              </a:rPr>
              <a:t>Part of a Series: How to Build Your First Chatbot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i="1">
                <a:solidFill>
                  <a:srgbClr val="5B6374"/>
                </a:solidFill>
                <a:latin typeface="Calibri"/>
              </a:rPr>
              <a:t>This module is one step in a planned video series that builds a real, working chatbot end to end -- real documents, real models, real measured results, not toy examples.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788920"/>
            <a:ext cx="106984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5B6374"/>
                </a:solidFill>
                <a:latin typeface="Calibri"/>
              </a:rPr>
              <a:t>    Module 1: OCR &amp; Document Understanding -- PDF to structured markdown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3E8EDE"/>
                </a:solidFill>
                <a:latin typeface="Calibri"/>
              </a:rPr>
              <a:t>►  Module 2: Analysis &amp; Validation -- Is the extraction actually right?   ◂ you are here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5B6374"/>
                </a:solidFill>
                <a:latin typeface="Calibri"/>
              </a:rPr>
              <a:t>    Module 3: Chunking -- Splitting documents for retrieval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5B6374"/>
                </a:solidFill>
                <a:latin typeface="Calibri"/>
              </a:rPr>
              <a:t>    Module 4: Embedding &amp; Database -- Vectors, Postgres, pgvector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5B6374"/>
                </a:solidFill>
                <a:latin typeface="Calibri"/>
              </a:rPr>
              <a:t>    Module 5: Database Deep Dive -- Search, indexes, and what Postgres actually does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5B6374"/>
                </a:solidFill>
                <a:latin typeface="Calibri"/>
              </a:rPr>
              <a:t>    Module 6: Summarization -- Retrieval + a real LLM + a UI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7607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5B6374"/>
                </a:solidFill>
                <a:latin typeface="Calibri"/>
              </a:rPr>
              <a:t>More modules are planned as the series continues toward a complete chatbot -- retrieval and response generation are next.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B6374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E8E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3E8EDE"/>
                </a:solidFill>
                <a:latin typeface="Calibri"/>
              </a:rPr>
              <a:t>WHY THIS EXISTS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A1D27"/>
                </a:solidFill>
                <a:latin typeface="Calibri"/>
              </a:rPr>
              <a:t>“Done” Is Not the Same as “Correct”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Module 1 finishes every run the same way: a .md file and a metadata.json get written, no error, no warning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That tells you the pipeline didn't crash. It tells you nothing about whether the output is trustworthy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Module 2's job: turn the raw output of many documents into numbers you can actually look at and question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5B6374"/>
                </a:solidFill>
                <a:latin typeface="Calibri"/>
              </a:rPr>
              <a:t>     –  page counts, token density, artifacts found, regions the model wasn't sure about, regions it dropped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The deliverable is one Excel workbook -- because the person who needs to sanity-check 50 documents is rarely the person who wrote the 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B6374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E8E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3E8EDE"/>
                </a:solidFill>
                <a:latin typeface="Calibri"/>
              </a:rPr>
              <a:t>HOW THIS HELPS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A1D27"/>
                </a:solidFill>
                <a:latin typeface="Calibri"/>
              </a:rPr>
              <a:t>Three Things This Module Actually Buys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Identification -- given 50 processed documents, which ones likely have an extraction problem, from the numbers alone, before opening a single file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Validation -- confirm a document that finished without errors is actually trustworthy enough to move downstream into chunking and embedding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Root cause analysis -- when a document does look wrong, trace it back to the exact page and region that caused it, not just know something's off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All three come from the same source: real per-document metrics, computed once, put in front of a human who can actually question them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B6374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E8E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3E8EDE"/>
                </a:solidFill>
                <a:latin typeface="Calibri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A1D27"/>
                </a:solidFill>
                <a:latin typeface="Calibri"/>
              </a:rPr>
              <a:t>What This Module Does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Reads every completed document Module 1 produced -- the extracted text plus its layout metadata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Computes, per document: page count, real token count, tokens/page, images and tables found, artifact counts, low-confidence region count, dropped region count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Writes one Excel workbook: a Summary sheet (one row per document) plus detail sheets for anything worth a second look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B6374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E8E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3E8EDE"/>
                </a:solidFill>
                <a:latin typeface="Calibri"/>
              </a:rPr>
              <a:t>THE CORE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A1D27"/>
                </a:solidFill>
                <a:latin typeface="Calibri"/>
              </a:rPr>
              <a:t>How Many Tokens Per Page, Really?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“Word count” is not “token count.” A word can be one token, several tokens, or a fraction of a shared token -- it depends on the tokenizer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Why this matters here specifically: every downstream step (chunking, any embedding or LLM call) is budgeted in tokens, not words or characters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So this module counts tokens with the SAME tokenizer the extraction model uses, rather than estimating -- an approximation here would quietly mislead every step after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B6374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E8E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3E8EDE"/>
                </a:solidFill>
                <a:latin typeface="Calibri"/>
              </a:rPr>
              <a:t>REAL NUMBERS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1D27"/>
                </a:solidFill>
                <a:latin typeface="Calibri"/>
              </a:rPr>
              <a:t>Tokens Per Page, Three Real Documents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828800"/>
          <a:ext cx="1069848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4620"/>
                <a:gridCol w="2674620"/>
                <a:gridCol w="2674620"/>
                <a:gridCol w="2674620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b="1" sz="1400">
                          <a:solidFill>
                            <a:srgbClr val="FFFFFF"/>
                          </a:solidFill>
                          <a:latin typeface="Calibri"/>
                        </a:rPr>
                        <a:t>Document</a:t>
                      </a:r>
                    </a:p>
                  </a:txBody>
                  <a:tcPr>
                    <a:solidFill>
                      <a:srgbClr val="3E8ED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400">
                          <a:solidFill>
                            <a:srgbClr val="FFFFFF"/>
                          </a:solidFill>
                          <a:latin typeface="Calibri"/>
                        </a:rPr>
                        <a:t>Pages</a:t>
                      </a:r>
                    </a:p>
                  </a:txBody>
                  <a:tcPr>
                    <a:solidFill>
                      <a:srgbClr val="3E8ED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400">
                          <a:solidFill>
                            <a:srgbClr val="FFFFFF"/>
                          </a:solidFill>
                          <a:latin typeface="Calibri"/>
                        </a:rPr>
                        <a:t>Tokens</a:t>
                      </a:r>
                    </a:p>
                  </a:txBody>
                  <a:tcPr>
                    <a:solidFill>
                      <a:srgbClr val="3E8ED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b="1" sz="1400">
                          <a:solidFill>
                            <a:srgbClr val="FFFFFF"/>
                          </a:solidFill>
                          <a:latin typeface="Calibri"/>
                        </a:rPr>
                        <a:t>Tokens / Page</a:t>
                      </a:r>
                    </a:p>
                  </a:txBody>
                  <a:tcPr>
                    <a:solidFill>
                      <a:srgbClr val="3E8ED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D27"/>
                          </a:solidFill>
                          <a:latin typeface="Calibri"/>
                        </a:rPr>
                        <a:t>federal_register_proclamation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D27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D27"/>
                          </a:solidFill>
                          <a:latin typeface="Calibri"/>
                        </a:rPr>
                        <a:t>1526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D27"/>
                          </a:solidFill>
                          <a:latin typeface="Calibri"/>
                        </a:rPr>
                        <a:t>508.7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D27"/>
                          </a:solidFill>
                          <a:latin typeface="Calibri"/>
                        </a:rPr>
                        <a:t>synthetic_sample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D27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D27"/>
                          </a:solidFill>
                          <a:latin typeface="Calibri"/>
                        </a:rPr>
                        <a:t>513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D27"/>
                          </a:solidFill>
                          <a:latin typeface="Calibri"/>
                        </a:rPr>
                        <a:t>513.0</a:t>
                      </a:r>
                    </a:p>
                  </a:txBody>
                  <a:tcPr>
                    <a:solidFill>
                      <a:srgbClr val="F2F4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D27"/>
                          </a:solidFill>
                          <a:latin typeface="Calibri"/>
                        </a:rPr>
                        <a:t>nasa_iss_factsheet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D27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D27"/>
                          </a:solidFill>
                          <a:latin typeface="Calibri"/>
                        </a:rPr>
                        <a:t>495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A1D27"/>
                          </a:solidFill>
                          <a:latin typeface="Calibri"/>
                        </a:rPr>
                        <a:t>247.5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31520" y="41148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5B6374"/>
                </a:solidFill>
                <a:latin typeface="Calibri"/>
              </a:rPr>
              <a:t>The dense legal proclamation and the structured synthetic page (table + chart + formula) land almost identically dense -- ~510 tokens/page. The NASA fact sheet's plain prose runs at roughly half that. Content density drives this number more than document length does.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B6374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E8E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3E8EDE"/>
                </a:solidFill>
                <a:latin typeface="Calibri"/>
              </a:rPr>
              <a:t>LAYOUT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A1D27"/>
                </a:solidFill>
                <a:latin typeface="Calibri"/>
              </a:rPr>
              <a:t>The Other Half of Validation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1A1D27"/>
                </a:solidFill>
                <a:latin typeface="Calibri"/>
              </a:rPr>
              <a:t>▸  Token counting tells you how much content came out. It says nothing about whether the layout detector actually understood the page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A1D27"/>
                </a:solidFill>
                <a:latin typeface="Calibri"/>
              </a:rPr>
              <a:t>▸  Module 1's layout detector already assigns a confidence score to every region it finds -- Module 2 doesn't compute this, it surfaces what already exists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5B6374"/>
                </a:solidFill>
                <a:latin typeface="Calibri"/>
              </a:rPr>
              <a:t>     –  low_confidence_regions -- the detector found something there, but wasn't sure what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5B6374"/>
                </a:solidFill>
                <a:latin typeface="Calibri"/>
              </a:rPr>
              <a:t>     –  dropped_regions -- the detector excluded a region entirely: correctly (headers/footers), or not (see the case study ahead)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A1D27"/>
                </a:solidFill>
                <a:latin typeface="Calibri"/>
              </a:rPr>
              <a:t>▸  Same source also covers artifacts (logos, signatures, stamp/seals) and malformed tables -- structural failures, not content-volume ones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A1D27"/>
                </a:solidFill>
                <a:latin typeface="Calibri"/>
              </a:rPr>
              <a:t>▸  Two independent questions: token analysis asks “how much came out,” layout analysis asks “did it even see the page correctly”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B6374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E8E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3E8EDE"/>
                </a:solidFill>
                <a:latin typeface="Calibri"/>
              </a:rPr>
              <a:t>THE DELIVERABLE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A1D27"/>
                </a:solidFill>
                <a:latin typeface="Calibri"/>
              </a:rPr>
              <a:t>One Workbook, Built for Validation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Summary -- one row per document, every stat from the last two slides in one place, built to be scanned fast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Artifacts Detail -- one row per detected logo/signature/stamp: page, description, exact location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Low Confidence Regions -- one row per region the layout detector wasn't sure about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Dropped Regions -- one row per region excluded from the document, including anything misclassified and dropped by mistake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5B6374"/>
                </a:solidFill>
                <a:latin typeface="Calibri"/>
              </a:rPr>
              <a:t>     –  Every flagged row carries a location back to the original page -- a finding is only useful if it can be checked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B6374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06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06C5C"/>
                </a:solidFill>
                <a:latin typeface="Calibri"/>
              </a:rPr>
              <a:t>ROOT CAUSE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A1D27"/>
                </a:solidFill>
                <a:latin typeface="Calibri"/>
              </a:rPr>
              <a:t>Tracing a Dropped Region Back to a Real Bug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One document's Dropped Regions sheet flagged a region: low confidence, a specific location on the page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That location turned out to be the document's logo -- a real image the layout detector misclassified as page furniture and dropped before extraction ever saw it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Looking at that exact location on the original page image confirmed it immediately -- a visible box drawn right over the logo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5B6374"/>
                </a:solidFill>
                <a:latin typeface="Calibri"/>
              </a:rPr>
              <a:t>     –  This is the whole point of keeping every dropped region instead of silently discarding them -- it turns a hidden bug into something traceable, and something fixable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B6374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E8E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3E8EDE"/>
                </a:solidFill>
                <a:latin typeface="Calibri"/>
              </a:rPr>
              <a:t>HUMAN-IN-THE-LOOP, BY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A1D27"/>
                </a:solidFill>
                <a:latin typeface="Calibri"/>
              </a:rPr>
              <a:t>A Flag Is Only Useful If Someone Can Act On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1A1D27"/>
                </a:solidFill>
                <a:latin typeface="Calibri"/>
              </a:rPr>
              <a:t>▸  Every flagged row -- low confidence, dropped region, malformed table -- carries a page number and a bounding box back to the original document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A1D27"/>
                </a:solidFill>
                <a:latin typeface="Calibri"/>
              </a:rPr>
              <a:t>▸  That's not incidental: it's what turns a flag into a 30-second check instead of a full re-read of the document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A1D27"/>
                </a:solidFill>
                <a:latin typeface="Calibri"/>
              </a:rPr>
              <a:t>▸  The loop: detector flags an uncertain region → it lands in the Excel workbook → a person looks at that exact spot on the original page → confirms a real problem, or clears it as a false alarm</a:t>
            </a:r>
          </a:p>
          <a:p>
            <a:pPr>
              <a:spcAft>
                <a:spcPts val="500"/>
              </a:spcAft>
            </a:pPr>
            <a:r>
              <a:rPr sz="1500" b="0">
                <a:solidFill>
                  <a:srgbClr val="5B6374"/>
                </a:solidFill>
                <a:latin typeface="Calibri"/>
              </a:rPr>
              <a:t>     –  The logo case study on the previous slide is this loop working end to end -- a two-minute human check catching a bug automation alone missed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A1D27"/>
                </a:solidFill>
                <a:latin typeface="Calibri"/>
              </a:rPr>
              <a:t>▸  What this module doesn't do yet: feed a human's correction back into re-thresholding or retraining the detector -- that's the natural next step, not built here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B6374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E8E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3E8EDE"/>
                </a:solidFill>
                <a:latin typeface="Calibri"/>
              </a:rPr>
              <a:t>A VALIDATION HABIT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A1D27"/>
                </a:solidFill>
                <a:latin typeface="Calibri"/>
              </a:rPr>
              <a:t>Tokens/Page as an Anomaly Signal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There's no universal “correct” tokens-per-page number -- it depends entirely on the document type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But once you have it for a batch of similar documents, an outlier is worth a look: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5B6374"/>
                </a:solidFill>
                <a:latin typeface="Calibri"/>
              </a:rPr>
              <a:t>     –  Much LOWER than its peers -- possible sign of missed or truncated content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5B6374"/>
                </a:solidFill>
                <a:latin typeface="Calibri"/>
              </a:rPr>
              <a:t>     –  Much HIGHER than its peers -- possible sign of garbled or repeated extraction output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The value isn't any single number -- it's being able to scan 50 rows and immediately see which ones don't look like the rest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B6374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E8E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3E8EDE"/>
                </a:solidFill>
                <a:latin typeface="Calibri"/>
              </a:rPr>
              <a:t>SAMPLING AT SCALE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A1D27"/>
                </a:solidFill>
                <a:latin typeface="Calibri"/>
              </a:rPr>
              <a:t>From 3 Documents to 3,000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1A1D27"/>
                </a:solidFill>
                <a:latin typeface="Calibri"/>
              </a:rPr>
              <a:t>▸  This module's corpus is 3 real documents -- reviewing every flagged row by hand is trivial at that size. It stops being trivial well before you reach a few thousand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A1D27"/>
                </a:solidFill>
                <a:latin typeface="Calibri"/>
              </a:rPr>
              <a:t>▸  The fix isn't reviewing everything, and it isn't reviewing a random handful either -- it's spending human attention where the model already told you it's unsure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5B6374"/>
                </a:solidFill>
                <a:latin typeface="Calibri"/>
              </a:rPr>
              <a:t>     –  Targeted review, 100% coverage -- every document with any low-confidence region, dropped region, or malformed table. Usually a small minority of the corpus, which is exactly why full coverage stays affordable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5B6374"/>
                </a:solidFill>
                <a:latin typeface="Calibri"/>
              </a:rPr>
              <a:t>     –  Random audit sample of the rest -- a small percentage (5-10% is a common starting point) of documents that came back with zero flags, specifically to catch cases where the detector is confidently wrong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A1D27"/>
                </a:solidFill>
                <a:latin typeface="Calibri"/>
              </a:rPr>
              <a:t>▸  Why the second bucket matters: a validation system that only ever double-checks its own doubts can't catch its own blind spots -- the audit sample is how you find out if “zero flags” is actually trustworthy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A1D27"/>
                </a:solidFill>
                <a:latin typeface="Calibri"/>
              </a:rPr>
              <a:t>▸  Tokens/page outliers (previous slide) feed the same triage -- an outlier is one more reason to pull a document into the reviewed set even with zero layout flags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263640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B6374"/>
                </a:solidFill>
                <a:latin typeface="Calibri"/>
              </a:rPr>
              <a:t>This is methodology, not a result -- honest about what a 3-document teaching corpus can and can't demonstrate. The same low_confidence_count / dropped_region_count / tokens_per_page columns already in the Excel report are exactly what a sampling rule would key off of at real scale.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B6374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E8E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3E8EDE"/>
                </a:solidFill>
                <a:latin typeface="Calibri"/>
              </a:rPr>
              <a:t>A QUIET DETAIL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A1D27"/>
                </a:solidFill>
                <a:latin typeface="Calibri"/>
              </a:rPr>
              <a:t>Partial Runs Get Skipped, Not Guessed 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A document only gets analyzed once its extraction has actually finished, not while it's still in progress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An interrupted or still-running extraction leaves incomplete output</a:t>
            </a:r>
          </a:p>
          <a:p>
            <a:pPr>
              <a:spcAft>
                <a:spcPts val="1200"/>
              </a:spcAft>
            </a:pPr>
            <a:r>
              <a:rPr sz="2000" b="1">
                <a:solidFill>
                  <a:srgbClr val="1A1D27"/>
                </a:solidFill>
                <a:latin typeface="Calibri"/>
              </a:rPr>
              <a:t>▸  That incomplete output gets skipped rather than guessed at -- a document either finished cleanly, or it isn't validated at 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B6374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E8E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3E8EDE"/>
                </a:solidFill>
                <a:latin typeface="Calibri"/>
              </a:rPr>
              <a:t>WRAP-UP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A1D27"/>
                </a:solidFill>
                <a:latin typeface="Calibri"/>
              </a:rPr>
              <a:t>Why This Module Matters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 b="1">
                <a:solidFill>
                  <a:srgbClr val="1A1D27"/>
                </a:solidFill>
                <a:latin typeface="Calibri"/>
              </a:rPr>
              <a:t>▸  It turns “the pipeline didn't crash” into “here's proof this document is actually usable”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A1D27"/>
                </a:solidFill>
                <a:latin typeface="Calibri"/>
              </a:rPr>
              <a:t>▸  Two independent checks, not one -- token analysis for how much came out, layout analysis for whether the model saw the page correctly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A1D27"/>
                </a:solidFill>
                <a:latin typeface="Calibri"/>
              </a:rPr>
              <a:t>▸  It's human-in-the-loop by design -- every flag carries an exact way back to the page a person needs to look at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A1D27"/>
                </a:solidFill>
                <a:latin typeface="Calibri"/>
              </a:rPr>
              <a:t>▸  It scales past hand-checking every document -- targeted review of what's flagged, random audits of what isn't, once the corpus is bigger than 3 files</a:t>
            </a:r>
          </a:p>
          <a:p>
            <a:pPr>
              <a:spcAft>
                <a:spcPts val="1000"/>
              </a:spcAft>
            </a:pPr>
            <a:r>
              <a:rPr sz="1800" b="1">
                <a:solidFill>
                  <a:srgbClr val="1A1D27"/>
                </a:solidFill>
                <a:latin typeface="Calibri"/>
              </a:rPr>
              <a:t>▸  Next: Module 3 takes this same validated output and turns it into retrieval-ready chunks -- recursive, semantic, and hierarchical strategies, compared on the same real documents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5B6374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E8E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749039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8A93A6"/>
                </a:solidFill>
                <a:latin typeface="Calibri"/>
              </a:rPr>
              <a:t>2. ANALYSIS/  --  README.md has the full column-by-column report reference and every real number in this deck.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12648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B6374"/>
                </a:solidFill>
                <a:latin typeface="Calibri"/>
              </a:rPr>
              <a:t>Module 2 of 3  ·  Data Processing → Analysis → Chunking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