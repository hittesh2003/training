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9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notesMaster" Target="notesMasters/notesMaster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presProps" Target="presProps.xml"/><Relationship Id="rId8" Type="http://schemas.openxmlformats.org/officeDocument/2006/relationships/slide" Target="slides/slide7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6111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6111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C186345-DAAE-47A7-9823-699FE7EE7ED2}" type="datetimeFigureOut">
              <a:t>8/12/2026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-228600" y="1524000"/>
            <a:ext cx="7315200" cy="41148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5867400"/>
            <a:ext cx="5486400" cy="48006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11580813"/>
            <a:ext cx="2971800" cy="6111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11580813"/>
            <a:ext cx="2971800" cy="6111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20B587F-B7D2-4C24-ABD6-59B8AF4034E7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2519418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WHITE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F80ED"/>
          </a:solidFill>
          <a:ln w="12700">
            <a:solidFill>
              <a:srgbClr val="2F80ED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11480" y="182880"/>
            <a:ext cx="2560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b="1" dirty="0">
                <a:solidFill>
                  <a:srgbClr val="2F80E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MODULE 1 · DATA PROCESSING</a:t>
            </a:r>
            <a:endParaRPr lang="en-US" sz="7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612880" y="6510528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650">
                <a:solidFill>
                  <a:srgbClr val="9AA4B2"/>
                </a:solidFill>
                <a:latin typeface="Aptos"/>
                <a:ea typeface="Aptos"/>
                <a:cs typeface="Aptos"/>
              </a:defRPr>
            </a:lvl1pPr>
          </a:lstStyle>
          <a:p>
            <a:pPr algn="l"/>
            <a:fld id="{F7021451-1387-4CA6-816F-3879F97B5CBC}" type="slidenum">
              <a:rPr lang="en-US" b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ARK">
    <p:bg>
      <p:bgPr>
        <a:solidFill>
          <a:srgbClr val="11182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F80ED"/>
          </a:solidFill>
          <a:ln w="12700">
            <a:solidFill>
              <a:srgbClr val="2F80ED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94360" y="1600200"/>
            <a:ext cx="25603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58A6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MODULE 1 · DATA PROCESSING</a:t>
            </a:r>
            <a:endParaRPr lang="en-US" sz="800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612880" y="6510528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650">
                <a:solidFill>
                  <a:srgbClr val="9AA4B2"/>
                </a:solidFill>
                <a:latin typeface="Aptos"/>
                <a:ea typeface="Aptos"/>
                <a:cs typeface="Aptos"/>
              </a:defRPr>
            </a:lvl1pPr>
          </a:lstStyle>
          <a:p>
            <a:pPr algn="l"/>
            <a:fld id="{F7021451-1387-4CA6-816F-3879F97B5CBC}" type="slidenum">
              <a:rPr lang="en-US" b="0"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3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2011680"/>
            <a:ext cx="7498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3100" b="1" dirty="0">
                <a:solidFill>
                  <a:srgbClr val="FFFFFF"/>
                </a:solidFill>
              </a:rPr>
              <a:t>OCR &amp; Document Understanding</a:t>
            </a:r>
            <a:endParaRPr lang="en-US" sz="3100" dirty="0"/>
          </a:p>
        </p:txBody>
      </p:sp>
      <p:sp>
        <p:nvSpPr>
          <p:cNvPr id="3" name="Text 1"/>
          <p:cNvSpPr/>
          <p:nvPr/>
        </p:nvSpPr>
        <p:spPr>
          <a:xfrm>
            <a:off x="594360" y="2889504"/>
            <a:ext cx="7955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400" dirty="0">
                <a:solidFill>
                  <a:srgbClr val="B7C2D3"/>
                </a:solidFill>
              </a:rPr>
              <a:t>From a raw PDF to structured markdown — layout detection + a small vision-language model, working together.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8229600" y="4096512"/>
            <a:ext cx="841248" cy="1078992"/>
          </a:xfrm>
          <a:prstGeom prst="roundRect">
            <a:avLst>
              <a:gd name="adj" fmla="val 8696"/>
            </a:avLst>
          </a:prstGeom>
          <a:solidFill>
            <a:srgbClr val="172033"/>
          </a:solidFill>
          <a:ln w="12700">
            <a:solidFill>
              <a:srgbClr val="2B3A52"/>
            </a:solidFill>
            <a:prstDash val="solid"/>
          </a:ln>
          <a:effectLst>
            <a:outerShdw blurRad="19050" dist="12700" dir="2700000" algn="bl" rotWithShape="0">
              <a:srgbClr val="000000">
                <a:alpha val="13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8275320" y="4462272"/>
            <a:ext cx="74980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E45757"/>
                </a:solidFill>
              </a:rPr>
              <a:t>PDF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9116568" y="4626864"/>
            <a:ext cx="173736" cy="0"/>
          </a:xfrm>
          <a:prstGeom prst="line">
            <a:avLst/>
          </a:prstGeom>
          <a:noFill/>
          <a:ln w="27940">
            <a:solidFill>
              <a:srgbClr val="58A6FF"/>
            </a:solidFill>
            <a:prstDash val="solid"/>
            <a:headEnd type="none"/>
            <a:tailEnd type="triangle"/>
          </a:ln>
        </p:spPr>
      </p:sp>
      <p:sp>
        <p:nvSpPr>
          <p:cNvPr id="7" name="Shape 5"/>
          <p:cNvSpPr/>
          <p:nvPr/>
        </p:nvSpPr>
        <p:spPr>
          <a:xfrm>
            <a:off x="9308592" y="4096512"/>
            <a:ext cx="841248" cy="1078992"/>
          </a:xfrm>
          <a:prstGeom prst="roundRect">
            <a:avLst>
              <a:gd name="adj" fmla="val 8696"/>
            </a:avLst>
          </a:prstGeom>
          <a:solidFill>
            <a:srgbClr val="172033"/>
          </a:solidFill>
          <a:ln w="12700">
            <a:solidFill>
              <a:srgbClr val="2B3A52"/>
            </a:solidFill>
            <a:prstDash val="solid"/>
          </a:ln>
          <a:effectLst>
            <a:outerShdw blurRad="241935000" dist="161290000" algn="bl" rotWithShape="0">
              <a:srgbClr val="000000">
                <a:alpha val="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9354312" y="4462272"/>
            <a:ext cx="74980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2F80ED"/>
                </a:solidFill>
              </a:rPr>
              <a:t>REGIONS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10195560" y="4626864"/>
            <a:ext cx="173736" cy="0"/>
          </a:xfrm>
          <a:prstGeom prst="line">
            <a:avLst/>
          </a:prstGeom>
          <a:noFill/>
          <a:ln w="27940">
            <a:solidFill>
              <a:srgbClr val="58A6FF"/>
            </a:solidFill>
            <a:prstDash val="solid"/>
            <a:headEnd type="none"/>
            <a:tailEnd type="triangle"/>
          </a:ln>
        </p:spPr>
      </p:sp>
      <p:sp>
        <p:nvSpPr>
          <p:cNvPr id="10" name="Shape 8"/>
          <p:cNvSpPr/>
          <p:nvPr/>
        </p:nvSpPr>
        <p:spPr>
          <a:xfrm>
            <a:off x="10387584" y="4096512"/>
            <a:ext cx="841248" cy="1078992"/>
          </a:xfrm>
          <a:prstGeom prst="roundRect">
            <a:avLst>
              <a:gd name="adj" fmla="val 8696"/>
            </a:avLst>
          </a:prstGeom>
          <a:solidFill>
            <a:srgbClr val="172033"/>
          </a:solidFill>
          <a:ln w="12700">
            <a:solidFill>
              <a:srgbClr val="2B3A52"/>
            </a:solidFill>
            <a:prstDash val="solid"/>
          </a:ln>
          <a:effectLst>
            <a:outerShdw algn="bl" rotWithShape="0">
              <a:srgbClr val="000000">
                <a:alpha val="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10433304" y="4462272"/>
            <a:ext cx="74980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2FA36B"/>
                </a:solidFill>
              </a:rPr>
              <a:t>MD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594360" y="5925312"/>
            <a:ext cx="6309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8FA0B7"/>
                </a:solidFill>
              </a:rPr>
              <a:t>Qwen/Qwen3.5-0.8B  ·  DocLayout-YOLO  ·  PyMuPDF</a:t>
            </a:r>
            <a:endParaRPr lang="en-US" sz="850" dirty="0"/>
          </a:p>
        </p:txBody>
      </p:sp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438912"/>
            <a:ext cx="30175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2F80ED"/>
                </a:solidFill>
              </a:rPr>
              <a:t>VIDEO SERIES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502920" y="713232"/>
            <a:ext cx="109728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600" b="1" dirty="0">
                <a:solidFill>
                  <a:srgbClr val="172033"/>
                </a:solidFill>
              </a:rPr>
              <a:t>Part of a Series: How to Build Your First Chatbot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02920" y="1261872"/>
            <a:ext cx="107899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250" dirty="0">
                <a:solidFill>
                  <a:srgbClr val="687385"/>
                </a:solidFill>
              </a:rPr>
              <a:t>Real documents, real models, real measured results — not toy examples.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777240" y="1783080"/>
            <a:ext cx="10607040" cy="475488"/>
          </a:xfrm>
          <a:prstGeom prst="roundRect">
            <a:avLst>
              <a:gd name="adj" fmla="val 11538"/>
            </a:avLst>
          </a:prstGeom>
          <a:solidFill>
            <a:srgbClr val="EAF3FF"/>
          </a:solidFill>
          <a:ln w="20320">
            <a:solidFill>
              <a:srgbClr val="2F80ED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960120" y="1837944"/>
            <a:ext cx="347472" cy="347472"/>
          </a:xfrm>
          <a:prstGeom prst="ellipse">
            <a:avLst/>
          </a:prstGeom>
          <a:solidFill>
            <a:srgbClr val="2F80ED"/>
          </a:solidFill>
          <a:ln w="12700">
            <a:solidFill>
              <a:srgbClr val="2F80ED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960120" y="1920240"/>
            <a:ext cx="347472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</a:rPr>
              <a:t>1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1444752" y="1856232"/>
            <a:ext cx="36576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72033"/>
                </a:solidFill>
              </a:rPr>
              <a:t>OCR &amp; Document Understanding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5212080" y="1856232"/>
            <a:ext cx="48920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2F80ED"/>
                </a:solidFill>
              </a:rPr>
              <a:t>PDF → structured markdown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10332720" y="1856232"/>
            <a:ext cx="7772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50" b="1" dirty="0">
                <a:solidFill>
                  <a:srgbClr val="2F80ED"/>
                </a:solidFill>
              </a:rPr>
              <a:t>YOU ARE HERE</a:t>
            </a:r>
            <a:endParaRPr lang="en-US" sz="750" dirty="0"/>
          </a:p>
        </p:txBody>
      </p:sp>
      <p:sp>
        <p:nvSpPr>
          <p:cNvPr id="11" name="Shape 9"/>
          <p:cNvSpPr/>
          <p:nvPr/>
        </p:nvSpPr>
        <p:spPr>
          <a:xfrm>
            <a:off x="777240" y="2441448"/>
            <a:ext cx="10607040" cy="475488"/>
          </a:xfrm>
          <a:prstGeom prst="roundRect">
            <a:avLst>
              <a:gd name="adj" fmla="val 11538"/>
            </a:avLst>
          </a:prstGeom>
          <a:solidFill>
            <a:srgbClr val="FFFFFF"/>
          </a:solidFill>
          <a:ln w="10160">
            <a:solidFill>
              <a:srgbClr val="D8DEE9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960120" y="2496312"/>
            <a:ext cx="347472" cy="347472"/>
          </a:xfrm>
          <a:prstGeom prst="ellipse">
            <a:avLst/>
          </a:prstGeom>
          <a:solidFill>
            <a:srgbClr val="97A3B5"/>
          </a:solidFill>
          <a:ln w="12700">
            <a:solidFill>
              <a:srgbClr val="97A3B5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960120" y="2578608"/>
            <a:ext cx="347472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</a:rPr>
              <a:t>2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1444752" y="2514600"/>
            <a:ext cx="36576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87385"/>
                </a:solidFill>
              </a:rPr>
              <a:t>Analysis &amp; Validation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5212080" y="2514600"/>
            <a:ext cx="48920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87385"/>
                </a:solidFill>
              </a:rPr>
              <a:t>Is the extraction actually right?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777240" y="3099816"/>
            <a:ext cx="10607040" cy="475488"/>
          </a:xfrm>
          <a:prstGeom prst="roundRect">
            <a:avLst>
              <a:gd name="adj" fmla="val 11538"/>
            </a:avLst>
          </a:prstGeom>
          <a:solidFill>
            <a:srgbClr val="FFFFFF"/>
          </a:solidFill>
          <a:ln w="10160">
            <a:solidFill>
              <a:srgbClr val="D8DEE9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960120" y="3154680"/>
            <a:ext cx="347472" cy="347472"/>
          </a:xfrm>
          <a:prstGeom prst="ellipse">
            <a:avLst/>
          </a:prstGeom>
          <a:solidFill>
            <a:srgbClr val="97A3B5"/>
          </a:solidFill>
          <a:ln w="12700">
            <a:solidFill>
              <a:srgbClr val="97A3B5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960120" y="3236976"/>
            <a:ext cx="347472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</a:rPr>
              <a:t>3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1444752" y="3172968"/>
            <a:ext cx="36576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87385"/>
                </a:solidFill>
              </a:rPr>
              <a:t>Chunking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5212080" y="3172968"/>
            <a:ext cx="48920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87385"/>
                </a:solidFill>
              </a:rPr>
              <a:t>Splitting documents for retrieval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777240" y="3758184"/>
            <a:ext cx="10607040" cy="475488"/>
          </a:xfrm>
          <a:prstGeom prst="roundRect">
            <a:avLst>
              <a:gd name="adj" fmla="val 11538"/>
            </a:avLst>
          </a:prstGeom>
          <a:solidFill>
            <a:srgbClr val="FFFFFF"/>
          </a:solidFill>
          <a:ln w="10160">
            <a:solidFill>
              <a:srgbClr val="D8DEE9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960120" y="3813048"/>
            <a:ext cx="347472" cy="347472"/>
          </a:xfrm>
          <a:prstGeom prst="ellipse">
            <a:avLst/>
          </a:prstGeom>
          <a:solidFill>
            <a:srgbClr val="97A3B5"/>
          </a:solidFill>
          <a:ln w="12700">
            <a:solidFill>
              <a:srgbClr val="97A3B5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960120" y="3895344"/>
            <a:ext cx="347472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</a:rPr>
              <a:t>4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1444752" y="3831336"/>
            <a:ext cx="36576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87385"/>
                </a:solidFill>
              </a:rPr>
              <a:t>Embedding &amp; Database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5212080" y="3831336"/>
            <a:ext cx="48920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87385"/>
                </a:solidFill>
              </a:rPr>
              <a:t>Vectors, Postgres, pgvector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777240" y="4416552"/>
            <a:ext cx="10607040" cy="475488"/>
          </a:xfrm>
          <a:prstGeom prst="roundRect">
            <a:avLst>
              <a:gd name="adj" fmla="val 11538"/>
            </a:avLst>
          </a:prstGeom>
          <a:solidFill>
            <a:srgbClr val="FFFFFF"/>
          </a:solidFill>
          <a:ln w="10160">
            <a:solidFill>
              <a:srgbClr val="D8DEE9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960120" y="4471416"/>
            <a:ext cx="347472" cy="347472"/>
          </a:xfrm>
          <a:prstGeom prst="ellipse">
            <a:avLst/>
          </a:prstGeom>
          <a:solidFill>
            <a:srgbClr val="97A3B5"/>
          </a:solidFill>
          <a:ln w="12700">
            <a:solidFill>
              <a:srgbClr val="97A3B5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960120" y="4553712"/>
            <a:ext cx="347472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</a:rPr>
              <a:t>5</a:t>
            </a:r>
            <a:endParaRPr lang="en-US" sz="1400" dirty="0"/>
          </a:p>
        </p:txBody>
      </p:sp>
      <p:sp>
        <p:nvSpPr>
          <p:cNvPr id="29" name="Text 27"/>
          <p:cNvSpPr/>
          <p:nvPr/>
        </p:nvSpPr>
        <p:spPr>
          <a:xfrm>
            <a:off x="1444752" y="4489704"/>
            <a:ext cx="36576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87385"/>
                </a:solidFill>
              </a:rPr>
              <a:t>Database Deep Dive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5212080" y="4489704"/>
            <a:ext cx="48920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87385"/>
                </a:solidFill>
              </a:rPr>
              <a:t>Search, indexes, and what Postgres actually does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777240" y="5074920"/>
            <a:ext cx="10607040" cy="475488"/>
          </a:xfrm>
          <a:prstGeom prst="roundRect">
            <a:avLst>
              <a:gd name="adj" fmla="val 11538"/>
            </a:avLst>
          </a:prstGeom>
          <a:solidFill>
            <a:srgbClr val="FFFFFF"/>
          </a:solidFill>
          <a:ln w="10160">
            <a:solidFill>
              <a:srgbClr val="D8DEE9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960120" y="5129784"/>
            <a:ext cx="347472" cy="347472"/>
          </a:xfrm>
          <a:prstGeom prst="ellipse">
            <a:avLst/>
          </a:prstGeom>
          <a:solidFill>
            <a:srgbClr val="97A3B5"/>
          </a:solidFill>
          <a:ln w="12700">
            <a:solidFill>
              <a:srgbClr val="97A3B5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960120" y="5212080"/>
            <a:ext cx="347472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</a:rPr>
              <a:t>6</a:t>
            </a:r>
            <a:endParaRPr lang="en-US" sz="1400" dirty="0"/>
          </a:p>
        </p:txBody>
      </p:sp>
      <p:sp>
        <p:nvSpPr>
          <p:cNvPr id="34" name="Text 32"/>
          <p:cNvSpPr/>
          <p:nvPr/>
        </p:nvSpPr>
        <p:spPr>
          <a:xfrm>
            <a:off x="1444752" y="5148072"/>
            <a:ext cx="36576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87385"/>
                </a:solidFill>
              </a:rPr>
              <a:t>Summarization</a:t>
            </a:r>
            <a:endParaRPr lang="en-US" sz="1100" dirty="0"/>
          </a:p>
        </p:txBody>
      </p:sp>
      <p:sp>
        <p:nvSpPr>
          <p:cNvPr id="35" name="Text 33"/>
          <p:cNvSpPr/>
          <p:nvPr/>
        </p:nvSpPr>
        <p:spPr>
          <a:xfrm>
            <a:off x="5212080" y="5148072"/>
            <a:ext cx="48920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87385"/>
                </a:solidFill>
              </a:rPr>
              <a:t>Retrieval + a real LLM + a UI</a:t>
            </a:r>
            <a:endParaRPr lang="en-US" sz="1000" dirty="0"/>
          </a:p>
        </p:txBody>
      </p:sp>
      <p:sp>
        <p:nvSpPr>
          <p:cNvPr id="36" name="Text 34"/>
          <p:cNvSpPr/>
          <p:nvPr/>
        </p:nvSpPr>
        <p:spPr>
          <a:xfrm>
            <a:off x="502920" y="6473952"/>
            <a:ext cx="107899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630" dirty="0">
                <a:solidFill>
                  <a:srgbClr val="7A8493"/>
                </a:solidFill>
              </a:rPr>
              <a:t>Series context reproduced from the provided Module 1 deck.</a:t>
            </a:r>
            <a:endParaRPr lang="en-US" sz="630" dirty="0"/>
          </a:p>
        </p:txBody>
      </p:sp>
      <p:sp>
        <p:nvSpPr>
          <p:cNvPr id="37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612880" y="6510528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650">
                <a:solidFill>
                  <a:srgbClr val="9AA4B2"/>
                </a:solidFill>
                <a:latin typeface="Aptos"/>
                <a:ea typeface="Aptos"/>
                <a:cs typeface="Aptos"/>
              </a:defRPr>
            </a:lvl1pPr>
          </a:lstStyle>
          <a:p>
            <a:pPr algn="l"/>
            <a:fld id="{F7021451-1387-4CA6-816F-3879F97B5CBC}" type="slidenum">
              <a:rPr lang="en-US" b="0"/>
              <a:t>2</a:t>
            </a:fld>
            <a:endParaRPr lang="en-US"/>
          </a:p>
        </p:txBody>
      </p:sp>
    </p:spTree>
  </p:cSld>
  <p:clrMapOvr>
    <a:masterClrMapping/>
  </p:clrMapOvr>
  <p:transition spd="med">
    <p:fade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438912"/>
            <a:ext cx="30175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2F80ED"/>
                </a:solidFill>
              </a:rPr>
              <a:t>INTRO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502920" y="713232"/>
            <a:ext cx="109728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600" b="1" dirty="0">
                <a:solidFill>
                  <a:srgbClr val="172033"/>
                </a:solidFill>
              </a:rPr>
              <a:t>OCR Used to Mean One Thing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02920" y="1261872"/>
            <a:ext cx="107899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250" dirty="0">
                <a:solidFill>
                  <a:srgbClr val="687385"/>
                </a:solidFill>
              </a:rPr>
              <a:t>The modern shift is separating “where/what is it?” from “what does it say?”.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640080" y="1783080"/>
            <a:ext cx="5074920" cy="3611880"/>
          </a:xfrm>
          <a:prstGeom prst="roundRect">
            <a:avLst>
              <a:gd name="adj" fmla="val 2025"/>
            </a:avLst>
          </a:prstGeom>
          <a:solidFill>
            <a:srgbClr val="F7F9FC"/>
          </a:solidFill>
          <a:ln w="12700">
            <a:solidFill>
              <a:srgbClr val="D8DEE9"/>
            </a:solidFill>
            <a:prstDash val="solid"/>
          </a:ln>
          <a:effectLst>
            <a:outerShdw algn="bl" rotWithShape="0">
              <a:srgbClr val="000000">
                <a:alpha val="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960120" y="2084832"/>
            <a:ext cx="4434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687385"/>
                </a:solidFill>
              </a:rPr>
              <a:t>CLASSIC OCR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1234440" y="2770632"/>
            <a:ext cx="1325880" cy="1188720"/>
          </a:xfrm>
          <a:prstGeom prst="roundRect">
            <a:avLst>
              <a:gd name="adj" fmla="val 3846"/>
            </a:avLst>
          </a:prstGeom>
          <a:solidFill>
            <a:srgbClr val="FFFFFF"/>
          </a:solidFill>
          <a:ln w="12700">
            <a:solidFill>
              <a:srgbClr val="D8DEE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554480" y="3200400"/>
            <a:ext cx="685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172033"/>
                </a:solidFill>
              </a:rPr>
              <a:t>PAGE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2724912" y="3364992"/>
            <a:ext cx="704088" cy="0"/>
          </a:xfrm>
          <a:prstGeom prst="line">
            <a:avLst/>
          </a:prstGeom>
          <a:noFill/>
          <a:ln w="27940">
            <a:solidFill>
              <a:srgbClr val="687385"/>
            </a:solidFill>
            <a:prstDash val="solid"/>
            <a:headEnd type="none"/>
            <a:tailEnd type="triangle"/>
          </a:ln>
        </p:spPr>
      </p:sp>
      <p:sp>
        <p:nvSpPr>
          <p:cNvPr id="10" name="Shape 8"/>
          <p:cNvSpPr/>
          <p:nvPr/>
        </p:nvSpPr>
        <p:spPr>
          <a:xfrm>
            <a:off x="3611880" y="2770632"/>
            <a:ext cx="1508760" cy="1188720"/>
          </a:xfrm>
          <a:prstGeom prst="roundRect">
            <a:avLst>
              <a:gd name="adj" fmla="val 3846"/>
            </a:avLst>
          </a:prstGeom>
          <a:solidFill>
            <a:srgbClr val="FFFFFF"/>
          </a:solidFill>
          <a:ln w="12700">
            <a:solidFill>
              <a:srgbClr val="D8DEE9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840480" y="3072384"/>
            <a:ext cx="1051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687385"/>
                </a:solidFill>
              </a:rPr>
              <a:t>TEXT</a:t>
            </a:r>
            <a:endParaRPr lang="en-US" sz="1500" dirty="0"/>
          </a:p>
          <a:p>
            <a:pPr marL="0" indent="0" algn="ctr">
              <a:buNone/>
            </a:pPr>
            <a:r>
              <a:rPr lang="en-US" sz="1500" b="1" dirty="0">
                <a:solidFill>
                  <a:srgbClr val="687385"/>
                </a:solidFill>
              </a:rPr>
              <a:t>STRING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1051560" y="4343400"/>
            <a:ext cx="42519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200" dirty="0">
                <a:solidFill>
                  <a:srgbClr val="687385"/>
                </a:solidFill>
              </a:rPr>
              <a:t>Everything becomes characters. Tables, columns, and figures lose their identity.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6080760" y="1783080"/>
            <a:ext cx="5440680" cy="3611880"/>
          </a:xfrm>
          <a:prstGeom prst="roundRect">
            <a:avLst>
              <a:gd name="adj" fmla="val 2025"/>
            </a:avLst>
          </a:prstGeom>
          <a:solidFill>
            <a:srgbClr val="EAF3FF"/>
          </a:solidFill>
          <a:ln w="12700">
            <a:solidFill>
              <a:srgbClr val="B7D8FF"/>
            </a:solidFill>
            <a:prstDash val="solid"/>
          </a:ln>
          <a:effectLst>
            <a:outerShdw algn="bl" rotWithShape="0">
              <a:srgbClr val="000000">
                <a:alpha val="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6400800" y="2084832"/>
            <a:ext cx="4800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2F80ED"/>
                </a:solidFill>
              </a:rPr>
              <a:t>MODERN DOCUMENT UNDERSTANDING</a:t>
            </a:r>
            <a:endParaRPr lang="en-US" sz="1600" dirty="0"/>
          </a:p>
        </p:txBody>
      </p:sp>
      <p:sp>
        <p:nvSpPr>
          <p:cNvPr id="15" name="Shape 13"/>
          <p:cNvSpPr/>
          <p:nvPr/>
        </p:nvSpPr>
        <p:spPr>
          <a:xfrm>
            <a:off x="6446520" y="2834640"/>
            <a:ext cx="1280160" cy="132588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12700">
            <a:solidFill>
              <a:srgbClr val="D8DEE9"/>
            </a:solidFill>
            <a:prstDash val="solid"/>
          </a:ln>
          <a:effectLst>
            <a:outerShdw algn="bl" rotWithShape="0">
              <a:srgbClr val="000000">
                <a:alpha val="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6858000" y="2990088"/>
            <a:ext cx="384048" cy="384048"/>
          </a:xfrm>
          <a:prstGeom prst="ellipse">
            <a:avLst/>
          </a:prstGeom>
          <a:solidFill>
            <a:srgbClr val="2F80ED"/>
          </a:solidFill>
          <a:ln w="12700">
            <a:solidFill>
              <a:srgbClr val="2F80ED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858000" y="3072384"/>
            <a:ext cx="384048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</a:rPr>
              <a:t>1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6519672" y="3493008"/>
            <a:ext cx="113385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2F80ED"/>
                </a:solidFill>
              </a:rPr>
              <a:t>LAYOUT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6519672" y="3767328"/>
            <a:ext cx="11338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920" dirty="0">
                <a:solidFill>
                  <a:srgbClr val="687385"/>
                </a:solidFill>
              </a:rPr>
              <a:t>where + what?</a:t>
            </a:r>
            <a:endParaRPr lang="en-US" sz="920" dirty="0"/>
          </a:p>
        </p:txBody>
      </p:sp>
      <p:sp>
        <p:nvSpPr>
          <p:cNvPr id="20" name="Shape 18"/>
          <p:cNvSpPr/>
          <p:nvPr/>
        </p:nvSpPr>
        <p:spPr>
          <a:xfrm>
            <a:off x="7772400" y="3493008"/>
            <a:ext cx="182880" cy="0"/>
          </a:xfrm>
          <a:prstGeom prst="line">
            <a:avLst/>
          </a:prstGeom>
          <a:noFill/>
          <a:ln w="21590">
            <a:solidFill>
              <a:srgbClr val="9AA4B2"/>
            </a:solidFill>
            <a:prstDash val="solid"/>
            <a:headEnd type="none"/>
            <a:tailEnd type="triangle"/>
          </a:ln>
        </p:spPr>
      </p:sp>
      <p:sp>
        <p:nvSpPr>
          <p:cNvPr id="21" name="Shape 19"/>
          <p:cNvSpPr/>
          <p:nvPr/>
        </p:nvSpPr>
        <p:spPr>
          <a:xfrm>
            <a:off x="8001000" y="2834640"/>
            <a:ext cx="1280160" cy="132588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12700">
            <a:solidFill>
              <a:srgbClr val="D8DEE9"/>
            </a:solidFill>
            <a:prstDash val="solid"/>
          </a:ln>
          <a:effectLst>
            <a:outerShdw algn="bl" rotWithShape="0">
              <a:srgbClr val="000000">
                <a:alpha val="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8412480" y="2990088"/>
            <a:ext cx="384048" cy="384048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8412480" y="3072384"/>
            <a:ext cx="384048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</a:rPr>
              <a:t>2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8074152" y="3493008"/>
            <a:ext cx="113385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F59E0B"/>
                </a:solidFill>
              </a:rPr>
              <a:t>CROP</a:t>
            </a:r>
            <a:endParaRPr lang="en-US" sz="1050" dirty="0"/>
          </a:p>
        </p:txBody>
      </p:sp>
      <p:sp>
        <p:nvSpPr>
          <p:cNvPr id="25" name="Text 23"/>
          <p:cNvSpPr/>
          <p:nvPr/>
        </p:nvSpPr>
        <p:spPr>
          <a:xfrm>
            <a:off x="8074152" y="3767328"/>
            <a:ext cx="11338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920" dirty="0">
                <a:solidFill>
                  <a:srgbClr val="687385"/>
                </a:solidFill>
              </a:rPr>
              <a:t>region pixels</a:t>
            </a:r>
            <a:endParaRPr lang="en-US" sz="920" dirty="0"/>
          </a:p>
        </p:txBody>
      </p:sp>
      <p:sp>
        <p:nvSpPr>
          <p:cNvPr id="26" name="Shape 24"/>
          <p:cNvSpPr/>
          <p:nvPr/>
        </p:nvSpPr>
        <p:spPr>
          <a:xfrm>
            <a:off x="9326880" y="3493008"/>
            <a:ext cx="182880" cy="0"/>
          </a:xfrm>
          <a:prstGeom prst="line">
            <a:avLst/>
          </a:prstGeom>
          <a:noFill/>
          <a:ln w="21590">
            <a:solidFill>
              <a:srgbClr val="9AA4B2"/>
            </a:solidFill>
            <a:prstDash val="solid"/>
            <a:headEnd type="none"/>
            <a:tailEnd type="triangle"/>
          </a:ln>
        </p:spPr>
      </p:sp>
      <p:sp>
        <p:nvSpPr>
          <p:cNvPr id="27" name="Shape 25"/>
          <p:cNvSpPr/>
          <p:nvPr/>
        </p:nvSpPr>
        <p:spPr>
          <a:xfrm>
            <a:off x="9555480" y="2834640"/>
            <a:ext cx="1280160" cy="132588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12700">
            <a:solidFill>
              <a:srgbClr val="D8DEE9"/>
            </a:solidFill>
            <a:prstDash val="solid"/>
          </a:ln>
          <a:effectLst>
            <a:outerShdw algn="bl" rotWithShape="0">
              <a:srgbClr val="000000">
                <a:alpha val="0"/>
              </a:srgbClr>
            </a:outerShdw>
          </a:effectLst>
        </p:spPr>
      </p:sp>
      <p:sp>
        <p:nvSpPr>
          <p:cNvPr id="28" name="Shape 26"/>
          <p:cNvSpPr/>
          <p:nvPr/>
        </p:nvSpPr>
        <p:spPr>
          <a:xfrm>
            <a:off x="9966960" y="2990088"/>
            <a:ext cx="384048" cy="384048"/>
          </a:xfrm>
          <a:prstGeom prst="ellipse">
            <a:avLst/>
          </a:prstGeom>
          <a:solidFill>
            <a:srgbClr val="2FA36B"/>
          </a:solidFill>
          <a:ln w="12700">
            <a:solidFill>
              <a:srgbClr val="2FA36B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9966960" y="3072384"/>
            <a:ext cx="384048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</a:rPr>
              <a:t>3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9628632" y="3493008"/>
            <a:ext cx="113385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2FA36B"/>
                </a:solidFill>
              </a:rPr>
              <a:t>VLM</a:t>
            </a:r>
            <a:endParaRPr lang="en-US" sz="1050" dirty="0"/>
          </a:p>
        </p:txBody>
      </p:sp>
      <p:sp>
        <p:nvSpPr>
          <p:cNvPr id="31" name="Text 29"/>
          <p:cNvSpPr/>
          <p:nvPr/>
        </p:nvSpPr>
        <p:spPr>
          <a:xfrm>
            <a:off x="9628632" y="3767328"/>
            <a:ext cx="11338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920" dirty="0">
                <a:solidFill>
                  <a:srgbClr val="687385"/>
                </a:solidFill>
              </a:rPr>
              <a:t>what does it say?</a:t>
            </a:r>
            <a:endParaRPr lang="en-US" sz="920" dirty="0"/>
          </a:p>
        </p:txBody>
      </p:sp>
      <p:sp>
        <p:nvSpPr>
          <p:cNvPr id="32" name="Text 30"/>
          <p:cNvSpPr/>
          <p:nvPr/>
        </p:nvSpPr>
        <p:spPr>
          <a:xfrm>
            <a:off x="6583680" y="4553712"/>
            <a:ext cx="4434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2F80ED"/>
                </a:solidFill>
              </a:rPr>
              <a:t>Different region types get different extraction behavior.</a:t>
            </a:r>
            <a:endParaRPr lang="en-US" sz="1200" dirty="0"/>
          </a:p>
        </p:txBody>
      </p:sp>
      <p:sp>
        <p:nvSpPr>
          <p:cNvPr id="33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612880" y="6510528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650">
                <a:solidFill>
                  <a:srgbClr val="9AA4B2"/>
                </a:solidFill>
                <a:latin typeface="Aptos"/>
                <a:ea typeface="Aptos"/>
                <a:cs typeface="Aptos"/>
              </a:defRPr>
            </a:lvl1pPr>
          </a:lstStyle>
          <a:p>
            <a:pPr algn="l"/>
            <a:fld id="{F7021451-1387-4CA6-816F-3879F97B5CBC}" type="slidenum">
              <a:rPr lang="en-US" b="0"/>
              <a:t>3</a:t>
            </a:fld>
            <a:endParaRPr lang="en-US"/>
          </a:p>
        </p:txBody>
      </p:sp>
    </p:spTree>
  </p:cSld>
  <p:clrMapOvr>
    <a:masterClrMapping/>
  </p:clrMapOvr>
  <p:transition spd="med">
    <p:fade/>
  </p:transition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438912"/>
            <a:ext cx="30175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2F80ED"/>
                </a:solidFill>
              </a:rPr>
              <a:t>DID YOU KNOW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502920" y="713232"/>
            <a:ext cx="109728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600" b="1" dirty="0">
                <a:solidFill>
                  <a:srgbClr val="172033"/>
                </a:solidFill>
              </a:rPr>
              <a:t>OCR Has Been Around Longer Than You’d Think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02920" y="1261872"/>
            <a:ext cx="107899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250" dirty="0">
                <a:solidFill>
                  <a:srgbClr val="687385"/>
                </a:solidFill>
              </a:rPr>
              <a:t>A quick timeline to frame how different today’s VLM-based approach really is.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960120" y="3474720"/>
            <a:ext cx="10195560" cy="0"/>
          </a:xfrm>
          <a:prstGeom prst="line">
            <a:avLst/>
          </a:prstGeom>
          <a:noFill/>
          <a:ln w="25400">
            <a:solidFill>
              <a:srgbClr val="C9D2DF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005840" y="3291840"/>
            <a:ext cx="365760" cy="365760"/>
          </a:xfrm>
          <a:prstGeom prst="ellipse">
            <a:avLst/>
          </a:prstGeom>
          <a:solidFill>
            <a:srgbClr val="68738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77240" y="2286000"/>
            <a:ext cx="822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687385"/>
                </a:solidFill>
              </a:rPr>
              <a:t>1929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475488" y="3886200"/>
            <a:ext cx="1417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172033"/>
                </a:solidFill>
              </a:rPr>
              <a:t>Tauschek patent</a:t>
            </a:r>
            <a:endParaRPr lang="en-US" sz="1050" dirty="0"/>
          </a:p>
        </p:txBody>
      </p:sp>
      <p:sp>
        <p:nvSpPr>
          <p:cNvPr id="9" name="Text 7"/>
          <p:cNvSpPr/>
          <p:nvPr/>
        </p:nvSpPr>
        <p:spPr>
          <a:xfrm>
            <a:off x="438912" y="4224528"/>
            <a:ext cx="150876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950" dirty="0">
                <a:solidFill>
                  <a:srgbClr val="687385"/>
                </a:solidFill>
              </a:rPr>
              <a:t>mechanical letterform matching</a:t>
            </a:r>
            <a:endParaRPr lang="en-US" sz="950" dirty="0"/>
          </a:p>
        </p:txBody>
      </p:sp>
      <p:sp>
        <p:nvSpPr>
          <p:cNvPr id="10" name="Shape 8"/>
          <p:cNvSpPr/>
          <p:nvPr/>
        </p:nvSpPr>
        <p:spPr>
          <a:xfrm>
            <a:off x="3493008" y="3291840"/>
            <a:ext cx="365760" cy="365760"/>
          </a:xfrm>
          <a:prstGeom prst="ellipse">
            <a:avLst/>
          </a:prstGeom>
          <a:solidFill>
            <a:srgbClr val="F59E0B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264408" y="2286000"/>
            <a:ext cx="822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59E0B"/>
                </a:solidFill>
              </a:rPr>
              <a:t>1970s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2962656" y="3886200"/>
            <a:ext cx="1417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172033"/>
                </a:solidFill>
              </a:rPr>
              <a:t>Reading machines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2926080" y="4224528"/>
            <a:ext cx="150876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950" dirty="0">
                <a:solidFill>
                  <a:srgbClr val="687385"/>
                </a:solidFill>
              </a:rPr>
              <a:t>OCR becomes assistive technology</a:t>
            </a:r>
            <a:endParaRPr lang="en-US" sz="950" dirty="0"/>
          </a:p>
        </p:txBody>
      </p:sp>
      <p:sp>
        <p:nvSpPr>
          <p:cNvPr id="14" name="Shape 12"/>
          <p:cNvSpPr/>
          <p:nvPr/>
        </p:nvSpPr>
        <p:spPr>
          <a:xfrm>
            <a:off x="5980176" y="3291840"/>
            <a:ext cx="365760" cy="365760"/>
          </a:xfrm>
          <a:prstGeom prst="ellipse">
            <a:avLst/>
          </a:prstGeom>
          <a:solidFill>
            <a:srgbClr val="2F80ED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751576" y="2286000"/>
            <a:ext cx="822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2F80ED"/>
                </a:solidFill>
              </a:rPr>
              <a:t>1980s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5449824" y="3886200"/>
            <a:ext cx="1417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172033"/>
                </a:solidFill>
              </a:rPr>
              <a:t>Tesseract at HP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5413248" y="4224528"/>
            <a:ext cx="150876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950" dirty="0">
                <a:solidFill>
                  <a:srgbClr val="687385"/>
                </a:solidFill>
              </a:rPr>
              <a:t>software OCR matures</a:t>
            </a:r>
            <a:endParaRPr lang="en-US" sz="950" dirty="0"/>
          </a:p>
        </p:txBody>
      </p:sp>
      <p:sp>
        <p:nvSpPr>
          <p:cNvPr id="18" name="Shape 16"/>
          <p:cNvSpPr/>
          <p:nvPr/>
        </p:nvSpPr>
        <p:spPr>
          <a:xfrm>
            <a:off x="8467344" y="3291840"/>
            <a:ext cx="365760" cy="365760"/>
          </a:xfrm>
          <a:prstGeom prst="ellipse">
            <a:avLst/>
          </a:prstGeom>
          <a:solidFill>
            <a:srgbClr val="2FA36B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238744" y="2286000"/>
            <a:ext cx="822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2FA36B"/>
                </a:solidFill>
              </a:rPr>
              <a:t>2000s+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7936992" y="3886200"/>
            <a:ext cx="1417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172033"/>
                </a:solidFill>
              </a:rPr>
              <a:t>Open source + ML</a:t>
            </a:r>
            <a:endParaRPr lang="en-US" sz="1050" dirty="0"/>
          </a:p>
        </p:txBody>
      </p:sp>
      <p:sp>
        <p:nvSpPr>
          <p:cNvPr id="21" name="Text 19"/>
          <p:cNvSpPr/>
          <p:nvPr/>
        </p:nvSpPr>
        <p:spPr>
          <a:xfrm>
            <a:off x="7900416" y="4224528"/>
            <a:ext cx="150876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950" dirty="0">
                <a:solidFill>
                  <a:srgbClr val="687385"/>
                </a:solidFill>
              </a:rPr>
              <a:t>OCR becomes widely accessible</a:t>
            </a:r>
            <a:endParaRPr lang="en-US" sz="950" dirty="0"/>
          </a:p>
        </p:txBody>
      </p:sp>
      <p:sp>
        <p:nvSpPr>
          <p:cNvPr id="22" name="Shape 20"/>
          <p:cNvSpPr/>
          <p:nvPr/>
        </p:nvSpPr>
        <p:spPr>
          <a:xfrm>
            <a:off x="10954512" y="3291840"/>
            <a:ext cx="365760" cy="365760"/>
          </a:xfrm>
          <a:prstGeom prst="ellipse">
            <a:avLst/>
          </a:prstGeom>
          <a:solidFill>
            <a:srgbClr val="7C3AED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10725912" y="2286000"/>
            <a:ext cx="822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7C3AED"/>
                </a:solidFill>
              </a:rPr>
              <a:t>Today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10424160" y="3886200"/>
            <a:ext cx="1417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172033"/>
                </a:solidFill>
              </a:rPr>
              <a:t>Layout + VLM</a:t>
            </a:r>
            <a:endParaRPr lang="en-US" sz="1050" dirty="0"/>
          </a:p>
        </p:txBody>
      </p:sp>
      <p:sp>
        <p:nvSpPr>
          <p:cNvPr id="25" name="Text 23"/>
          <p:cNvSpPr/>
          <p:nvPr/>
        </p:nvSpPr>
        <p:spPr>
          <a:xfrm>
            <a:off x="10387584" y="4224528"/>
            <a:ext cx="150876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950" dirty="0">
                <a:solidFill>
                  <a:srgbClr val="687385"/>
                </a:solidFill>
              </a:rPr>
              <a:t>recognize structure and meaning</a:t>
            </a:r>
            <a:endParaRPr lang="en-US" sz="950" dirty="0"/>
          </a:p>
        </p:txBody>
      </p:sp>
      <p:sp>
        <p:nvSpPr>
          <p:cNvPr id="26" name="Shape 24"/>
          <p:cNvSpPr/>
          <p:nvPr/>
        </p:nvSpPr>
        <p:spPr>
          <a:xfrm>
            <a:off x="1920240" y="5230368"/>
            <a:ext cx="8366760" cy="475488"/>
          </a:xfrm>
          <a:prstGeom prst="roundRect">
            <a:avLst>
              <a:gd name="adj" fmla="val 7692"/>
            </a:avLst>
          </a:prstGeom>
          <a:solidFill>
            <a:srgbClr val="FFF6D6"/>
          </a:solidFill>
          <a:ln w="12700">
            <a:solidFill>
              <a:srgbClr val="F2D675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194560" y="5385816"/>
            <a:ext cx="78181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7A5A00"/>
                </a:solidFill>
              </a:rPr>
              <a:t>For most of OCR history, the target was characters. This module treats the page as a structured visual scene first.</a:t>
            </a:r>
            <a:endParaRPr lang="en-US" sz="1150" dirty="0"/>
          </a:p>
        </p:txBody>
      </p:sp>
      <p:sp>
        <p:nvSpPr>
          <p:cNvPr id="28" name="Text 26"/>
          <p:cNvSpPr/>
          <p:nvPr/>
        </p:nvSpPr>
        <p:spPr>
          <a:xfrm>
            <a:off x="502920" y="6473952"/>
            <a:ext cx="107899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630" dirty="0">
                <a:solidFill>
                  <a:srgbClr val="7A8493"/>
                </a:solidFill>
              </a:rPr>
              <a:t>Historical milestones summarized from the provided Module 1 deck; image use is avoided here to keep the timeline legible.</a:t>
            </a:r>
            <a:endParaRPr lang="en-US" sz="630" dirty="0"/>
          </a:p>
        </p:txBody>
      </p:sp>
      <p:sp>
        <p:nvSpPr>
          <p:cNvPr id="29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612880" y="6510528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650">
                <a:solidFill>
                  <a:srgbClr val="9AA4B2"/>
                </a:solidFill>
                <a:latin typeface="Aptos"/>
                <a:ea typeface="Aptos"/>
                <a:cs typeface="Aptos"/>
              </a:defRPr>
            </a:lvl1pPr>
          </a:lstStyle>
          <a:p>
            <a:pPr algn="l"/>
            <a:fld id="{F7021451-1387-4CA6-816F-3879F97B5CBC}" type="slidenum">
              <a:rPr lang="en-US" b="0"/>
              <a:t>4</a:t>
            </a:fld>
            <a:endParaRPr lang="en-US"/>
          </a:p>
        </p:txBody>
      </p:sp>
    </p:spTree>
  </p:cSld>
  <p:clrMapOvr>
    <a:masterClrMapping/>
  </p:clrMapOvr>
  <p:transition spd="med">
    <p:fade/>
  </p:transition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438912"/>
            <a:ext cx="30175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2F80ED"/>
                </a:solidFill>
              </a:rPr>
              <a:t>THE PROBLEM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502920" y="713232"/>
            <a:ext cx="109728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600" b="1" dirty="0">
                <a:solidFill>
                  <a:srgbClr val="172033"/>
                </a:solidFill>
              </a:rPr>
              <a:t>A PDF Page Is Not Just Text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02920" y="1261872"/>
            <a:ext cx="107899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250" dirty="0">
                <a:solidFill>
                  <a:srgbClr val="687385"/>
                </a:solidFill>
              </a:rPr>
              <a:t>Before extraction, the page is a visual layout problem.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685800" y="1737360"/>
            <a:ext cx="4709160" cy="3977640"/>
          </a:xfrm>
          <a:prstGeom prst="roundRect">
            <a:avLst>
              <a:gd name="adj" fmla="val 1839"/>
            </a:avLst>
          </a:prstGeom>
          <a:solidFill>
            <a:srgbClr val="FFFFFF"/>
          </a:solidFill>
          <a:ln w="12700">
            <a:solidFill>
              <a:srgbClr val="D8DEE9"/>
            </a:solidFill>
            <a:prstDash val="solid"/>
          </a:ln>
          <a:effectLst>
            <a:outerShdw algn="bl" rotWithShape="0">
              <a:srgbClr val="000000">
                <a:alpha val="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1051560" y="2057400"/>
            <a:ext cx="3977640" cy="3246120"/>
          </a:xfrm>
          <a:prstGeom prst="rect">
            <a:avLst/>
          </a:prstGeom>
          <a:solidFill>
            <a:srgbClr val="FAFBFD"/>
          </a:solidFill>
          <a:ln w="12700">
            <a:solidFill>
              <a:srgbClr val="BFC8D6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280160" y="2286000"/>
            <a:ext cx="2011680" cy="320040"/>
          </a:xfrm>
          <a:prstGeom prst="rect">
            <a:avLst/>
          </a:prstGeom>
          <a:solidFill>
            <a:srgbClr val="FFFFFF">
              <a:alpha val="0"/>
            </a:srgbClr>
          </a:solidFill>
          <a:ln w="25400">
            <a:solidFill>
              <a:srgbClr val="E45757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335024" y="2322576"/>
            <a:ext cx="1901952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b="1" dirty="0">
                <a:solidFill>
                  <a:srgbClr val="E45757"/>
                </a:solidFill>
              </a:rPr>
              <a:t>TITLE</a:t>
            </a:r>
            <a:endParaRPr lang="en-US" sz="750" dirty="0"/>
          </a:p>
        </p:txBody>
      </p:sp>
      <p:sp>
        <p:nvSpPr>
          <p:cNvPr id="9" name="Shape 7"/>
          <p:cNvSpPr/>
          <p:nvPr/>
        </p:nvSpPr>
        <p:spPr>
          <a:xfrm>
            <a:off x="1280160" y="2788920"/>
            <a:ext cx="1417320" cy="1097280"/>
          </a:xfrm>
          <a:prstGeom prst="rect">
            <a:avLst/>
          </a:prstGeom>
          <a:solidFill>
            <a:srgbClr val="FFFFFF">
              <a:alpha val="0"/>
            </a:srgbClr>
          </a:solidFill>
          <a:ln w="25400">
            <a:solidFill>
              <a:srgbClr val="2F80ED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335024" y="2825496"/>
            <a:ext cx="1307592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b="1" dirty="0">
                <a:solidFill>
                  <a:srgbClr val="2F80ED"/>
                </a:solidFill>
              </a:rPr>
              <a:t>TEXT</a:t>
            </a:r>
            <a:endParaRPr lang="en-US" sz="750" dirty="0"/>
          </a:p>
        </p:txBody>
      </p:sp>
      <p:sp>
        <p:nvSpPr>
          <p:cNvPr id="11" name="Shape 9"/>
          <p:cNvSpPr/>
          <p:nvPr/>
        </p:nvSpPr>
        <p:spPr>
          <a:xfrm>
            <a:off x="2926080" y="2788920"/>
            <a:ext cx="1737360" cy="1097280"/>
          </a:xfrm>
          <a:prstGeom prst="rect">
            <a:avLst/>
          </a:prstGeom>
          <a:solidFill>
            <a:srgbClr val="FFFFFF">
              <a:alpha val="0"/>
            </a:srgbClr>
          </a:solidFill>
          <a:ln w="25400">
            <a:solidFill>
              <a:srgbClr val="F59E0B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2980944" y="2825496"/>
            <a:ext cx="1627632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b="1" dirty="0">
                <a:solidFill>
                  <a:srgbClr val="F59E0B"/>
                </a:solidFill>
              </a:rPr>
              <a:t>TABLE</a:t>
            </a:r>
            <a:endParaRPr lang="en-US" sz="750" dirty="0"/>
          </a:p>
        </p:txBody>
      </p:sp>
      <p:sp>
        <p:nvSpPr>
          <p:cNvPr id="13" name="Shape 11"/>
          <p:cNvSpPr/>
          <p:nvPr/>
        </p:nvSpPr>
        <p:spPr>
          <a:xfrm>
            <a:off x="1280160" y="4160520"/>
            <a:ext cx="2057400" cy="777240"/>
          </a:xfrm>
          <a:prstGeom prst="rect">
            <a:avLst/>
          </a:prstGeom>
          <a:solidFill>
            <a:srgbClr val="FFFFFF">
              <a:alpha val="0"/>
            </a:srgbClr>
          </a:solidFill>
          <a:ln w="25400">
            <a:solidFill>
              <a:srgbClr val="2FA36B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335024" y="4197096"/>
            <a:ext cx="1947672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b="1" dirty="0">
                <a:solidFill>
                  <a:srgbClr val="2FA36B"/>
                </a:solidFill>
              </a:rPr>
              <a:t>FIGURE</a:t>
            </a:r>
            <a:endParaRPr lang="en-US" sz="750" dirty="0"/>
          </a:p>
        </p:txBody>
      </p:sp>
      <p:sp>
        <p:nvSpPr>
          <p:cNvPr id="15" name="Shape 13"/>
          <p:cNvSpPr/>
          <p:nvPr/>
        </p:nvSpPr>
        <p:spPr>
          <a:xfrm>
            <a:off x="3611880" y="4160520"/>
            <a:ext cx="1051560" cy="777240"/>
          </a:xfrm>
          <a:prstGeom prst="rect">
            <a:avLst/>
          </a:prstGeom>
          <a:solidFill>
            <a:srgbClr val="FFFFFF">
              <a:alpha val="0"/>
            </a:srgbClr>
          </a:solidFill>
          <a:ln w="25400">
            <a:solidFill>
              <a:srgbClr val="7C3AED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666744" y="4197096"/>
            <a:ext cx="941832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b="1" dirty="0">
                <a:solidFill>
                  <a:srgbClr val="7C3AED"/>
                </a:solidFill>
              </a:rPr>
              <a:t>STAMP</a:t>
            </a:r>
            <a:endParaRPr lang="en-US" sz="750" dirty="0"/>
          </a:p>
        </p:txBody>
      </p:sp>
      <p:sp>
        <p:nvSpPr>
          <p:cNvPr id="17" name="Shape 15"/>
          <p:cNvSpPr/>
          <p:nvPr/>
        </p:nvSpPr>
        <p:spPr>
          <a:xfrm>
            <a:off x="5806440" y="1737360"/>
            <a:ext cx="5623560" cy="3977640"/>
          </a:xfrm>
          <a:prstGeom prst="roundRect">
            <a:avLst>
              <a:gd name="adj" fmla="val 1839"/>
            </a:avLst>
          </a:prstGeom>
          <a:solidFill>
            <a:srgbClr val="F7F9FC"/>
          </a:solidFill>
          <a:ln w="12700">
            <a:solidFill>
              <a:srgbClr val="D8DEE9"/>
            </a:solidFill>
            <a:prstDash val="solid"/>
          </a:ln>
          <a:effectLst>
            <a:outerShdw algn="bl" rotWithShape="0">
              <a:srgbClr val="000000">
                <a:alpha val="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6144768" y="2139696"/>
            <a:ext cx="1188720" cy="292608"/>
          </a:xfrm>
          <a:prstGeom prst="roundRect">
            <a:avLst>
              <a:gd name="adj" fmla="val 25000"/>
            </a:avLst>
          </a:prstGeom>
          <a:solidFill>
            <a:srgbClr val="2F80ED"/>
          </a:solidFill>
          <a:ln w="12700">
            <a:solidFill>
              <a:srgbClr val="2F80ED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199632" y="2185416"/>
            <a:ext cx="107899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820" b="1" dirty="0">
                <a:solidFill>
                  <a:srgbClr val="FFFFFF"/>
                </a:solidFill>
              </a:rPr>
              <a:t>Paragraph</a:t>
            </a:r>
            <a:endParaRPr lang="en-US" sz="820" dirty="0"/>
          </a:p>
        </p:txBody>
      </p:sp>
      <p:sp>
        <p:nvSpPr>
          <p:cNvPr id="20" name="Shape 18"/>
          <p:cNvSpPr/>
          <p:nvPr/>
        </p:nvSpPr>
        <p:spPr>
          <a:xfrm>
            <a:off x="7452360" y="2286000"/>
            <a:ext cx="502920" cy="0"/>
          </a:xfrm>
          <a:prstGeom prst="line">
            <a:avLst/>
          </a:prstGeom>
          <a:noFill/>
          <a:ln w="20320">
            <a:solidFill>
              <a:srgbClr val="A8B2C1"/>
            </a:solidFill>
            <a:prstDash val="solid"/>
            <a:headEnd type="none"/>
            <a:tailEnd type="triangle"/>
          </a:ln>
        </p:spPr>
      </p:sp>
      <p:sp>
        <p:nvSpPr>
          <p:cNvPr id="21" name="Text 19"/>
          <p:cNvSpPr/>
          <p:nvPr/>
        </p:nvSpPr>
        <p:spPr>
          <a:xfrm>
            <a:off x="8156448" y="2212848"/>
            <a:ext cx="2697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120" dirty="0">
                <a:solidFill>
                  <a:srgbClr val="172033"/>
                </a:solidFill>
              </a:rPr>
              <a:t>transcribe text</a:t>
            </a:r>
            <a:endParaRPr lang="en-US" sz="1120" dirty="0"/>
          </a:p>
        </p:txBody>
      </p:sp>
      <p:sp>
        <p:nvSpPr>
          <p:cNvPr id="22" name="Shape 20"/>
          <p:cNvSpPr/>
          <p:nvPr/>
        </p:nvSpPr>
        <p:spPr>
          <a:xfrm>
            <a:off x="6144768" y="2752344"/>
            <a:ext cx="1188720" cy="292608"/>
          </a:xfrm>
          <a:prstGeom prst="roundRect">
            <a:avLst>
              <a:gd name="adj" fmla="val 25000"/>
            </a:avLst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199632" y="2798064"/>
            <a:ext cx="107899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820" b="1" dirty="0">
                <a:solidFill>
                  <a:srgbClr val="FFFFFF"/>
                </a:solidFill>
              </a:rPr>
              <a:t>Table</a:t>
            </a:r>
            <a:endParaRPr lang="en-US" sz="820" dirty="0"/>
          </a:p>
        </p:txBody>
      </p:sp>
      <p:sp>
        <p:nvSpPr>
          <p:cNvPr id="24" name="Shape 22"/>
          <p:cNvSpPr/>
          <p:nvPr/>
        </p:nvSpPr>
        <p:spPr>
          <a:xfrm>
            <a:off x="7452360" y="2898648"/>
            <a:ext cx="502920" cy="0"/>
          </a:xfrm>
          <a:prstGeom prst="line">
            <a:avLst/>
          </a:prstGeom>
          <a:noFill/>
          <a:ln w="20320">
            <a:solidFill>
              <a:srgbClr val="A8B2C1"/>
            </a:solidFill>
            <a:prstDash val="solid"/>
            <a:headEnd type="none"/>
            <a:tailEnd type="triangle"/>
          </a:ln>
        </p:spPr>
      </p:sp>
      <p:sp>
        <p:nvSpPr>
          <p:cNvPr id="25" name="Text 23"/>
          <p:cNvSpPr/>
          <p:nvPr/>
        </p:nvSpPr>
        <p:spPr>
          <a:xfrm>
            <a:off x="8156448" y="2825496"/>
            <a:ext cx="2697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120" dirty="0">
                <a:solidFill>
                  <a:srgbClr val="172033"/>
                </a:solidFill>
              </a:rPr>
              <a:t>preserve rows + columns</a:t>
            </a:r>
            <a:endParaRPr lang="en-US" sz="1120" dirty="0"/>
          </a:p>
        </p:txBody>
      </p:sp>
      <p:sp>
        <p:nvSpPr>
          <p:cNvPr id="26" name="Shape 24"/>
          <p:cNvSpPr/>
          <p:nvPr/>
        </p:nvSpPr>
        <p:spPr>
          <a:xfrm>
            <a:off x="6144768" y="3364992"/>
            <a:ext cx="1188720" cy="292608"/>
          </a:xfrm>
          <a:prstGeom prst="roundRect">
            <a:avLst>
              <a:gd name="adj" fmla="val 25000"/>
            </a:avLst>
          </a:prstGeom>
          <a:solidFill>
            <a:srgbClr val="2FA36B"/>
          </a:solidFill>
          <a:ln w="12700">
            <a:solidFill>
              <a:srgbClr val="2FA36B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199632" y="3410712"/>
            <a:ext cx="107899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820" b="1" dirty="0">
                <a:solidFill>
                  <a:srgbClr val="FFFFFF"/>
                </a:solidFill>
              </a:rPr>
              <a:t>Figure</a:t>
            </a:r>
            <a:endParaRPr lang="en-US" sz="820" dirty="0"/>
          </a:p>
        </p:txBody>
      </p:sp>
      <p:sp>
        <p:nvSpPr>
          <p:cNvPr id="28" name="Shape 26"/>
          <p:cNvSpPr/>
          <p:nvPr/>
        </p:nvSpPr>
        <p:spPr>
          <a:xfrm>
            <a:off x="7452360" y="3511296"/>
            <a:ext cx="502920" cy="0"/>
          </a:xfrm>
          <a:prstGeom prst="line">
            <a:avLst/>
          </a:prstGeom>
          <a:noFill/>
          <a:ln w="20320">
            <a:solidFill>
              <a:srgbClr val="A8B2C1"/>
            </a:solidFill>
            <a:prstDash val="solid"/>
            <a:headEnd type="none"/>
            <a:tailEnd type="triangle"/>
          </a:ln>
        </p:spPr>
      </p:sp>
      <p:sp>
        <p:nvSpPr>
          <p:cNvPr id="29" name="Text 27"/>
          <p:cNvSpPr/>
          <p:nvPr/>
        </p:nvSpPr>
        <p:spPr>
          <a:xfrm>
            <a:off x="8156448" y="3438144"/>
            <a:ext cx="2697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120" dirty="0">
                <a:solidFill>
                  <a:srgbClr val="172033"/>
                </a:solidFill>
              </a:rPr>
              <a:t>classify + describe</a:t>
            </a:r>
            <a:endParaRPr lang="en-US" sz="1120" dirty="0"/>
          </a:p>
        </p:txBody>
      </p:sp>
      <p:sp>
        <p:nvSpPr>
          <p:cNvPr id="30" name="Shape 28"/>
          <p:cNvSpPr/>
          <p:nvPr/>
        </p:nvSpPr>
        <p:spPr>
          <a:xfrm>
            <a:off x="6144768" y="3977640"/>
            <a:ext cx="1188720" cy="292608"/>
          </a:xfrm>
          <a:prstGeom prst="roundRect">
            <a:avLst>
              <a:gd name="adj" fmla="val 250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199632" y="4023360"/>
            <a:ext cx="107899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820" b="1" dirty="0">
                <a:solidFill>
                  <a:srgbClr val="FFFFFF"/>
                </a:solidFill>
              </a:rPr>
              <a:t>Logo / signature</a:t>
            </a:r>
            <a:endParaRPr lang="en-US" sz="820" dirty="0"/>
          </a:p>
        </p:txBody>
      </p:sp>
      <p:sp>
        <p:nvSpPr>
          <p:cNvPr id="32" name="Shape 30"/>
          <p:cNvSpPr/>
          <p:nvPr/>
        </p:nvSpPr>
        <p:spPr>
          <a:xfrm>
            <a:off x="7452360" y="4123944"/>
            <a:ext cx="502920" cy="0"/>
          </a:xfrm>
          <a:prstGeom prst="line">
            <a:avLst/>
          </a:prstGeom>
          <a:noFill/>
          <a:ln w="20320">
            <a:solidFill>
              <a:srgbClr val="A8B2C1"/>
            </a:solidFill>
            <a:prstDash val="solid"/>
            <a:headEnd type="none"/>
            <a:tailEnd type="triangle"/>
          </a:ln>
        </p:spPr>
      </p:sp>
      <p:sp>
        <p:nvSpPr>
          <p:cNvPr id="33" name="Text 31"/>
          <p:cNvSpPr/>
          <p:nvPr/>
        </p:nvSpPr>
        <p:spPr>
          <a:xfrm>
            <a:off x="8156448" y="4050792"/>
            <a:ext cx="2697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120" dirty="0">
                <a:solidFill>
                  <a:srgbClr val="172033"/>
                </a:solidFill>
              </a:rPr>
              <a:t>metadata, not body</a:t>
            </a:r>
            <a:endParaRPr lang="en-US" sz="1120" dirty="0"/>
          </a:p>
        </p:txBody>
      </p:sp>
      <p:sp>
        <p:nvSpPr>
          <p:cNvPr id="34" name="Shape 32"/>
          <p:cNvSpPr/>
          <p:nvPr/>
        </p:nvSpPr>
        <p:spPr>
          <a:xfrm>
            <a:off x="6144768" y="4590288"/>
            <a:ext cx="1188720" cy="292608"/>
          </a:xfrm>
          <a:prstGeom prst="roundRect">
            <a:avLst>
              <a:gd name="adj" fmla="val 25000"/>
            </a:avLst>
          </a:prstGeom>
          <a:solidFill>
            <a:srgbClr val="687385"/>
          </a:solidFill>
          <a:ln w="12700">
            <a:solidFill>
              <a:srgbClr val="687385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199632" y="4636008"/>
            <a:ext cx="107899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820" b="1" dirty="0">
                <a:solidFill>
                  <a:srgbClr val="FFFFFF"/>
                </a:solidFill>
              </a:rPr>
              <a:t>Header / footer</a:t>
            </a:r>
            <a:endParaRPr lang="en-US" sz="820" dirty="0"/>
          </a:p>
        </p:txBody>
      </p:sp>
      <p:sp>
        <p:nvSpPr>
          <p:cNvPr id="36" name="Shape 34"/>
          <p:cNvSpPr/>
          <p:nvPr/>
        </p:nvSpPr>
        <p:spPr>
          <a:xfrm>
            <a:off x="7452360" y="4736592"/>
            <a:ext cx="502920" cy="0"/>
          </a:xfrm>
          <a:prstGeom prst="line">
            <a:avLst/>
          </a:prstGeom>
          <a:noFill/>
          <a:ln w="20320">
            <a:solidFill>
              <a:srgbClr val="A8B2C1"/>
            </a:solidFill>
            <a:prstDash val="solid"/>
            <a:headEnd type="none"/>
            <a:tailEnd type="triangle"/>
          </a:ln>
        </p:spPr>
      </p:sp>
      <p:sp>
        <p:nvSpPr>
          <p:cNvPr id="37" name="Text 35"/>
          <p:cNvSpPr/>
          <p:nvPr/>
        </p:nvSpPr>
        <p:spPr>
          <a:xfrm>
            <a:off x="8156448" y="4663440"/>
            <a:ext cx="2697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120" dirty="0">
                <a:solidFill>
                  <a:srgbClr val="172033"/>
                </a:solidFill>
              </a:rPr>
              <a:t>drop from body, still log</a:t>
            </a:r>
            <a:endParaRPr lang="en-US" sz="1120" dirty="0"/>
          </a:p>
        </p:txBody>
      </p:sp>
      <p:sp>
        <p:nvSpPr>
          <p:cNvPr id="38" name="Text 36"/>
          <p:cNvSpPr/>
          <p:nvPr/>
        </p:nvSpPr>
        <p:spPr>
          <a:xfrm>
            <a:off x="6400800" y="5285232"/>
            <a:ext cx="4434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2F80ED"/>
                </a:solidFill>
              </a:rPr>
              <a:t>The extraction question only makes sense after the region type is known.</a:t>
            </a:r>
            <a:endParaRPr lang="en-US" sz="1250" dirty="0"/>
          </a:p>
        </p:txBody>
      </p:sp>
      <p:sp>
        <p:nvSpPr>
          <p:cNvPr id="39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612880" y="6510528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650">
                <a:solidFill>
                  <a:srgbClr val="9AA4B2"/>
                </a:solidFill>
                <a:latin typeface="Aptos"/>
                <a:ea typeface="Aptos"/>
                <a:cs typeface="Aptos"/>
              </a:defRPr>
            </a:lvl1pPr>
          </a:lstStyle>
          <a:p>
            <a:pPr algn="l"/>
            <a:fld id="{F7021451-1387-4CA6-816F-3879F97B5CBC}" type="slidenum">
              <a:rPr lang="en-US" b="0"/>
              <a:t>5</a:t>
            </a:fld>
            <a:endParaRPr lang="en-US"/>
          </a:p>
        </p:txBody>
      </p:sp>
    </p:spTree>
  </p:cSld>
  <p:clrMapOvr>
    <a:masterClrMapping/>
  </p:clrMapOvr>
  <p:transition spd="med">
    <p:fade/>
  </p:transition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438912"/>
            <a:ext cx="30175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2F80ED"/>
                </a:solidFill>
              </a:rPr>
              <a:t>ARCHITECTURE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502920" y="713232"/>
            <a:ext cx="109728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600" b="1" dirty="0">
                <a:solidFill>
                  <a:srgbClr val="172033"/>
                </a:solidFill>
              </a:rPr>
              <a:t>Seven Steps, PDF to Markdown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02920" y="1261872"/>
            <a:ext cx="107899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250" dirty="0">
                <a:solidFill>
                  <a:srgbClr val="687385"/>
                </a:solidFill>
              </a:rPr>
              <a:t>The useful teaching idea: every step leaves something inspectable behind.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502920" y="2148840"/>
            <a:ext cx="1399032" cy="2194560"/>
          </a:xfrm>
          <a:prstGeom prst="roundRect">
            <a:avLst>
              <a:gd name="adj" fmla="val 5229"/>
            </a:avLst>
          </a:prstGeom>
          <a:solidFill>
            <a:srgbClr val="FFFFFF"/>
          </a:solidFill>
          <a:ln w="12700">
            <a:solidFill>
              <a:srgbClr val="D8DEE9"/>
            </a:solidFill>
            <a:prstDash val="solid"/>
          </a:ln>
          <a:effectLst>
            <a:outerShdw algn="bl" rotWithShape="0">
              <a:srgbClr val="000000">
                <a:alpha val="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50976" y="2386584"/>
            <a:ext cx="457200" cy="457200"/>
          </a:xfrm>
          <a:prstGeom prst="ellipse">
            <a:avLst/>
          </a:prstGeom>
          <a:solidFill>
            <a:srgbClr val="E45757"/>
          </a:solidFill>
          <a:ln w="12700">
            <a:solidFill>
              <a:srgbClr val="E45757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950976" y="2468880"/>
            <a:ext cx="45720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</a:rPr>
              <a:t>1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12648" y="3063240"/>
            <a:ext cx="117957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E45757"/>
                </a:solidFill>
              </a:rPr>
              <a:t>PDF → image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1920240" y="3255264"/>
            <a:ext cx="164592" cy="0"/>
          </a:xfrm>
          <a:prstGeom prst="line">
            <a:avLst/>
          </a:prstGeom>
          <a:noFill/>
          <a:ln w="20320">
            <a:solidFill>
              <a:srgbClr val="A8B2C1"/>
            </a:solidFill>
            <a:prstDash val="solid"/>
            <a:headEnd type="none"/>
            <a:tailEnd type="triangle"/>
          </a:ln>
        </p:spPr>
      </p:sp>
      <p:sp>
        <p:nvSpPr>
          <p:cNvPr id="10" name="Shape 8"/>
          <p:cNvSpPr/>
          <p:nvPr/>
        </p:nvSpPr>
        <p:spPr>
          <a:xfrm>
            <a:off x="2130552" y="2148840"/>
            <a:ext cx="1399032" cy="2194560"/>
          </a:xfrm>
          <a:prstGeom prst="roundRect">
            <a:avLst>
              <a:gd name="adj" fmla="val 5229"/>
            </a:avLst>
          </a:prstGeom>
          <a:solidFill>
            <a:srgbClr val="FFFFFF"/>
          </a:solidFill>
          <a:ln w="12700">
            <a:solidFill>
              <a:srgbClr val="D8DEE9"/>
            </a:solidFill>
            <a:prstDash val="solid"/>
          </a:ln>
          <a:effectLst>
            <a:outerShdw algn="bl" rotWithShape="0">
              <a:srgbClr val="000000">
                <a:alpha val="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2578608" y="2386584"/>
            <a:ext cx="457200" cy="457200"/>
          </a:xfrm>
          <a:prstGeom prst="ellipse">
            <a:avLst/>
          </a:prstGeom>
          <a:solidFill>
            <a:srgbClr val="2F80ED"/>
          </a:solidFill>
          <a:ln w="12700">
            <a:solidFill>
              <a:srgbClr val="2F80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2578608" y="2468880"/>
            <a:ext cx="45720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</a:rPr>
              <a:t>2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2240280" y="3063240"/>
            <a:ext cx="117957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2F80ED"/>
                </a:solidFill>
              </a:rPr>
              <a:t>layout detection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3547872" y="3255264"/>
            <a:ext cx="164592" cy="0"/>
          </a:xfrm>
          <a:prstGeom prst="line">
            <a:avLst/>
          </a:prstGeom>
          <a:noFill/>
          <a:ln w="20320">
            <a:solidFill>
              <a:srgbClr val="A8B2C1"/>
            </a:solidFill>
            <a:prstDash val="solid"/>
            <a:headEnd type="none"/>
            <a:tailEnd type="triangle"/>
          </a:ln>
        </p:spPr>
      </p:sp>
      <p:sp>
        <p:nvSpPr>
          <p:cNvPr id="15" name="Shape 13"/>
          <p:cNvSpPr/>
          <p:nvPr/>
        </p:nvSpPr>
        <p:spPr>
          <a:xfrm>
            <a:off x="3758184" y="2148840"/>
            <a:ext cx="1399032" cy="2194560"/>
          </a:xfrm>
          <a:prstGeom prst="roundRect">
            <a:avLst>
              <a:gd name="adj" fmla="val 5229"/>
            </a:avLst>
          </a:prstGeom>
          <a:solidFill>
            <a:srgbClr val="FFFFFF"/>
          </a:solidFill>
          <a:ln w="12700">
            <a:solidFill>
              <a:srgbClr val="D8DEE9"/>
            </a:solidFill>
            <a:prstDash val="solid"/>
          </a:ln>
          <a:effectLst>
            <a:outerShdw algn="bl" rotWithShape="0">
              <a:srgbClr val="000000">
                <a:alpha val="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4206240" y="2386584"/>
            <a:ext cx="457200" cy="457200"/>
          </a:xfrm>
          <a:prstGeom prst="ellipse">
            <a:avLst/>
          </a:prstGeom>
          <a:solidFill>
            <a:srgbClr val="25A7D9"/>
          </a:solidFill>
          <a:ln w="12700">
            <a:solidFill>
              <a:srgbClr val="25A7D9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206240" y="2468880"/>
            <a:ext cx="45720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</a:rPr>
              <a:t>3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3867912" y="3063240"/>
            <a:ext cx="117957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25A7D9"/>
                </a:solidFill>
              </a:rPr>
              <a:t>visualize boxes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5175504" y="3255264"/>
            <a:ext cx="164592" cy="0"/>
          </a:xfrm>
          <a:prstGeom prst="line">
            <a:avLst/>
          </a:prstGeom>
          <a:noFill/>
          <a:ln w="20320">
            <a:solidFill>
              <a:srgbClr val="A8B2C1"/>
            </a:solidFill>
            <a:prstDash val="solid"/>
            <a:headEnd type="none"/>
            <a:tailEnd type="triangle"/>
          </a:ln>
        </p:spPr>
      </p:sp>
      <p:sp>
        <p:nvSpPr>
          <p:cNvPr id="20" name="Shape 18"/>
          <p:cNvSpPr/>
          <p:nvPr/>
        </p:nvSpPr>
        <p:spPr>
          <a:xfrm>
            <a:off x="5385816" y="2148840"/>
            <a:ext cx="1399032" cy="2194560"/>
          </a:xfrm>
          <a:prstGeom prst="roundRect">
            <a:avLst>
              <a:gd name="adj" fmla="val 5229"/>
            </a:avLst>
          </a:prstGeom>
          <a:solidFill>
            <a:srgbClr val="FFFFFF"/>
          </a:solidFill>
          <a:ln w="12700">
            <a:solidFill>
              <a:srgbClr val="D8DEE9"/>
            </a:solidFill>
            <a:prstDash val="solid"/>
          </a:ln>
          <a:effectLst>
            <a:outerShdw algn="bl" rotWithShape="0">
              <a:srgbClr val="000000">
                <a:alpha val="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5833872" y="2386584"/>
            <a:ext cx="457200" cy="457200"/>
          </a:xfrm>
          <a:prstGeom prst="ellipse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833872" y="2468880"/>
            <a:ext cx="45720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</a:rPr>
              <a:t>4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5495544" y="3063240"/>
            <a:ext cx="117957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7C3AED"/>
                </a:solidFill>
              </a:rPr>
              <a:t>VLM extraction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6803136" y="3255264"/>
            <a:ext cx="164592" cy="0"/>
          </a:xfrm>
          <a:prstGeom prst="line">
            <a:avLst/>
          </a:prstGeom>
          <a:noFill/>
          <a:ln w="20320">
            <a:solidFill>
              <a:srgbClr val="A8B2C1"/>
            </a:solidFill>
            <a:prstDash val="solid"/>
            <a:headEnd type="none"/>
            <a:tailEnd type="triangle"/>
          </a:ln>
        </p:spPr>
      </p:sp>
      <p:sp>
        <p:nvSpPr>
          <p:cNvPr id="25" name="Shape 23"/>
          <p:cNvSpPr/>
          <p:nvPr/>
        </p:nvSpPr>
        <p:spPr>
          <a:xfrm>
            <a:off x="7013448" y="2148840"/>
            <a:ext cx="1399032" cy="2194560"/>
          </a:xfrm>
          <a:prstGeom prst="roundRect">
            <a:avLst>
              <a:gd name="adj" fmla="val 5229"/>
            </a:avLst>
          </a:prstGeom>
          <a:solidFill>
            <a:srgbClr val="FFFFFF"/>
          </a:solidFill>
          <a:ln w="12700">
            <a:solidFill>
              <a:srgbClr val="D8DEE9"/>
            </a:solidFill>
            <a:prstDash val="solid"/>
          </a:ln>
          <a:effectLst>
            <a:outerShdw algn="bl" rotWithShape="0">
              <a:srgbClr val="000000">
                <a:alpha val="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7461504" y="2386584"/>
            <a:ext cx="457200" cy="457200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7461504" y="2468880"/>
            <a:ext cx="45720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</a:rPr>
              <a:t>5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7123176" y="3063240"/>
            <a:ext cx="117957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59E0B"/>
                </a:solidFill>
              </a:rPr>
              <a:t>region routing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8430768" y="3255264"/>
            <a:ext cx="164592" cy="0"/>
          </a:xfrm>
          <a:prstGeom prst="line">
            <a:avLst/>
          </a:prstGeom>
          <a:noFill/>
          <a:ln w="20320">
            <a:solidFill>
              <a:srgbClr val="A8B2C1"/>
            </a:solidFill>
            <a:prstDash val="solid"/>
            <a:headEnd type="none"/>
            <a:tailEnd type="triangle"/>
          </a:ln>
        </p:spPr>
      </p:sp>
      <p:sp>
        <p:nvSpPr>
          <p:cNvPr id="30" name="Shape 28"/>
          <p:cNvSpPr/>
          <p:nvPr/>
        </p:nvSpPr>
        <p:spPr>
          <a:xfrm>
            <a:off x="8641080" y="2148840"/>
            <a:ext cx="1399032" cy="2194560"/>
          </a:xfrm>
          <a:prstGeom prst="roundRect">
            <a:avLst>
              <a:gd name="adj" fmla="val 5229"/>
            </a:avLst>
          </a:prstGeom>
          <a:solidFill>
            <a:srgbClr val="FFFFFF"/>
          </a:solidFill>
          <a:ln w="12700">
            <a:solidFill>
              <a:srgbClr val="D8DEE9"/>
            </a:solidFill>
            <a:prstDash val="solid"/>
          </a:ln>
          <a:effectLst>
            <a:outerShdw algn="bl" rotWithShape="0">
              <a:srgbClr val="000000">
                <a:alpha val="0"/>
              </a:srgbClr>
            </a:outerShdw>
          </a:effectLst>
        </p:spPr>
      </p:sp>
      <p:sp>
        <p:nvSpPr>
          <p:cNvPr id="31" name="Shape 29"/>
          <p:cNvSpPr/>
          <p:nvPr/>
        </p:nvSpPr>
        <p:spPr>
          <a:xfrm>
            <a:off x="9089136" y="2386584"/>
            <a:ext cx="457200" cy="457200"/>
          </a:xfrm>
          <a:prstGeom prst="ellipse">
            <a:avLst/>
          </a:prstGeom>
          <a:solidFill>
            <a:srgbClr val="2FA36B"/>
          </a:solidFill>
          <a:ln w="12700">
            <a:solidFill>
              <a:srgbClr val="2FA36B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9089136" y="2468880"/>
            <a:ext cx="45720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</a:rPr>
              <a:t>6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8750808" y="3063240"/>
            <a:ext cx="117957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2FA36B"/>
                </a:solidFill>
              </a:rPr>
              <a:t>assembly</a:t>
            </a:r>
            <a:endParaRPr lang="en-US" sz="1100" dirty="0"/>
          </a:p>
        </p:txBody>
      </p:sp>
      <p:sp>
        <p:nvSpPr>
          <p:cNvPr id="34" name="Shape 32"/>
          <p:cNvSpPr/>
          <p:nvPr/>
        </p:nvSpPr>
        <p:spPr>
          <a:xfrm>
            <a:off x="10058400" y="3255264"/>
            <a:ext cx="164592" cy="0"/>
          </a:xfrm>
          <a:prstGeom prst="line">
            <a:avLst/>
          </a:prstGeom>
          <a:noFill/>
          <a:ln w="20320">
            <a:solidFill>
              <a:srgbClr val="A8B2C1"/>
            </a:solidFill>
            <a:prstDash val="solid"/>
            <a:headEnd type="none"/>
            <a:tailEnd type="triangle"/>
          </a:ln>
        </p:spPr>
      </p:sp>
      <p:sp>
        <p:nvSpPr>
          <p:cNvPr id="35" name="Shape 33"/>
          <p:cNvSpPr/>
          <p:nvPr/>
        </p:nvSpPr>
        <p:spPr>
          <a:xfrm>
            <a:off x="10268712" y="2148840"/>
            <a:ext cx="1399032" cy="2194560"/>
          </a:xfrm>
          <a:prstGeom prst="roundRect">
            <a:avLst>
              <a:gd name="adj" fmla="val 5229"/>
            </a:avLst>
          </a:prstGeom>
          <a:solidFill>
            <a:srgbClr val="F7F9FC"/>
          </a:solidFill>
          <a:ln w="12700">
            <a:solidFill>
              <a:srgbClr val="D8DEE9"/>
            </a:solidFill>
            <a:prstDash val="solid"/>
          </a:ln>
          <a:effectLst>
            <a:outerShdw algn="bl" rotWithShape="0">
              <a:srgbClr val="000000">
                <a:alpha val="0"/>
              </a:srgbClr>
            </a:outerShdw>
          </a:effectLst>
        </p:spPr>
      </p:sp>
      <p:sp>
        <p:nvSpPr>
          <p:cNvPr id="36" name="Shape 34"/>
          <p:cNvSpPr/>
          <p:nvPr/>
        </p:nvSpPr>
        <p:spPr>
          <a:xfrm>
            <a:off x="10716768" y="2386584"/>
            <a:ext cx="457200" cy="457200"/>
          </a:xfrm>
          <a:prstGeom prst="ellipse">
            <a:avLst/>
          </a:prstGeom>
          <a:solidFill>
            <a:srgbClr val="687385"/>
          </a:solidFill>
          <a:ln w="12700">
            <a:solidFill>
              <a:srgbClr val="687385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10716768" y="2468880"/>
            <a:ext cx="45720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</a:rPr>
              <a:t>7</a:t>
            </a:r>
            <a:endParaRPr lang="en-US" sz="1400" dirty="0"/>
          </a:p>
        </p:txBody>
      </p:sp>
      <p:sp>
        <p:nvSpPr>
          <p:cNvPr id="38" name="Text 36"/>
          <p:cNvSpPr/>
          <p:nvPr/>
        </p:nvSpPr>
        <p:spPr>
          <a:xfrm>
            <a:off x="10378440" y="3063240"/>
            <a:ext cx="117957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687385"/>
                </a:solidFill>
              </a:rPr>
              <a:t>validate + metadata</a:t>
            </a:r>
            <a:endParaRPr lang="en-US" sz="1100" dirty="0"/>
          </a:p>
        </p:txBody>
      </p:sp>
      <p:sp>
        <p:nvSpPr>
          <p:cNvPr id="39" name="Shape 37"/>
          <p:cNvSpPr/>
          <p:nvPr/>
        </p:nvSpPr>
        <p:spPr>
          <a:xfrm>
            <a:off x="1234440" y="4937760"/>
            <a:ext cx="9784080" cy="658368"/>
          </a:xfrm>
          <a:prstGeom prst="roundRect">
            <a:avLst>
              <a:gd name="adj" fmla="val 5556"/>
            </a:avLst>
          </a:prstGeom>
          <a:solidFill>
            <a:srgbClr val="EAF3FF"/>
          </a:solidFill>
          <a:ln w="12700">
            <a:solidFill>
              <a:srgbClr val="B7D8FF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1554480" y="5129784"/>
            <a:ext cx="9144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230" b="1" dirty="0">
                <a:solidFill>
                  <a:srgbClr val="2F80ED"/>
                </a:solidFill>
              </a:rPr>
              <a:t>Teaching checkpoint: the pipeline never jumps straight from a PDF to “the answer.” It creates intermediate evidence at every stage.</a:t>
            </a:r>
            <a:endParaRPr lang="en-US" sz="1230" dirty="0"/>
          </a:p>
        </p:txBody>
      </p:sp>
      <p:sp>
        <p:nvSpPr>
          <p:cNvPr id="41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612880" y="6510528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650">
                <a:solidFill>
                  <a:srgbClr val="9AA4B2"/>
                </a:solidFill>
                <a:latin typeface="Aptos"/>
                <a:ea typeface="Aptos"/>
                <a:cs typeface="Aptos"/>
              </a:defRPr>
            </a:lvl1pPr>
          </a:lstStyle>
          <a:p>
            <a:pPr algn="l"/>
            <a:fld id="{F7021451-1387-4CA6-816F-3879F97B5CBC}" type="slidenum">
              <a:rPr lang="en-US" b="0"/>
              <a:t>6</a:t>
            </a:fld>
            <a:endParaRPr lang="en-US"/>
          </a:p>
        </p:txBody>
      </p:sp>
    </p:spTree>
  </p:cSld>
  <p:clrMapOvr>
    <a:masterClrMapping/>
  </p:clrMapOvr>
  <p:transition spd="med">
    <p:fade/>
  </p:transition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438912"/>
            <a:ext cx="30175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2F80ED"/>
                </a:solidFill>
              </a:rPr>
              <a:t>TEACHING BUILD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502920" y="713232"/>
            <a:ext cx="109728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600" b="1" dirty="0">
                <a:solidFill>
                  <a:srgbClr val="172033"/>
                </a:solidFill>
              </a:rPr>
              <a:t>Watch the document become structured · Step 1 of 4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02920" y="1261872"/>
            <a:ext cx="107899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250" dirty="0">
                <a:solidFill>
                  <a:srgbClr val="687385"/>
                </a:solidFill>
              </a:rPr>
              <a:t>Use these four slides as a click-through animation while explaining the architecture.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685800" y="1920240"/>
            <a:ext cx="2103120" cy="3337560"/>
          </a:xfrm>
          <a:prstGeom prst="roundRect">
            <a:avLst>
              <a:gd name="adj" fmla="val 3478"/>
            </a:avLst>
          </a:prstGeom>
          <a:solidFill>
            <a:srgbClr val="F7F9FC"/>
          </a:solidFill>
          <a:ln w="12700">
            <a:solidFill>
              <a:srgbClr val="D8DEE9"/>
            </a:solidFill>
            <a:prstDash val="solid"/>
          </a:ln>
          <a:effectLst>
            <a:outerShdw algn="bl" rotWithShape="0">
              <a:srgbClr val="000000">
                <a:alpha val="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932688" y="2176272"/>
            <a:ext cx="1600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687385"/>
                </a:solidFill>
              </a:rPr>
              <a:t>RAW PDF PAGE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1078992" y="2651760"/>
            <a:ext cx="1325880" cy="2103120"/>
          </a:xfrm>
          <a:prstGeom prst="rect">
            <a:avLst/>
          </a:prstGeom>
          <a:solidFill>
            <a:srgbClr val="FFFFFF"/>
          </a:solidFill>
          <a:ln w="12700">
            <a:solidFill>
              <a:srgbClr val="BFC8D6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207008" y="2834640"/>
            <a:ext cx="10058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172033"/>
                </a:solidFill>
              </a:rPr>
              <a:t>TITLE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1234440" y="3310128"/>
            <a:ext cx="868680" cy="0"/>
          </a:xfrm>
          <a:prstGeom prst="line">
            <a:avLst/>
          </a:prstGeom>
          <a:noFill/>
          <a:ln w="19050">
            <a:solidFill>
              <a:srgbClr val="C8CFDA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234440" y="3566160"/>
            <a:ext cx="868680" cy="0"/>
          </a:xfrm>
          <a:prstGeom prst="line">
            <a:avLst/>
          </a:prstGeom>
          <a:noFill/>
          <a:ln w="19050">
            <a:solidFill>
              <a:srgbClr val="C8CFDA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234440" y="3822192"/>
            <a:ext cx="868680" cy="0"/>
          </a:xfrm>
          <a:prstGeom prst="line">
            <a:avLst/>
          </a:prstGeom>
          <a:noFill/>
          <a:ln w="19050">
            <a:solidFill>
              <a:srgbClr val="C8CFDA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234440" y="4078224"/>
            <a:ext cx="868680" cy="0"/>
          </a:xfrm>
          <a:prstGeom prst="line">
            <a:avLst/>
          </a:prstGeom>
          <a:noFill/>
          <a:ln w="19050">
            <a:solidFill>
              <a:srgbClr val="C8CFDA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234440" y="4334256"/>
            <a:ext cx="868680" cy="0"/>
          </a:xfrm>
          <a:prstGeom prst="line">
            <a:avLst/>
          </a:prstGeom>
          <a:noFill/>
          <a:ln w="19050">
            <a:solidFill>
              <a:srgbClr val="C8CFDA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1234440" y="4315968"/>
            <a:ext cx="868680" cy="274320"/>
          </a:xfrm>
          <a:prstGeom prst="rect">
            <a:avLst/>
          </a:prstGeom>
          <a:solidFill>
            <a:srgbClr val="EEF1F5"/>
          </a:solidFill>
          <a:ln w="12700">
            <a:solidFill>
              <a:srgbClr val="D8DEE9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2907792" y="3511296"/>
            <a:ext cx="914400" cy="0"/>
          </a:xfrm>
          <a:prstGeom prst="line">
            <a:avLst/>
          </a:prstGeom>
          <a:noFill/>
          <a:ln w="29210">
            <a:solidFill>
              <a:srgbClr val="C7CED8"/>
            </a:solidFill>
            <a:prstDash val="solid"/>
            <a:headEnd type="none"/>
            <a:tailEnd type="triangle"/>
          </a:ln>
        </p:spPr>
      </p:sp>
      <p:sp>
        <p:nvSpPr>
          <p:cNvPr id="16" name="Shape 14"/>
          <p:cNvSpPr/>
          <p:nvPr/>
        </p:nvSpPr>
        <p:spPr>
          <a:xfrm>
            <a:off x="3931920" y="1920240"/>
            <a:ext cx="1920240" cy="3337560"/>
          </a:xfrm>
          <a:prstGeom prst="roundRect">
            <a:avLst>
              <a:gd name="adj" fmla="val 3810"/>
            </a:avLst>
          </a:prstGeom>
          <a:solidFill>
            <a:srgbClr val="FFFFFF"/>
          </a:solidFill>
          <a:ln w="12700">
            <a:solidFill>
              <a:srgbClr val="D8DEE9"/>
            </a:solidFill>
            <a:prstDash val="solid"/>
          </a:ln>
          <a:effectLst>
            <a:outerShdw algn="bl" rotWithShape="0">
              <a:srgbClr val="000000">
                <a:alpha val="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4224528" y="2176272"/>
            <a:ext cx="13258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687385"/>
                </a:solidFill>
              </a:rPr>
              <a:t>PAGE IMAGE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4297680" y="2697480"/>
            <a:ext cx="1188720" cy="2011680"/>
          </a:xfrm>
          <a:prstGeom prst="rect">
            <a:avLst/>
          </a:prstGeom>
          <a:solidFill>
            <a:srgbClr val="F8FAFC"/>
          </a:solidFill>
          <a:ln w="12700">
            <a:solidFill>
              <a:srgbClr val="BFC8D6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5989320" y="3511296"/>
            <a:ext cx="914400" cy="0"/>
          </a:xfrm>
          <a:prstGeom prst="line">
            <a:avLst/>
          </a:prstGeom>
          <a:noFill/>
          <a:ln w="29210">
            <a:solidFill>
              <a:srgbClr val="C7CED8"/>
            </a:solidFill>
            <a:prstDash val="solid"/>
            <a:headEnd type="none"/>
            <a:tailEnd type="triangle"/>
          </a:ln>
        </p:spPr>
      </p:sp>
      <p:sp>
        <p:nvSpPr>
          <p:cNvPr id="20" name="Shape 18"/>
          <p:cNvSpPr/>
          <p:nvPr/>
        </p:nvSpPr>
        <p:spPr>
          <a:xfrm>
            <a:off x="7022592" y="1920240"/>
            <a:ext cx="2057400" cy="3337560"/>
          </a:xfrm>
          <a:prstGeom prst="roundRect">
            <a:avLst>
              <a:gd name="adj" fmla="val 3556"/>
            </a:avLst>
          </a:prstGeom>
          <a:solidFill>
            <a:srgbClr val="FFFFFF"/>
          </a:solidFill>
          <a:ln w="12700">
            <a:solidFill>
              <a:srgbClr val="D8DEE9"/>
            </a:solidFill>
            <a:prstDash val="solid"/>
          </a:ln>
          <a:effectLst>
            <a:outerShdw algn="bl" rotWithShape="0">
              <a:srgbClr val="000000">
                <a:alpha val="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7242048" y="2176272"/>
            <a:ext cx="162763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687385"/>
                </a:solidFill>
              </a:rPr>
              <a:t>DETECTED REGIONS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9217152" y="3511296"/>
            <a:ext cx="886968" cy="0"/>
          </a:xfrm>
          <a:prstGeom prst="line">
            <a:avLst/>
          </a:prstGeom>
          <a:noFill/>
          <a:ln w="29210">
            <a:solidFill>
              <a:srgbClr val="C7CED8"/>
            </a:solidFill>
            <a:prstDash val="solid"/>
            <a:headEnd type="none"/>
            <a:tailEnd type="triangle"/>
          </a:ln>
        </p:spPr>
      </p:sp>
      <p:sp>
        <p:nvSpPr>
          <p:cNvPr id="23" name="Shape 21"/>
          <p:cNvSpPr/>
          <p:nvPr/>
        </p:nvSpPr>
        <p:spPr>
          <a:xfrm>
            <a:off x="10222992" y="1920240"/>
            <a:ext cx="1353312" cy="3337560"/>
          </a:xfrm>
          <a:prstGeom prst="roundRect">
            <a:avLst>
              <a:gd name="adj" fmla="val 5405"/>
            </a:avLst>
          </a:prstGeom>
          <a:solidFill>
            <a:srgbClr val="FFFFFF"/>
          </a:solidFill>
          <a:ln w="12700">
            <a:solidFill>
              <a:srgbClr val="D8DEE9"/>
            </a:solidFill>
            <a:prstDash val="solid"/>
          </a:ln>
          <a:effectLst>
            <a:outerShdw algn="bl" rotWithShape="0">
              <a:srgbClr val="000000">
                <a:alpha val="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10378440" y="2176272"/>
            <a:ext cx="10424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687385"/>
                </a:solidFill>
              </a:rPr>
              <a:t>STRUCTURED</a:t>
            </a:r>
            <a:endParaRPr lang="en-US" sz="900" dirty="0"/>
          </a:p>
          <a:p>
            <a:pPr marL="0" indent="0" algn="ctr">
              <a:buNone/>
            </a:pPr>
            <a:r>
              <a:rPr lang="en-US" sz="900" b="1" dirty="0">
                <a:solidFill>
                  <a:srgbClr val="687385"/>
                </a:solidFill>
              </a:rPr>
              <a:t>MARKDOWN</a:t>
            </a:r>
            <a:endParaRPr lang="en-US" sz="900" dirty="0"/>
          </a:p>
        </p:txBody>
      </p:sp>
      <p:sp>
        <p:nvSpPr>
          <p:cNvPr id="25" name="Shape 23"/>
          <p:cNvSpPr/>
          <p:nvPr/>
        </p:nvSpPr>
        <p:spPr>
          <a:xfrm>
            <a:off x="1078992" y="5623560"/>
            <a:ext cx="10058400" cy="512064"/>
          </a:xfrm>
          <a:prstGeom prst="roundRect">
            <a:avLst>
              <a:gd name="adj" fmla="val 7143"/>
            </a:avLst>
          </a:prstGeom>
          <a:solidFill>
            <a:srgbClr val="F7F9FC"/>
          </a:solidFill>
          <a:ln w="12700">
            <a:solidFill>
              <a:srgbClr val="D8DEE9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1353312" y="5779008"/>
            <a:ext cx="9509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220" b="1" dirty="0">
                <a:solidFill>
                  <a:srgbClr val="172033"/>
                </a:solidFill>
              </a:rPr>
              <a:t>Start with the page as a document — not a text string.</a:t>
            </a:r>
            <a:endParaRPr lang="en-US" sz="1220" dirty="0"/>
          </a:p>
        </p:txBody>
      </p:sp>
      <p:sp>
        <p:nvSpPr>
          <p:cNvPr id="27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612880" y="6510528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650">
                <a:solidFill>
                  <a:srgbClr val="9AA4B2"/>
                </a:solidFill>
                <a:latin typeface="Aptos"/>
                <a:ea typeface="Aptos"/>
                <a:cs typeface="Aptos"/>
              </a:defRPr>
            </a:lvl1pPr>
          </a:lstStyle>
          <a:p>
            <a:pPr algn="l"/>
            <a:fld id="{F7021451-1387-4CA6-816F-3879F97B5CBC}" type="slidenum">
              <a:rPr lang="en-US" b="0"/>
              <a:t>7</a:t>
            </a:fld>
            <a:endParaRPr lang="en-US"/>
          </a:p>
        </p:txBody>
      </p:sp>
    </p:spTree>
  </p:cSld>
  <p:clrMapOvr>
    <a:masterClrMapping/>
  </p:clrMapOvr>
  <p:transition spd="med">
    <p:fade/>
  </p:transition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438912"/>
            <a:ext cx="30175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2F80ED"/>
                </a:solidFill>
              </a:rPr>
              <a:t>TEACHING BUILD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502920" y="713232"/>
            <a:ext cx="109728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600" b="1" dirty="0">
                <a:solidFill>
                  <a:srgbClr val="172033"/>
                </a:solidFill>
              </a:rPr>
              <a:t>Watch the document become structured · Step 2 of 4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02920" y="1261872"/>
            <a:ext cx="107899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250" dirty="0">
                <a:solidFill>
                  <a:srgbClr val="687385"/>
                </a:solidFill>
              </a:rPr>
              <a:t>Use these four slides as a click-through animation while explaining the architecture.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685800" y="1920240"/>
            <a:ext cx="2103120" cy="3337560"/>
          </a:xfrm>
          <a:prstGeom prst="roundRect">
            <a:avLst>
              <a:gd name="adj" fmla="val 3478"/>
            </a:avLst>
          </a:prstGeom>
          <a:solidFill>
            <a:srgbClr val="F7F9FC"/>
          </a:solidFill>
          <a:ln w="12700">
            <a:solidFill>
              <a:srgbClr val="D8DEE9"/>
            </a:solidFill>
            <a:prstDash val="solid"/>
          </a:ln>
          <a:effectLst>
            <a:outerShdw algn="bl" rotWithShape="0">
              <a:srgbClr val="000000">
                <a:alpha val="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932688" y="2176272"/>
            <a:ext cx="1600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687385"/>
                </a:solidFill>
              </a:rPr>
              <a:t>RAW PDF PAGE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1078992" y="2651760"/>
            <a:ext cx="1325880" cy="2103120"/>
          </a:xfrm>
          <a:prstGeom prst="rect">
            <a:avLst/>
          </a:prstGeom>
          <a:solidFill>
            <a:srgbClr val="FFFFFF"/>
          </a:solidFill>
          <a:ln w="12700">
            <a:solidFill>
              <a:srgbClr val="BFC8D6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207008" y="2834640"/>
            <a:ext cx="10058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172033"/>
                </a:solidFill>
              </a:rPr>
              <a:t>TITLE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1234440" y="3310128"/>
            <a:ext cx="868680" cy="0"/>
          </a:xfrm>
          <a:prstGeom prst="line">
            <a:avLst/>
          </a:prstGeom>
          <a:noFill/>
          <a:ln w="19050">
            <a:solidFill>
              <a:srgbClr val="C8CFDA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234440" y="3566160"/>
            <a:ext cx="868680" cy="0"/>
          </a:xfrm>
          <a:prstGeom prst="line">
            <a:avLst/>
          </a:prstGeom>
          <a:noFill/>
          <a:ln w="19050">
            <a:solidFill>
              <a:srgbClr val="C8CFDA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234440" y="3822192"/>
            <a:ext cx="868680" cy="0"/>
          </a:xfrm>
          <a:prstGeom prst="line">
            <a:avLst/>
          </a:prstGeom>
          <a:noFill/>
          <a:ln w="19050">
            <a:solidFill>
              <a:srgbClr val="C8CFDA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234440" y="4078224"/>
            <a:ext cx="868680" cy="0"/>
          </a:xfrm>
          <a:prstGeom prst="line">
            <a:avLst/>
          </a:prstGeom>
          <a:noFill/>
          <a:ln w="19050">
            <a:solidFill>
              <a:srgbClr val="C8CFDA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234440" y="4334256"/>
            <a:ext cx="868680" cy="0"/>
          </a:xfrm>
          <a:prstGeom prst="line">
            <a:avLst/>
          </a:prstGeom>
          <a:noFill/>
          <a:ln w="19050">
            <a:solidFill>
              <a:srgbClr val="C8CFDA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1234440" y="4315968"/>
            <a:ext cx="868680" cy="274320"/>
          </a:xfrm>
          <a:prstGeom prst="rect">
            <a:avLst/>
          </a:prstGeom>
          <a:solidFill>
            <a:srgbClr val="EEF1F5"/>
          </a:solidFill>
          <a:ln w="12700">
            <a:solidFill>
              <a:srgbClr val="D8DEE9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2907792" y="3511296"/>
            <a:ext cx="914400" cy="0"/>
          </a:xfrm>
          <a:prstGeom prst="line">
            <a:avLst/>
          </a:prstGeom>
          <a:noFill/>
          <a:ln w="29210">
            <a:solidFill>
              <a:srgbClr val="2F80ED"/>
            </a:solidFill>
            <a:prstDash val="solid"/>
            <a:headEnd type="none"/>
            <a:tailEnd type="triangle"/>
          </a:ln>
        </p:spPr>
      </p:sp>
      <p:sp>
        <p:nvSpPr>
          <p:cNvPr id="16" name="Shape 14"/>
          <p:cNvSpPr/>
          <p:nvPr/>
        </p:nvSpPr>
        <p:spPr>
          <a:xfrm>
            <a:off x="3931920" y="1920240"/>
            <a:ext cx="1920240" cy="3337560"/>
          </a:xfrm>
          <a:prstGeom prst="roundRect">
            <a:avLst>
              <a:gd name="adj" fmla="val 3810"/>
            </a:avLst>
          </a:prstGeom>
          <a:solidFill>
            <a:srgbClr val="EAF3FF"/>
          </a:solidFill>
          <a:ln w="12700">
            <a:solidFill>
              <a:srgbClr val="B7D8FF"/>
            </a:solidFill>
            <a:prstDash val="solid"/>
          </a:ln>
          <a:effectLst>
            <a:outerShdw algn="bl" rotWithShape="0">
              <a:srgbClr val="000000">
                <a:alpha val="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4224528" y="2176272"/>
            <a:ext cx="13258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2F80ED"/>
                </a:solidFill>
              </a:rPr>
              <a:t>PAGE IMAGE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4297680" y="2697480"/>
            <a:ext cx="1188720" cy="2011680"/>
          </a:xfrm>
          <a:prstGeom prst="rect">
            <a:avLst/>
          </a:prstGeom>
          <a:solidFill>
            <a:srgbClr val="F8FAFC"/>
          </a:solidFill>
          <a:ln w="12700">
            <a:solidFill>
              <a:srgbClr val="2F80ED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498848" y="3566160"/>
            <a:ext cx="78638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2F80ED"/>
                </a:solidFill>
              </a:rPr>
              <a:t>pixels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5989320" y="3511296"/>
            <a:ext cx="914400" cy="0"/>
          </a:xfrm>
          <a:prstGeom prst="line">
            <a:avLst/>
          </a:prstGeom>
          <a:noFill/>
          <a:ln w="29210">
            <a:solidFill>
              <a:srgbClr val="C7CED8"/>
            </a:solidFill>
            <a:prstDash val="solid"/>
            <a:headEnd type="none"/>
            <a:tailEnd type="triangle"/>
          </a:ln>
        </p:spPr>
      </p:sp>
      <p:sp>
        <p:nvSpPr>
          <p:cNvPr id="21" name="Shape 19"/>
          <p:cNvSpPr/>
          <p:nvPr/>
        </p:nvSpPr>
        <p:spPr>
          <a:xfrm>
            <a:off x="7022592" y="1920240"/>
            <a:ext cx="2057400" cy="3337560"/>
          </a:xfrm>
          <a:prstGeom prst="roundRect">
            <a:avLst>
              <a:gd name="adj" fmla="val 3556"/>
            </a:avLst>
          </a:prstGeom>
          <a:solidFill>
            <a:srgbClr val="FFFFFF"/>
          </a:solidFill>
          <a:ln w="12700">
            <a:solidFill>
              <a:srgbClr val="D8DEE9"/>
            </a:solidFill>
            <a:prstDash val="solid"/>
          </a:ln>
          <a:effectLst>
            <a:outerShdw algn="bl" rotWithShape="0">
              <a:srgbClr val="000000">
                <a:alpha val="0"/>
              </a:srgbClr>
            </a:outerShdw>
          </a:effectLst>
        </p:spPr>
      </p:sp>
      <p:sp>
        <p:nvSpPr>
          <p:cNvPr id="22" name="Text 20"/>
          <p:cNvSpPr/>
          <p:nvPr/>
        </p:nvSpPr>
        <p:spPr>
          <a:xfrm>
            <a:off x="7242048" y="2176272"/>
            <a:ext cx="162763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687385"/>
                </a:solidFill>
              </a:rPr>
              <a:t>DETECTED REGIONS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9217152" y="3511296"/>
            <a:ext cx="886968" cy="0"/>
          </a:xfrm>
          <a:prstGeom prst="line">
            <a:avLst/>
          </a:prstGeom>
          <a:noFill/>
          <a:ln w="29210">
            <a:solidFill>
              <a:srgbClr val="C7CED8"/>
            </a:solidFill>
            <a:prstDash val="solid"/>
            <a:headEnd type="none"/>
            <a:tailEnd type="triangle"/>
          </a:ln>
        </p:spPr>
      </p:sp>
      <p:sp>
        <p:nvSpPr>
          <p:cNvPr id="24" name="Shape 22"/>
          <p:cNvSpPr/>
          <p:nvPr/>
        </p:nvSpPr>
        <p:spPr>
          <a:xfrm>
            <a:off x="10222992" y="1920240"/>
            <a:ext cx="1353312" cy="3337560"/>
          </a:xfrm>
          <a:prstGeom prst="roundRect">
            <a:avLst>
              <a:gd name="adj" fmla="val 5405"/>
            </a:avLst>
          </a:prstGeom>
          <a:solidFill>
            <a:srgbClr val="FFFFFF"/>
          </a:solidFill>
          <a:ln w="12700">
            <a:solidFill>
              <a:srgbClr val="D8DEE9"/>
            </a:solidFill>
            <a:prstDash val="solid"/>
          </a:ln>
          <a:effectLst>
            <a:outerShdw algn="bl" rotWithShape="0">
              <a:srgbClr val="000000">
                <a:alpha val="0"/>
              </a:srgbClr>
            </a:outerShdw>
          </a:effectLst>
        </p:spPr>
      </p:sp>
      <p:sp>
        <p:nvSpPr>
          <p:cNvPr id="25" name="Text 23"/>
          <p:cNvSpPr/>
          <p:nvPr/>
        </p:nvSpPr>
        <p:spPr>
          <a:xfrm>
            <a:off x="10378440" y="2176272"/>
            <a:ext cx="10424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687385"/>
                </a:solidFill>
              </a:rPr>
              <a:t>STRUCTURED</a:t>
            </a:r>
            <a:endParaRPr lang="en-US" sz="900" dirty="0"/>
          </a:p>
          <a:p>
            <a:pPr marL="0" indent="0" algn="ctr">
              <a:buNone/>
            </a:pPr>
            <a:r>
              <a:rPr lang="en-US" sz="900" b="1" dirty="0">
                <a:solidFill>
                  <a:srgbClr val="687385"/>
                </a:solidFill>
              </a:rPr>
              <a:t>MARKDOWN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1078992" y="5623560"/>
            <a:ext cx="10058400" cy="512064"/>
          </a:xfrm>
          <a:prstGeom prst="roundRect">
            <a:avLst>
              <a:gd name="adj" fmla="val 7143"/>
            </a:avLst>
          </a:prstGeom>
          <a:solidFill>
            <a:srgbClr val="EAF3FF"/>
          </a:solidFill>
          <a:ln w="12700">
            <a:solidFill>
              <a:srgbClr val="B7D8FF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1353312" y="5779008"/>
            <a:ext cx="9509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220" b="1" dirty="0">
                <a:solidFill>
                  <a:srgbClr val="172033"/>
                </a:solidFill>
              </a:rPr>
              <a:t>Render to pixels because the layout detector is a vision model.</a:t>
            </a:r>
            <a:endParaRPr lang="en-US" sz="1220" dirty="0"/>
          </a:p>
        </p:txBody>
      </p:sp>
      <p:sp>
        <p:nvSpPr>
          <p:cNvPr id="28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612880" y="6510528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650">
                <a:solidFill>
                  <a:srgbClr val="9AA4B2"/>
                </a:solidFill>
                <a:latin typeface="Aptos"/>
                <a:ea typeface="Aptos"/>
                <a:cs typeface="Aptos"/>
              </a:defRPr>
            </a:lvl1pPr>
          </a:lstStyle>
          <a:p>
            <a:pPr algn="l"/>
            <a:fld id="{F7021451-1387-4CA6-816F-3879F97B5CBC}" type="slidenum">
              <a:rPr lang="en-US" b="0"/>
              <a:t>8</a:t>
            </a:fld>
            <a:endParaRPr lang="en-US"/>
          </a:p>
        </p:txBody>
      </p:sp>
    </p:spTree>
  </p:cSld>
  <p:clrMapOvr>
    <a:masterClrMapping/>
  </p:clrMapOvr>
  <p:transition spd="med">
    <p:fade/>
  </p:transition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438912"/>
            <a:ext cx="30175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2F80ED"/>
                </a:solidFill>
              </a:rPr>
              <a:t>TEACHING BUILD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502920" y="713232"/>
            <a:ext cx="109728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600" b="1" dirty="0">
                <a:solidFill>
                  <a:srgbClr val="172033"/>
                </a:solidFill>
              </a:rPr>
              <a:t>Watch the document become structured · Step 3 of 4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02920" y="1261872"/>
            <a:ext cx="107899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250" dirty="0">
                <a:solidFill>
                  <a:srgbClr val="687385"/>
                </a:solidFill>
              </a:rPr>
              <a:t>Use these four slides as a click-through animation while explaining the architecture.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685800" y="1920240"/>
            <a:ext cx="2103120" cy="3337560"/>
          </a:xfrm>
          <a:prstGeom prst="roundRect">
            <a:avLst>
              <a:gd name="adj" fmla="val 3478"/>
            </a:avLst>
          </a:prstGeom>
          <a:solidFill>
            <a:srgbClr val="F7F9FC"/>
          </a:solidFill>
          <a:ln w="12700">
            <a:solidFill>
              <a:srgbClr val="D8DEE9"/>
            </a:solidFill>
            <a:prstDash val="solid"/>
          </a:ln>
          <a:effectLst>
            <a:outerShdw algn="bl" rotWithShape="0">
              <a:srgbClr val="000000">
                <a:alpha val="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932688" y="2176272"/>
            <a:ext cx="1600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687385"/>
                </a:solidFill>
              </a:rPr>
              <a:t>RAW PDF PAGE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1078992" y="2651760"/>
            <a:ext cx="1325880" cy="2103120"/>
          </a:xfrm>
          <a:prstGeom prst="rect">
            <a:avLst/>
          </a:prstGeom>
          <a:solidFill>
            <a:srgbClr val="FFFFFF"/>
          </a:solidFill>
          <a:ln w="12700">
            <a:solidFill>
              <a:srgbClr val="BFC8D6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207008" y="2834640"/>
            <a:ext cx="10058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172033"/>
                </a:solidFill>
              </a:rPr>
              <a:t>TITLE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1234440" y="3310128"/>
            <a:ext cx="868680" cy="0"/>
          </a:xfrm>
          <a:prstGeom prst="line">
            <a:avLst/>
          </a:prstGeom>
          <a:noFill/>
          <a:ln w="19050">
            <a:solidFill>
              <a:srgbClr val="C8CFDA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234440" y="3566160"/>
            <a:ext cx="868680" cy="0"/>
          </a:xfrm>
          <a:prstGeom prst="line">
            <a:avLst/>
          </a:prstGeom>
          <a:noFill/>
          <a:ln w="19050">
            <a:solidFill>
              <a:srgbClr val="C8CFDA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234440" y="3822192"/>
            <a:ext cx="868680" cy="0"/>
          </a:xfrm>
          <a:prstGeom prst="line">
            <a:avLst/>
          </a:prstGeom>
          <a:noFill/>
          <a:ln w="19050">
            <a:solidFill>
              <a:srgbClr val="C8CFDA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234440" y="4078224"/>
            <a:ext cx="868680" cy="0"/>
          </a:xfrm>
          <a:prstGeom prst="line">
            <a:avLst/>
          </a:prstGeom>
          <a:noFill/>
          <a:ln w="19050">
            <a:solidFill>
              <a:srgbClr val="C8CFDA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234440" y="4334256"/>
            <a:ext cx="868680" cy="0"/>
          </a:xfrm>
          <a:prstGeom prst="line">
            <a:avLst/>
          </a:prstGeom>
          <a:noFill/>
          <a:ln w="19050">
            <a:solidFill>
              <a:srgbClr val="C8CFDA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1234440" y="4315968"/>
            <a:ext cx="868680" cy="274320"/>
          </a:xfrm>
          <a:prstGeom prst="rect">
            <a:avLst/>
          </a:prstGeom>
          <a:solidFill>
            <a:srgbClr val="EEF1F5"/>
          </a:solidFill>
          <a:ln w="12700">
            <a:solidFill>
              <a:srgbClr val="D8DEE9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2907792" y="3511296"/>
            <a:ext cx="914400" cy="0"/>
          </a:xfrm>
          <a:prstGeom prst="line">
            <a:avLst/>
          </a:prstGeom>
          <a:noFill/>
          <a:ln w="29210">
            <a:solidFill>
              <a:srgbClr val="2F80ED"/>
            </a:solidFill>
            <a:prstDash val="solid"/>
            <a:headEnd type="none"/>
            <a:tailEnd type="triangle"/>
          </a:ln>
        </p:spPr>
      </p:sp>
      <p:sp>
        <p:nvSpPr>
          <p:cNvPr id="16" name="Shape 14"/>
          <p:cNvSpPr/>
          <p:nvPr/>
        </p:nvSpPr>
        <p:spPr>
          <a:xfrm>
            <a:off x="3931920" y="1920240"/>
            <a:ext cx="1920240" cy="3337560"/>
          </a:xfrm>
          <a:prstGeom prst="roundRect">
            <a:avLst>
              <a:gd name="adj" fmla="val 3810"/>
            </a:avLst>
          </a:prstGeom>
          <a:solidFill>
            <a:srgbClr val="EAF3FF"/>
          </a:solidFill>
          <a:ln w="12700">
            <a:solidFill>
              <a:srgbClr val="B7D8FF"/>
            </a:solidFill>
            <a:prstDash val="solid"/>
          </a:ln>
          <a:effectLst>
            <a:outerShdw algn="bl" rotWithShape="0">
              <a:srgbClr val="000000">
                <a:alpha val="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4224528" y="2176272"/>
            <a:ext cx="13258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2F80ED"/>
                </a:solidFill>
              </a:rPr>
              <a:t>PAGE IMAGE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4297680" y="2697480"/>
            <a:ext cx="1188720" cy="2011680"/>
          </a:xfrm>
          <a:prstGeom prst="rect">
            <a:avLst/>
          </a:prstGeom>
          <a:solidFill>
            <a:srgbClr val="F8FAFC"/>
          </a:solidFill>
          <a:ln w="12700">
            <a:solidFill>
              <a:srgbClr val="2F80ED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498848" y="3566160"/>
            <a:ext cx="78638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2F80ED"/>
                </a:solidFill>
              </a:rPr>
              <a:t>pixels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5989320" y="3511296"/>
            <a:ext cx="914400" cy="0"/>
          </a:xfrm>
          <a:prstGeom prst="line">
            <a:avLst/>
          </a:prstGeom>
          <a:noFill/>
          <a:ln w="29210">
            <a:solidFill>
              <a:srgbClr val="F59E0B"/>
            </a:solidFill>
            <a:prstDash val="solid"/>
            <a:headEnd type="none"/>
            <a:tailEnd type="triangle"/>
          </a:ln>
        </p:spPr>
      </p:sp>
      <p:sp>
        <p:nvSpPr>
          <p:cNvPr id="21" name="Shape 19"/>
          <p:cNvSpPr/>
          <p:nvPr/>
        </p:nvSpPr>
        <p:spPr>
          <a:xfrm>
            <a:off x="7022592" y="1920240"/>
            <a:ext cx="2057400" cy="3337560"/>
          </a:xfrm>
          <a:prstGeom prst="roundRect">
            <a:avLst>
              <a:gd name="adj" fmla="val 3556"/>
            </a:avLst>
          </a:prstGeom>
          <a:solidFill>
            <a:srgbClr val="FFF7E8"/>
          </a:solidFill>
          <a:ln w="12700">
            <a:solidFill>
              <a:srgbClr val="F2D29A"/>
            </a:solidFill>
            <a:prstDash val="solid"/>
          </a:ln>
          <a:effectLst>
            <a:outerShdw algn="bl" rotWithShape="0">
              <a:srgbClr val="000000">
                <a:alpha val="0"/>
              </a:srgbClr>
            </a:outerShdw>
          </a:effectLst>
        </p:spPr>
      </p:sp>
      <p:sp>
        <p:nvSpPr>
          <p:cNvPr id="22" name="Text 20"/>
          <p:cNvSpPr/>
          <p:nvPr/>
        </p:nvSpPr>
        <p:spPr>
          <a:xfrm>
            <a:off x="7242048" y="2176272"/>
            <a:ext cx="162763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59E0B"/>
                </a:solidFill>
              </a:rPr>
              <a:t>DETECTED REGIONS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7406640" y="2743200"/>
            <a:ext cx="1234440" cy="384048"/>
          </a:xfrm>
          <a:prstGeom prst="rect">
            <a:avLst/>
          </a:prstGeom>
          <a:solidFill>
            <a:srgbClr val="FFFFFF">
              <a:alpha val="0"/>
            </a:srgbClr>
          </a:solidFill>
          <a:ln w="25400">
            <a:solidFill>
              <a:srgbClr val="E45757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7479792" y="2816352"/>
            <a:ext cx="9601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E45757"/>
                </a:solidFill>
              </a:rPr>
              <a:t>title</a:t>
            </a:r>
            <a:endParaRPr lang="en-US" sz="800" dirty="0"/>
          </a:p>
        </p:txBody>
      </p:sp>
      <p:sp>
        <p:nvSpPr>
          <p:cNvPr id="25" name="Shape 23"/>
          <p:cNvSpPr/>
          <p:nvPr/>
        </p:nvSpPr>
        <p:spPr>
          <a:xfrm>
            <a:off x="7406640" y="3337560"/>
            <a:ext cx="1234440" cy="594360"/>
          </a:xfrm>
          <a:prstGeom prst="rect">
            <a:avLst/>
          </a:prstGeom>
          <a:solidFill>
            <a:srgbClr val="FFFFFF">
              <a:alpha val="0"/>
            </a:srgbClr>
          </a:solidFill>
          <a:ln w="25400">
            <a:solidFill>
              <a:srgbClr val="2F80ED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479792" y="3410712"/>
            <a:ext cx="9601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2F80ED"/>
                </a:solidFill>
              </a:rPr>
              <a:t>text</a:t>
            </a:r>
            <a:endParaRPr lang="en-US" sz="800" dirty="0"/>
          </a:p>
        </p:txBody>
      </p:sp>
      <p:sp>
        <p:nvSpPr>
          <p:cNvPr id="27" name="Shape 25"/>
          <p:cNvSpPr/>
          <p:nvPr/>
        </p:nvSpPr>
        <p:spPr>
          <a:xfrm>
            <a:off x="7406640" y="4160520"/>
            <a:ext cx="1234440" cy="384048"/>
          </a:xfrm>
          <a:prstGeom prst="rect">
            <a:avLst/>
          </a:prstGeom>
          <a:solidFill>
            <a:srgbClr val="FFFFFF">
              <a:alpha val="0"/>
            </a:srgbClr>
          </a:solidFill>
          <a:ln w="25400">
            <a:solidFill>
              <a:srgbClr val="F59E0B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7479792" y="4233672"/>
            <a:ext cx="9601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F59E0B"/>
                </a:solidFill>
              </a:rPr>
              <a:t>table</a:t>
            </a:r>
            <a:endParaRPr lang="en-US" sz="800" dirty="0"/>
          </a:p>
        </p:txBody>
      </p:sp>
      <p:sp>
        <p:nvSpPr>
          <p:cNvPr id="29" name="Shape 27"/>
          <p:cNvSpPr/>
          <p:nvPr/>
        </p:nvSpPr>
        <p:spPr>
          <a:xfrm>
            <a:off x="9217152" y="3511296"/>
            <a:ext cx="886968" cy="0"/>
          </a:xfrm>
          <a:prstGeom prst="line">
            <a:avLst/>
          </a:prstGeom>
          <a:noFill/>
          <a:ln w="29210">
            <a:solidFill>
              <a:srgbClr val="C7CED8"/>
            </a:solidFill>
            <a:prstDash val="solid"/>
            <a:headEnd type="none"/>
            <a:tailEnd type="triangle"/>
          </a:ln>
        </p:spPr>
      </p:sp>
      <p:sp>
        <p:nvSpPr>
          <p:cNvPr id="30" name="Shape 28"/>
          <p:cNvSpPr/>
          <p:nvPr/>
        </p:nvSpPr>
        <p:spPr>
          <a:xfrm>
            <a:off x="10222992" y="1920240"/>
            <a:ext cx="1353312" cy="3337560"/>
          </a:xfrm>
          <a:prstGeom prst="roundRect">
            <a:avLst>
              <a:gd name="adj" fmla="val 5405"/>
            </a:avLst>
          </a:prstGeom>
          <a:solidFill>
            <a:srgbClr val="FFFFFF"/>
          </a:solidFill>
          <a:ln w="12700">
            <a:solidFill>
              <a:srgbClr val="D8DEE9"/>
            </a:solidFill>
            <a:prstDash val="solid"/>
          </a:ln>
          <a:effectLst>
            <a:outerShdw algn="bl" rotWithShape="0">
              <a:srgbClr val="000000">
                <a:alpha val="0"/>
              </a:srgbClr>
            </a:outerShdw>
          </a:effectLst>
        </p:spPr>
      </p:sp>
      <p:sp>
        <p:nvSpPr>
          <p:cNvPr id="31" name="Text 29"/>
          <p:cNvSpPr/>
          <p:nvPr/>
        </p:nvSpPr>
        <p:spPr>
          <a:xfrm>
            <a:off x="10378440" y="2176272"/>
            <a:ext cx="10424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687385"/>
                </a:solidFill>
              </a:rPr>
              <a:t>STRUCTURED</a:t>
            </a:r>
            <a:endParaRPr lang="en-US" sz="900" dirty="0"/>
          </a:p>
          <a:p>
            <a:pPr marL="0" indent="0" algn="ctr">
              <a:buNone/>
            </a:pPr>
            <a:r>
              <a:rPr lang="en-US" sz="900" b="1" dirty="0">
                <a:solidFill>
                  <a:srgbClr val="687385"/>
                </a:solidFill>
              </a:rPr>
              <a:t>MARKDOWN</a:t>
            </a:r>
            <a:endParaRPr lang="en-US" sz="900" dirty="0"/>
          </a:p>
        </p:txBody>
      </p:sp>
      <p:sp>
        <p:nvSpPr>
          <p:cNvPr id="32" name="Shape 30"/>
          <p:cNvSpPr/>
          <p:nvPr/>
        </p:nvSpPr>
        <p:spPr>
          <a:xfrm>
            <a:off x="1078992" y="5623560"/>
            <a:ext cx="10058400" cy="512064"/>
          </a:xfrm>
          <a:prstGeom prst="roundRect">
            <a:avLst>
              <a:gd name="adj" fmla="val 7143"/>
            </a:avLst>
          </a:prstGeom>
          <a:solidFill>
            <a:srgbClr val="FFF7E8"/>
          </a:solidFill>
          <a:ln w="12700">
            <a:solidFill>
              <a:srgbClr val="F2D29A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1353312" y="5779008"/>
            <a:ext cx="9509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220" b="1" dirty="0">
                <a:solidFill>
                  <a:srgbClr val="172033"/>
                </a:solidFill>
              </a:rPr>
              <a:t>Detect and label regions before asking a VLM to read anything.</a:t>
            </a:r>
            <a:endParaRPr lang="en-US" sz="1220" dirty="0"/>
          </a:p>
        </p:txBody>
      </p:sp>
      <p:sp>
        <p:nvSpPr>
          <p:cNvPr id="34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612880" y="6510528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650">
                <a:solidFill>
                  <a:srgbClr val="9AA4B2"/>
                </a:solidFill>
                <a:latin typeface="Aptos"/>
                <a:ea typeface="Aptos"/>
                <a:cs typeface="Aptos"/>
              </a:defRPr>
            </a:lvl1pPr>
          </a:lstStyle>
          <a:p>
            <a:pPr algn="l"/>
            <a:fld id="{F7021451-1387-4CA6-816F-3879F97B5CBC}" type="slidenum">
              <a:rPr lang="en-US" b="0"/>
              <a:t>9</a:t>
            </a:fld>
            <a:endParaRPr lang="en-US"/>
          </a:p>
        </p:txBody>
      </p:sp>
    </p:spTree>
  </p:cSld>
  <p:clrMapOvr>
    <a:masterClrMapping/>
  </p:clrMapOvr>
  <p:transition spd="med">
    <p:fade/>
  </p:transition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438912"/>
            <a:ext cx="30175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2F80ED"/>
                </a:solidFill>
              </a:rPr>
              <a:t>TEACHING BUILD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502920" y="713232"/>
            <a:ext cx="109728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600" b="1" dirty="0">
                <a:solidFill>
                  <a:srgbClr val="172033"/>
                </a:solidFill>
              </a:rPr>
              <a:t>Watch the document become structured · Step 4 of 4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02920" y="1261872"/>
            <a:ext cx="107899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250" dirty="0">
                <a:solidFill>
                  <a:srgbClr val="687385"/>
                </a:solidFill>
              </a:rPr>
              <a:t>Use these four slides as a click-through animation while explaining the architecture.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685800" y="1920240"/>
            <a:ext cx="2103120" cy="3337560"/>
          </a:xfrm>
          <a:prstGeom prst="roundRect">
            <a:avLst>
              <a:gd name="adj" fmla="val 3478"/>
            </a:avLst>
          </a:prstGeom>
          <a:solidFill>
            <a:srgbClr val="F7F9FC"/>
          </a:solidFill>
          <a:ln w="12700">
            <a:solidFill>
              <a:srgbClr val="D8DEE9"/>
            </a:solidFill>
            <a:prstDash val="solid"/>
          </a:ln>
          <a:effectLst>
            <a:outerShdw algn="bl" rotWithShape="0">
              <a:srgbClr val="000000">
                <a:alpha val="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932688" y="2176272"/>
            <a:ext cx="1600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687385"/>
                </a:solidFill>
              </a:rPr>
              <a:t>RAW PDF PAGE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1078992" y="2651760"/>
            <a:ext cx="1325880" cy="2103120"/>
          </a:xfrm>
          <a:prstGeom prst="rect">
            <a:avLst/>
          </a:prstGeom>
          <a:solidFill>
            <a:srgbClr val="FFFFFF"/>
          </a:solidFill>
          <a:ln w="12700">
            <a:solidFill>
              <a:srgbClr val="BFC8D6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207008" y="2834640"/>
            <a:ext cx="10058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172033"/>
                </a:solidFill>
              </a:rPr>
              <a:t>TITLE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1234440" y="3310128"/>
            <a:ext cx="868680" cy="0"/>
          </a:xfrm>
          <a:prstGeom prst="line">
            <a:avLst/>
          </a:prstGeom>
          <a:noFill/>
          <a:ln w="19050">
            <a:solidFill>
              <a:srgbClr val="C8CFDA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234440" y="3566160"/>
            <a:ext cx="868680" cy="0"/>
          </a:xfrm>
          <a:prstGeom prst="line">
            <a:avLst/>
          </a:prstGeom>
          <a:noFill/>
          <a:ln w="19050">
            <a:solidFill>
              <a:srgbClr val="C8CFDA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234440" y="3822192"/>
            <a:ext cx="868680" cy="0"/>
          </a:xfrm>
          <a:prstGeom prst="line">
            <a:avLst/>
          </a:prstGeom>
          <a:noFill/>
          <a:ln w="19050">
            <a:solidFill>
              <a:srgbClr val="C8CFDA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234440" y="4078224"/>
            <a:ext cx="868680" cy="0"/>
          </a:xfrm>
          <a:prstGeom prst="line">
            <a:avLst/>
          </a:prstGeom>
          <a:noFill/>
          <a:ln w="19050">
            <a:solidFill>
              <a:srgbClr val="C8CFDA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234440" y="4334256"/>
            <a:ext cx="868680" cy="0"/>
          </a:xfrm>
          <a:prstGeom prst="line">
            <a:avLst/>
          </a:prstGeom>
          <a:noFill/>
          <a:ln w="19050">
            <a:solidFill>
              <a:srgbClr val="C8CFDA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1234440" y="4315968"/>
            <a:ext cx="868680" cy="274320"/>
          </a:xfrm>
          <a:prstGeom prst="rect">
            <a:avLst/>
          </a:prstGeom>
          <a:solidFill>
            <a:srgbClr val="EEF1F5"/>
          </a:solidFill>
          <a:ln w="12700">
            <a:solidFill>
              <a:srgbClr val="D8DEE9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2907792" y="3511296"/>
            <a:ext cx="914400" cy="0"/>
          </a:xfrm>
          <a:prstGeom prst="line">
            <a:avLst/>
          </a:prstGeom>
          <a:noFill/>
          <a:ln w="29210">
            <a:solidFill>
              <a:srgbClr val="2F80ED"/>
            </a:solidFill>
            <a:prstDash val="solid"/>
            <a:headEnd type="none"/>
            <a:tailEnd type="triangle"/>
          </a:ln>
        </p:spPr>
      </p:sp>
      <p:sp>
        <p:nvSpPr>
          <p:cNvPr id="16" name="Shape 14"/>
          <p:cNvSpPr/>
          <p:nvPr/>
        </p:nvSpPr>
        <p:spPr>
          <a:xfrm>
            <a:off x="3931920" y="1920240"/>
            <a:ext cx="1920240" cy="3337560"/>
          </a:xfrm>
          <a:prstGeom prst="roundRect">
            <a:avLst>
              <a:gd name="adj" fmla="val 3810"/>
            </a:avLst>
          </a:prstGeom>
          <a:solidFill>
            <a:srgbClr val="EAF3FF"/>
          </a:solidFill>
          <a:ln w="12700">
            <a:solidFill>
              <a:srgbClr val="B7D8FF"/>
            </a:solidFill>
            <a:prstDash val="solid"/>
          </a:ln>
          <a:effectLst>
            <a:outerShdw algn="bl" rotWithShape="0">
              <a:srgbClr val="000000">
                <a:alpha val="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4224528" y="2176272"/>
            <a:ext cx="13258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2F80ED"/>
                </a:solidFill>
              </a:rPr>
              <a:t>PAGE IMAGE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4297680" y="2697480"/>
            <a:ext cx="1188720" cy="2011680"/>
          </a:xfrm>
          <a:prstGeom prst="rect">
            <a:avLst/>
          </a:prstGeom>
          <a:solidFill>
            <a:srgbClr val="F8FAFC"/>
          </a:solidFill>
          <a:ln w="12700">
            <a:solidFill>
              <a:srgbClr val="2F80ED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498848" y="3566160"/>
            <a:ext cx="78638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2F80ED"/>
                </a:solidFill>
              </a:rPr>
              <a:t>pixels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5989320" y="3511296"/>
            <a:ext cx="914400" cy="0"/>
          </a:xfrm>
          <a:prstGeom prst="line">
            <a:avLst/>
          </a:prstGeom>
          <a:noFill/>
          <a:ln w="29210">
            <a:solidFill>
              <a:srgbClr val="F59E0B"/>
            </a:solidFill>
            <a:prstDash val="solid"/>
            <a:headEnd type="none"/>
            <a:tailEnd type="triangle"/>
          </a:ln>
        </p:spPr>
      </p:sp>
      <p:sp>
        <p:nvSpPr>
          <p:cNvPr id="21" name="Shape 19"/>
          <p:cNvSpPr/>
          <p:nvPr/>
        </p:nvSpPr>
        <p:spPr>
          <a:xfrm>
            <a:off x="7022592" y="1920240"/>
            <a:ext cx="2057400" cy="3337560"/>
          </a:xfrm>
          <a:prstGeom prst="roundRect">
            <a:avLst>
              <a:gd name="adj" fmla="val 3556"/>
            </a:avLst>
          </a:prstGeom>
          <a:solidFill>
            <a:srgbClr val="FFF7E8"/>
          </a:solidFill>
          <a:ln w="12700">
            <a:solidFill>
              <a:srgbClr val="F2D29A"/>
            </a:solidFill>
            <a:prstDash val="solid"/>
          </a:ln>
          <a:effectLst>
            <a:outerShdw algn="bl" rotWithShape="0">
              <a:srgbClr val="000000">
                <a:alpha val="0"/>
              </a:srgbClr>
            </a:outerShdw>
          </a:effectLst>
        </p:spPr>
      </p:sp>
      <p:sp>
        <p:nvSpPr>
          <p:cNvPr id="22" name="Text 20"/>
          <p:cNvSpPr/>
          <p:nvPr/>
        </p:nvSpPr>
        <p:spPr>
          <a:xfrm>
            <a:off x="7242048" y="2176272"/>
            <a:ext cx="162763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59E0B"/>
                </a:solidFill>
              </a:rPr>
              <a:t>DETECTED REGIONS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7406640" y="2743200"/>
            <a:ext cx="1234440" cy="384048"/>
          </a:xfrm>
          <a:prstGeom prst="rect">
            <a:avLst/>
          </a:prstGeom>
          <a:solidFill>
            <a:srgbClr val="FFFFFF">
              <a:alpha val="0"/>
            </a:srgbClr>
          </a:solidFill>
          <a:ln w="25400">
            <a:solidFill>
              <a:srgbClr val="E45757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7479792" y="2816352"/>
            <a:ext cx="9601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E45757"/>
                </a:solidFill>
              </a:rPr>
              <a:t>title</a:t>
            </a:r>
            <a:endParaRPr lang="en-US" sz="800" dirty="0"/>
          </a:p>
        </p:txBody>
      </p:sp>
      <p:sp>
        <p:nvSpPr>
          <p:cNvPr id="25" name="Shape 23"/>
          <p:cNvSpPr/>
          <p:nvPr/>
        </p:nvSpPr>
        <p:spPr>
          <a:xfrm>
            <a:off x="7406640" y="3337560"/>
            <a:ext cx="1234440" cy="594360"/>
          </a:xfrm>
          <a:prstGeom prst="rect">
            <a:avLst/>
          </a:prstGeom>
          <a:solidFill>
            <a:srgbClr val="FFFFFF">
              <a:alpha val="0"/>
            </a:srgbClr>
          </a:solidFill>
          <a:ln w="25400">
            <a:solidFill>
              <a:srgbClr val="2F80ED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479792" y="3410712"/>
            <a:ext cx="9601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2F80ED"/>
                </a:solidFill>
              </a:rPr>
              <a:t>text</a:t>
            </a:r>
            <a:endParaRPr lang="en-US" sz="800" dirty="0"/>
          </a:p>
        </p:txBody>
      </p:sp>
      <p:sp>
        <p:nvSpPr>
          <p:cNvPr id="27" name="Shape 25"/>
          <p:cNvSpPr/>
          <p:nvPr/>
        </p:nvSpPr>
        <p:spPr>
          <a:xfrm>
            <a:off x="7406640" y="4160520"/>
            <a:ext cx="1234440" cy="384048"/>
          </a:xfrm>
          <a:prstGeom prst="rect">
            <a:avLst/>
          </a:prstGeom>
          <a:solidFill>
            <a:srgbClr val="FFFFFF">
              <a:alpha val="0"/>
            </a:srgbClr>
          </a:solidFill>
          <a:ln w="25400">
            <a:solidFill>
              <a:srgbClr val="F59E0B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7479792" y="4233672"/>
            <a:ext cx="9601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F59E0B"/>
                </a:solidFill>
              </a:rPr>
              <a:t>table</a:t>
            </a:r>
            <a:endParaRPr lang="en-US" sz="800" dirty="0"/>
          </a:p>
        </p:txBody>
      </p:sp>
      <p:sp>
        <p:nvSpPr>
          <p:cNvPr id="29" name="Shape 27"/>
          <p:cNvSpPr/>
          <p:nvPr/>
        </p:nvSpPr>
        <p:spPr>
          <a:xfrm>
            <a:off x="9217152" y="3511296"/>
            <a:ext cx="886968" cy="0"/>
          </a:xfrm>
          <a:prstGeom prst="line">
            <a:avLst/>
          </a:prstGeom>
          <a:noFill/>
          <a:ln w="29210">
            <a:solidFill>
              <a:srgbClr val="2FA36B"/>
            </a:solidFill>
            <a:prstDash val="solid"/>
            <a:headEnd type="none"/>
            <a:tailEnd type="triangle"/>
          </a:ln>
        </p:spPr>
      </p:sp>
      <p:sp>
        <p:nvSpPr>
          <p:cNvPr id="30" name="Shape 28"/>
          <p:cNvSpPr/>
          <p:nvPr/>
        </p:nvSpPr>
        <p:spPr>
          <a:xfrm>
            <a:off x="10222992" y="1920240"/>
            <a:ext cx="1353312" cy="3337560"/>
          </a:xfrm>
          <a:prstGeom prst="roundRect">
            <a:avLst>
              <a:gd name="adj" fmla="val 5405"/>
            </a:avLst>
          </a:prstGeom>
          <a:solidFill>
            <a:srgbClr val="F2FBF6"/>
          </a:solidFill>
          <a:ln w="12700">
            <a:solidFill>
              <a:srgbClr val="9AD7B5"/>
            </a:solidFill>
            <a:prstDash val="solid"/>
          </a:ln>
          <a:effectLst>
            <a:outerShdw algn="bl" rotWithShape="0">
              <a:srgbClr val="000000">
                <a:alpha val="0"/>
              </a:srgbClr>
            </a:outerShdw>
          </a:effectLst>
        </p:spPr>
      </p:sp>
      <p:sp>
        <p:nvSpPr>
          <p:cNvPr id="31" name="Text 29"/>
          <p:cNvSpPr/>
          <p:nvPr/>
        </p:nvSpPr>
        <p:spPr>
          <a:xfrm>
            <a:off x="10378440" y="2176272"/>
            <a:ext cx="10424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2FA36B"/>
                </a:solidFill>
              </a:rPr>
              <a:t>STRUCTURED</a:t>
            </a:r>
            <a:endParaRPr lang="en-US" sz="900" dirty="0"/>
          </a:p>
          <a:p>
            <a:pPr marL="0" indent="0" algn="ctr">
              <a:buNone/>
            </a:pPr>
            <a:r>
              <a:rPr lang="en-US" sz="900" b="1" dirty="0">
                <a:solidFill>
                  <a:srgbClr val="2FA36B"/>
                </a:solidFill>
              </a:rPr>
              <a:t>MARKDOWN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10424160" y="2880360"/>
            <a:ext cx="9601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830" dirty="0">
                <a:solidFill>
                  <a:srgbClr val="172033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## Title</a:t>
            </a:r>
            <a:endParaRPr lang="en-US" sz="830" dirty="0"/>
          </a:p>
          <a:p>
            <a:pPr marL="0" indent="0">
              <a:buNone/>
            </a:pPr>
            <a:endParaRPr lang="en-US" sz="830" dirty="0"/>
          </a:p>
          <a:p>
            <a:pPr marL="0" indent="0">
              <a:buNone/>
            </a:pPr>
            <a:r>
              <a:rPr lang="en-US" sz="830" dirty="0">
                <a:solidFill>
                  <a:srgbClr val="172033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Paragraph…</a:t>
            </a:r>
            <a:endParaRPr lang="en-US" sz="830" dirty="0"/>
          </a:p>
          <a:p>
            <a:pPr marL="0" indent="0">
              <a:buNone/>
            </a:pPr>
            <a:endParaRPr lang="en-US" sz="830" dirty="0"/>
          </a:p>
          <a:p>
            <a:pPr marL="0" indent="0">
              <a:buNone/>
            </a:pPr>
            <a:r>
              <a:rPr lang="en-US" sz="830" dirty="0">
                <a:solidFill>
                  <a:srgbClr val="172033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&lt;table&gt;…</a:t>
            </a:r>
            <a:endParaRPr lang="en-US" sz="830" dirty="0"/>
          </a:p>
        </p:txBody>
      </p:sp>
      <p:sp>
        <p:nvSpPr>
          <p:cNvPr id="33" name="Text 31"/>
          <p:cNvSpPr/>
          <p:nvPr/>
        </p:nvSpPr>
        <p:spPr>
          <a:xfrm>
            <a:off x="10378440" y="4462272"/>
            <a:ext cx="104241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2FA36B"/>
                </a:solidFill>
              </a:rPr>
              <a:t>metadata.json</a:t>
            </a:r>
            <a:endParaRPr lang="en-US" sz="850" dirty="0"/>
          </a:p>
          <a:p>
            <a:pPr marL="0" indent="0" algn="ctr">
              <a:buNone/>
            </a:pPr>
            <a:r>
              <a:rPr lang="en-US" sz="850" b="1" dirty="0">
                <a:solidFill>
                  <a:srgbClr val="2FA36B"/>
                </a:solidFill>
              </a:rPr>
              <a:t>regions.json</a:t>
            </a:r>
            <a:endParaRPr lang="en-US" sz="850" dirty="0"/>
          </a:p>
        </p:txBody>
      </p:sp>
      <p:sp>
        <p:nvSpPr>
          <p:cNvPr id="34" name="Shape 32"/>
          <p:cNvSpPr/>
          <p:nvPr/>
        </p:nvSpPr>
        <p:spPr>
          <a:xfrm>
            <a:off x="1078992" y="5623560"/>
            <a:ext cx="10058400" cy="512064"/>
          </a:xfrm>
          <a:prstGeom prst="roundRect">
            <a:avLst>
              <a:gd name="adj" fmla="val 7143"/>
            </a:avLst>
          </a:prstGeom>
          <a:solidFill>
            <a:srgbClr val="F2FBF6"/>
          </a:solidFill>
          <a:ln w="12700">
            <a:solidFill>
              <a:srgbClr val="9AD7B5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1353312" y="5779008"/>
            <a:ext cx="9509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220" b="1" dirty="0">
                <a:solidFill>
                  <a:srgbClr val="172033"/>
                </a:solidFill>
              </a:rPr>
              <a:t>Route each region differently, then assemble markdown + metadata.</a:t>
            </a:r>
            <a:endParaRPr lang="en-US" sz="1220" dirty="0"/>
          </a:p>
        </p:txBody>
      </p:sp>
      <p:sp>
        <p:nvSpPr>
          <p:cNvPr id="36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612880" y="6510528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650">
                <a:solidFill>
                  <a:srgbClr val="9AA4B2"/>
                </a:solidFill>
                <a:latin typeface="Aptos"/>
                <a:ea typeface="Aptos"/>
                <a:cs typeface="Aptos"/>
              </a:defRPr>
            </a:lvl1pPr>
          </a:lstStyle>
          <a:p>
            <a:pPr algn="l"/>
            <a:fld id="{F7021451-1387-4CA6-816F-3879F97B5CBC}" type="slidenum">
              <a:rPr lang="en-US" b="0"/>
              <a:t>10</a:t>
            </a:fld>
            <a:endParaRPr lang="en-US"/>
          </a:p>
        </p:txBody>
      </p:sp>
    </p:spTree>
  </p:cSld>
  <p:clrMapOvr>
    <a:masterClrMapping/>
  </p:clrMapOvr>
  <p:transition spd="med">
    <p:fade/>
  </p:transition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438912"/>
            <a:ext cx="30175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2F80ED"/>
                </a:solidFill>
              </a:rPr>
              <a:t>STEP 1 OF 7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502920" y="713232"/>
            <a:ext cx="109728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600" b="1" dirty="0">
                <a:solidFill>
                  <a:srgbClr val="172033"/>
                </a:solidFill>
              </a:rPr>
              <a:t>PDF → Image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02920" y="1261872"/>
            <a:ext cx="107899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250" dirty="0">
                <a:solidFill>
                  <a:srgbClr val="687385"/>
                </a:solidFill>
              </a:rPr>
              <a:t>PyMuPDF renders each page to pixels so vision models can operate on the same representation for scanned and digital PDFs.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685800" y="1828800"/>
            <a:ext cx="4754880" cy="3566160"/>
          </a:xfrm>
          <a:prstGeom prst="roundRect">
            <a:avLst>
              <a:gd name="adj" fmla="val 2051"/>
            </a:avLst>
          </a:prstGeom>
          <a:solidFill>
            <a:srgbClr val="FFFFFF"/>
          </a:solidFill>
          <a:ln w="12700">
            <a:solidFill>
              <a:srgbClr val="D8DEE9"/>
            </a:solidFill>
            <a:prstDash val="solid"/>
          </a:ln>
          <a:effectLst>
            <a:outerShdw algn="bl" rotWithShape="0">
              <a:srgbClr val="000000">
                <a:alpha val="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960120" y="2103120"/>
            <a:ext cx="41605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687385"/>
                </a:solidFill>
              </a:rPr>
              <a:t>PDF INTERNALS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1005840" y="2788920"/>
            <a:ext cx="1143000" cy="914400"/>
          </a:xfrm>
          <a:prstGeom prst="roundRect">
            <a:avLst>
              <a:gd name="adj" fmla="val 8000"/>
            </a:avLst>
          </a:prstGeom>
          <a:solidFill>
            <a:srgbClr val="F7F9FC"/>
          </a:solidFill>
          <a:ln w="12700">
            <a:solidFill>
              <a:srgbClr val="D8DEE9"/>
            </a:solidFill>
            <a:prstDash val="solid"/>
          </a:ln>
          <a:effectLst>
            <a:outerShdw algn="bl" rotWithShape="0">
              <a:srgbClr val="000000">
                <a:alpha val="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1097280" y="3099816"/>
            <a:ext cx="960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2F80ED"/>
                </a:solidFill>
              </a:rPr>
              <a:t>text objects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2404872" y="2788920"/>
            <a:ext cx="1143000" cy="914400"/>
          </a:xfrm>
          <a:prstGeom prst="roundRect">
            <a:avLst>
              <a:gd name="adj" fmla="val 8000"/>
            </a:avLst>
          </a:prstGeom>
          <a:solidFill>
            <a:srgbClr val="F7F9FC"/>
          </a:solidFill>
          <a:ln w="12700">
            <a:solidFill>
              <a:srgbClr val="D8DEE9"/>
            </a:solidFill>
            <a:prstDash val="solid"/>
          </a:ln>
          <a:effectLst>
            <a:outerShdw algn="bl" rotWithShape="0">
              <a:srgbClr val="000000">
                <a:alpha val="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2496312" y="3099816"/>
            <a:ext cx="960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2FA36B"/>
                </a:solidFill>
              </a:rPr>
              <a:t>vector lines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3803904" y="2788920"/>
            <a:ext cx="1143000" cy="914400"/>
          </a:xfrm>
          <a:prstGeom prst="roundRect">
            <a:avLst>
              <a:gd name="adj" fmla="val 8000"/>
            </a:avLst>
          </a:prstGeom>
          <a:solidFill>
            <a:srgbClr val="F7F9FC"/>
          </a:solidFill>
          <a:ln w="12700">
            <a:solidFill>
              <a:srgbClr val="D8DEE9"/>
            </a:solidFill>
            <a:prstDash val="solid"/>
          </a:ln>
          <a:effectLst>
            <a:outerShdw algn="bl" rotWithShape="0">
              <a:srgbClr val="000000">
                <a:alpha val="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3895344" y="3099816"/>
            <a:ext cx="960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F59E0B"/>
                </a:solidFill>
              </a:rPr>
              <a:t>embedded image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2514600" y="4160520"/>
            <a:ext cx="1005840" cy="0"/>
          </a:xfrm>
          <a:prstGeom prst="line">
            <a:avLst/>
          </a:prstGeom>
          <a:noFill/>
          <a:ln w="29210">
            <a:solidFill>
              <a:srgbClr val="2F80ED"/>
            </a:solidFill>
            <a:prstDash val="solid"/>
            <a:headEnd type="none"/>
            <a:tailEnd type="triangle"/>
          </a:ln>
        </p:spPr>
      </p:sp>
      <p:sp>
        <p:nvSpPr>
          <p:cNvPr id="14" name="Shape 12"/>
          <p:cNvSpPr/>
          <p:nvPr/>
        </p:nvSpPr>
        <p:spPr>
          <a:xfrm>
            <a:off x="2743200" y="4023360"/>
            <a:ext cx="566928" cy="292608"/>
          </a:xfrm>
          <a:prstGeom prst="roundRect">
            <a:avLst>
              <a:gd name="adj" fmla="val 25000"/>
            </a:avLst>
          </a:prstGeom>
          <a:solidFill>
            <a:srgbClr val="2F80ED"/>
          </a:solidFill>
          <a:ln w="12700">
            <a:solidFill>
              <a:srgbClr val="2F80ED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2798064" y="4069080"/>
            <a:ext cx="4572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820" b="1" dirty="0">
                <a:solidFill>
                  <a:srgbClr val="FFFFFF"/>
                </a:solidFill>
              </a:rPr>
              <a:t>render</a:t>
            </a:r>
            <a:endParaRPr lang="en-US" sz="820" dirty="0"/>
          </a:p>
        </p:txBody>
      </p:sp>
      <p:sp>
        <p:nvSpPr>
          <p:cNvPr id="16" name="Text 14"/>
          <p:cNvSpPr/>
          <p:nvPr/>
        </p:nvSpPr>
        <p:spPr>
          <a:xfrm>
            <a:off x="1874520" y="4617720"/>
            <a:ext cx="2240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2F80ED"/>
                </a:solidFill>
              </a:rPr>
              <a:t>200 DPI PNG</a:t>
            </a:r>
            <a:endParaRPr lang="en-US" sz="1700" dirty="0"/>
          </a:p>
        </p:txBody>
      </p:sp>
      <p:sp>
        <p:nvSpPr>
          <p:cNvPr id="17" name="Shape 15"/>
          <p:cNvSpPr/>
          <p:nvPr/>
        </p:nvSpPr>
        <p:spPr>
          <a:xfrm>
            <a:off x="5852160" y="1828800"/>
            <a:ext cx="5440680" cy="3566160"/>
          </a:xfrm>
          <a:prstGeom prst="roundRect">
            <a:avLst>
              <a:gd name="adj" fmla="val 2051"/>
            </a:avLst>
          </a:prstGeom>
          <a:solidFill>
            <a:srgbClr val="EAF3FF"/>
          </a:solidFill>
          <a:ln w="12700">
            <a:solidFill>
              <a:srgbClr val="B7D8FF"/>
            </a:solidFill>
            <a:prstDash val="solid"/>
          </a:ln>
          <a:effectLst>
            <a:outerShdw algn="bl" rotWithShape="0">
              <a:srgbClr val="000000">
                <a:alpha val="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6217920" y="2121408"/>
            <a:ext cx="4709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2F80ED"/>
                </a:solidFill>
              </a:rPr>
              <a:t>WHY THIS NORMALIZATION HELPS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6309360" y="2679192"/>
            <a:ext cx="329184" cy="329184"/>
          </a:xfrm>
          <a:prstGeom prst="ellipse">
            <a:avLst/>
          </a:prstGeom>
          <a:solidFill>
            <a:srgbClr val="2F80ED"/>
          </a:solidFill>
          <a:ln w="12700">
            <a:solidFill>
              <a:srgbClr val="2F80ED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309360" y="2761488"/>
            <a:ext cx="329184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</a:rPr>
              <a:t>1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6766560" y="2724912"/>
            <a:ext cx="13258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80" b="1" dirty="0">
                <a:solidFill>
                  <a:srgbClr val="172033"/>
                </a:solidFill>
              </a:rPr>
              <a:t>Vision-ready</a:t>
            </a:r>
            <a:endParaRPr lang="en-US" sz="1080" dirty="0"/>
          </a:p>
        </p:txBody>
      </p:sp>
      <p:sp>
        <p:nvSpPr>
          <p:cNvPr id="22" name="Text 20"/>
          <p:cNvSpPr/>
          <p:nvPr/>
        </p:nvSpPr>
        <p:spPr>
          <a:xfrm>
            <a:off x="8156448" y="2724912"/>
            <a:ext cx="23317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000" dirty="0">
                <a:solidFill>
                  <a:srgbClr val="687385"/>
                </a:solidFill>
              </a:rPr>
              <a:t>layout detector sees pixels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6309360" y="3255264"/>
            <a:ext cx="329184" cy="329184"/>
          </a:xfrm>
          <a:prstGeom prst="ellipse">
            <a:avLst/>
          </a:prstGeom>
          <a:solidFill>
            <a:srgbClr val="2F80ED"/>
          </a:solidFill>
          <a:ln w="12700">
            <a:solidFill>
              <a:srgbClr val="2F80ED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309360" y="3337560"/>
            <a:ext cx="329184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</a:rPr>
              <a:t>2</a:t>
            </a:r>
            <a:endParaRPr lang="en-US" sz="1400" dirty="0"/>
          </a:p>
        </p:txBody>
      </p:sp>
      <p:sp>
        <p:nvSpPr>
          <p:cNvPr id="25" name="Text 23"/>
          <p:cNvSpPr/>
          <p:nvPr/>
        </p:nvSpPr>
        <p:spPr>
          <a:xfrm>
            <a:off x="6766560" y="3300984"/>
            <a:ext cx="13258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80" b="1" dirty="0">
                <a:solidFill>
                  <a:srgbClr val="172033"/>
                </a:solidFill>
              </a:rPr>
              <a:t>Scan-safe</a:t>
            </a:r>
            <a:endParaRPr lang="en-US" sz="1080" dirty="0"/>
          </a:p>
        </p:txBody>
      </p:sp>
      <p:sp>
        <p:nvSpPr>
          <p:cNvPr id="26" name="Text 24"/>
          <p:cNvSpPr/>
          <p:nvPr/>
        </p:nvSpPr>
        <p:spPr>
          <a:xfrm>
            <a:off x="8156448" y="3300984"/>
            <a:ext cx="23317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000" dirty="0">
                <a:solidFill>
                  <a:srgbClr val="687385"/>
                </a:solidFill>
              </a:rPr>
              <a:t>works on image-only PDFs too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6309360" y="3831336"/>
            <a:ext cx="329184" cy="329184"/>
          </a:xfrm>
          <a:prstGeom prst="ellipse">
            <a:avLst/>
          </a:prstGeom>
          <a:solidFill>
            <a:srgbClr val="2F80ED"/>
          </a:solidFill>
          <a:ln w="12700">
            <a:solidFill>
              <a:srgbClr val="2F80ED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6309360" y="3913632"/>
            <a:ext cx="329184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</a:rPr>
              <a:t>3</a:t>
            </a:r>
            <a:endParaRPr lang="en-US" sz="1400" dirty="0"/>
          </a:p>
        </p:txBody>
      </p:sp>
      <p:sp>
        <p:nvSpPr>
          <p:cNvPr id="29" name="Text 27"/>
          <p:cNvSpPr/>
          <p:nvPr/>
        </p:nvSpPr>
        <p:spPr>
          <a:xfrm>
            <a:off x="6766560" y="3877056"/>
            <a:ext cx="13258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80" b="1" dirty="0">
                <a:solidFill>
                  <a:srgbClr val="172033"/>
                </a:solidFill>
              </a:rPr>
              <a:t>Reproducible</a:t>
            </a:r>
            <a:endParaRPr lang="en-US" sz="1080" dirty="0"/>
          </a:p>
        </p:txBody>
      </p:sp>
      <p:sp>
        <p:nvSpPr>
          <p:cNvPr id="30" name="Text 28"/>
          <p:cNvSpPr/>
          <p:nvPr/>
        </p:nvSpPr>
        <p:spPr>
          <a:xfrm>
            <a:off x="8156448" y="3877056"/>
            <a:ext cx="23317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000" dirty="0">
                <a:solidFill>
                  <a:srgbClr val="687385"/>
                </a:solidFill>
              </a:rPr>
              <a:t>same visual input for every model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6309360" y="4407408"/>
            <a:ext cx="329184" cy="329184"/>
          </a:xfrm>
          <a:prstGeom prst="ellipse">
            <a:avLst/>
          </a:prstGeom>
          <a:solidFill>
            <a:srgbClr val="2F80ED"/>
          </a:solidFill>
          <a:ln w="12700">
            <a:solidFill>
              <a:srgbClr val="2F80ED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309360" y="4489704"/>
            <a:ext cx="329184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</a:rPr>
              <a:t>4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766560" y="4453128"/>
            <a:ext cx="13258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80" b="1" dirty="0">
                <a:solidFill>
                  <a:srgbClr val="172033"/>
                </a:solidFill>
              </a:rPr>
              <a:t>Metadata-safe</a:t>
            </a:r>
            <a:endParaRPr lang="en-US" sz="1080" dirty="0"/>
          </a:p>
        </p:txBody>
      </p:sp>
      <p:sp>
        <p:nvSpPr>
          <p:cNvPr id="34" name="Text 32"/>
          <p:cNvSpPr/>
          <p:nvPr/>
        </p:nvSpPr>
        <p:spPr>
          <a:xfrm>
            <a:off x="8156448" y="4453128"/>
            <a:ext cx="23317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000" dirty="0">
                <a:solidFill>
                  <a:srgbClr val="687385"/>
                </a:solidFill>
              </a:rPr>
              <a:t>native PDF metadata is captured separately</a:t>
            </a:r>
            <a:endParaRPr lang="en-US" sz="1000" dirty="0"/>
          </a:p>
        </p:txBody>
      </p:sp>
      <p:sp>
        <p:nvSpPr>
          <p:cNvPr id="35" name="Text 33"/>
          <p:cNvSpPr/>
          <p:nvPr/>
        </p:nvSpPr>
        <p:spPr>
          <a:xfrm>
            <a:off x="502920" y="6473952"/>
            <a:ext cx="107899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630" dirty="0">
                <a:solidFill>
                  <a:srgbClr val="7A8493"/>
                </a:solidFill>
              </a:rPr>
              <a:t>Technical reference: PyMuPDF Page.get_pixmap() — https://pymupdf.readthedocs.io/en/latest/page.html</a:t>
            </a:r>
            <a:endParaRPr lang="en-US" sz="630" dirty="0"/>
          </a:p>
        </p:txBody>
      </p:sp>
      <p:sp>
        <p:nvSpPr>
          <p:cNvPr id="36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612880" y="6510528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650">
                <a:solidFill>
                  <a:srgbClr val="9AA4B2"/>
                </a:solidFill>
                <a:latin typeface="Aptos"/>
                <a:ea typeface="Aptos"/>
                <a:cs typeface="Aptos"/>
              </a:defRPr>
            </a:lvl1pPr>
          </a:lstStyle>
          <a:p>
            <a:pPr algn="l"/>
            <a:fld id="{F7021451-1387-4CA6-816F-3879F97B5CBC}" type="slidenum">
              <a:rPr lang="en-US" b="0"/>
              <a:t>11</a:t>
            </a:fld>
            <a:endParaRPr lang="en-US"/>
          </a:p>
        </p:txBody>
      </p:sp>
    </p:spTree>
  </p:cSld>
  <p:clrMapOvr>
    <a:masterClrMapping/>
  </p:clrMapOvr>
  <p:transition spd="med">
    <p:fade/>
  </p:transition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438912"/>
            <a:ext cx="30175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2F80ED"/>
                </a:solidFill>
              </a:rPr>
              <a:t>STEP 2 OF 7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502920" y="713232"/>
            <a:ext cx="109728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600" b="1" dirty="0">
                <a:solidFill>
                  <a:srgbClr val="172033"/>
                </a:solidFill>
              </a:rPr>
              <a:t>Layout Detection — DocLayout-YOLO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02920" y="1261872"/>
            <a:ext cx="107899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250" dirty="0">
                <a:solidFill>
                  <a:srgbClr val="687385"/>
                </a:solidFill>
              </a:rPr>
              <a:t>The detector answers two questions at once: where is a region, and what class is it?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658368" y="1783080"/>
            <a:ext cx="4572000" cy="3886200"/>
          </a:xfrm>
          <a:prstGeom prst="roundRect">
            <a:avLst>
              <a:gd name="adj" fmla="val 1882"/>
            </a:avLst>
          </a:prstGeom>
          <a:solidFill>
            <a:srgbClr val="F7F9FC"/>
          </a:solidFill>
          <a:ln w="12700">
            <a:solidFill>
              <a:srgbClr val="D8DEE9"/>
            </a:solidFill>
            <a:prstDash val="solid"/>
          </a:ln>
          <a:effectLst>
            <a:outerShdw algn="bl" rotWithShape="0">
              <a:srgbClr val="000000">
                <a:alpha val="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1051560" y="2103120"/>
            <a:ext cx="3749040" cy="3063240"/>
          </a:xfrm>
          <a:prstGeom prst="rect">
            <a:avLst/>
          </a:prstGeom>
          <a:solidFill>
            <a:srgbClr val="FFFFFF"/>
          </a:solidFill>
          <a:ln w="12700">
            <a:solidFill>
              <a:srgbClr val="C5CDD8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307592" y="2423160"/>
            <a:ext cx="2331720" cy="393192"/>
          </a:xfrm>
          <a:prstGeom prst="rect">
            <a:avLst/>
          </a:prstGeom>
          <a:solidFill>
            <a:srgbClr val="FFFFFF">
              <a:alpha val="0"/>
            </a:srgbClr>
          </a:solidFill>
          <a:ln w="25400">
            <a:solidFill>
              <a:srgbClr val="E45757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371600" y="2468880"/>
            <a:ext cx="9144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b="1" dirty="0">
                <a:solidFill>
                  <a:srgbClr val="E45757"/>
                </a:solidFill>
              </a:rPr>
              <a:t>title</a:t>
            </a:r>
            <a:endParaRPr lang="en-US" sz="750" dirty="0"/>
          </a:p>
        </p:txBody>
      </p:sp>
      <p:sp>
        <p:nvSpPr>
          <p:cNvPr id="9" name="Shape 7"/>
          <p:cNvSpPr/>
          <p:nvPr/>
        </p:nvSpPr>
        <p:spPr>
          <a:xfrm>
            <a:off x="1307592" y="3108960"/>
            <a:ext cx="3017520" cy="749808"/>
          </a:xfrm>
          <a:prstGeom prst="rect">
            <a:avLst/>
          </a:prstGeom>
          <a:solidFill>
            <a:srgbClr val="FFFFFF">
              <a:alpha val="0"/>
            </a:srgbClr>
          </a:solidFill>
          <a:ln w="25400">
            <a:solidFill>
              <a:srgbClr val="2F80ED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371600" y="3154680"/>
            <a:ext cx="9144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b="1" dirty="0">
                <a:solidFill>
                  <a:srgbClr val="2F80ED"/>
                </a:solidFill>
              </a:rPr>
              <a:t>plain text</a:t>
            </a:r>
            <a:endParaRPr lang="en-US" sz="750" dirty="0"/>
          </a:p>
        </p:txBody>
      </p:sp>
      <p:sp>
        <p:nvSpPr>
          <p:cNvPr id="11" name="Shape 9"/>
          <p:cNvSpPr/>
          <p:nvPr/>
        </p:nvSpPr>
        <p:spPr>
          <a:xfrm>
            <a:off x="1307592" y="4187952"/>
            <a:ext cx="2194560" cy="594360"/>
          </a:xfrm>
          <a:prstGeom prst="rect">
            <a:avLst/>
          </a:prstGeom>
          <a:solidFill>
            <a:srgbClr val="FFFFFF">
              <a:alpha val="0"/>
            </a:srgbClr>
          </a:solidFill>
          <a:ln w="25400">
            <a:solidFill>
              <a:srgbClr val="F59E0B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371600" y="4233672"/>
            <a:ext cx="9144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b="1" dirty="0">
                <a:solidFill>
                  <a:srgbClr val="F59E0B"/>
                </a:solidFill>
              </a:rPr>
              <a:t>table</a:t>
            </a:r>
            <a:endParaRPr lang="en-US" sz="750" dirty="0"/>
          </a:p>
        </p:txBody>
      </p:sp>
      <p:sp>
        <p:nvSpPr>
          <p:cNvPr id="13" name="Shape 11"/>
          <p:cNvSpPr/>
          <p:nvPr/>
        </p:nvSpPr>
        <p:spPr>
          <a:xfrm>
            <a:off x="3730752" y="4187952"/>
            <a:ext cx="594360" cy="594360"/>
          </a:xfrm>
          <a:prstGeom prst="rect">
            <a:avLst/>
          </a:prstGeom>
          <a:solidFill>
            <a:srgbClr val="FFFFFF">
              <a:alpha val="0"/>
            </a:srgbClr>
          </a:solidFill>
          <a:ln w="25400">
            <a:solidFill>
              <a:srgbClr val="687385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794760" y="4233672"/>
            <a:ext cx="9144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b="1" dirty="0">
                <a:solidFill>
                  <a:srgbClr val="687385"/>
                </a:solidFill>
              </a:rPr>
              <a:t>abandon</a:t>
            </a:r>
            <a:endParaRPr lang="en-US" sz="750" dirty="0"/>
          </a:p>
        </p:txBody>
      </p:sp>
      <p:sp>
        <p:nvSpPr>
          <p:cNvPr id="15" name="Shape 13"/>
          <p:cNvSpPr/>
          <p:nvPr/>
        </p:nvSpPr>
        <p:spPr>
          <a:xfrm>
            <a:off x="5577840" y="1783080"/>
            <a:ext cx="5669280" cy="3886200"/>
          </a:xfrm>
          <a:prstGeom prst="roundRect">
            <a:avLst>
              <a:gd name="adj" fmla="val 1882"/>
            </a:avLst>
          </a:prstGeom>
          <a:solidFill>
            <a:srgbClr val="FFFFFF"/>
          </a:solidFill>
          <a:ln w="12700">
            <a:solidFill>
              <a:srgbClr val="D8DEE9"/>
            </a:solidFill>
            <a:prstDash val="solid"/>
          </a:ln>
          <a:effectLst>
            <a:outerShdw algn="bl" rotWithShape="0">
              <a:srgbClr val="000000">
                <a:alpha val="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5989320" y="2084832"/>
            <a:ext cx="4846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72033"/>
                </a:solidFill>
              </a:rPr>
              <a:t>10 REGION CLASSES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6035040" y="2633472"/>
            <a:ext cx="2148840" cy="292608"/>
          </a:xfrm>
          <a:prstGeom prst="roundRect">
            <a:avLst>
              <a:gd name="adj" fmla="val 25000"/>
            </a:avLst>
          </a:prstGeom>
          <a:solidFill>
            <a:srgbClr val="E45757"/>
          </a:solidFill>
          <a:ln w="12700">
            <a:solidFill>
              <a:srgbClr val="E45757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089904" y="2679192"/>
            <a:ext cx="203911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820" b="1" dirty="0">
                <a:solidFill>
                  <a:srgbClr val="FFFFFF"/>
                </a:solidFill>
              </a:rPr>
              <a:t>title</a:t>
            </a:r>
            <a:endParaRPr lang="en-US" sz="820" dirty="0"/>
          </a:p>
        </p:txBody>
      </p:sp>
      <p:sp>
        <p:nvSpPr>
          <p:cNvPr id="19" name="Shape 17"/>
          <p:cNvSpPr/>
          <p:nvPr/>
        </p:nvSpPr>
        <p:spPr>
          <a:xfrm>
            <a:off x="8522208" y="2633472"/>
            <a:ext cx="2148840" cy="292608"/>
          </a:xfrm>
          <a:prstGeom prst="roundRect">
            <a:avLst>
              <a:gd name="adj" fmla="val 25000"/>
            </a:avLst>
          </a:prstGeom>
          <a:solidFill>
            <a:srgbClr val="2F80ED"/>
          </a:solidFill>
          <a:ln w="12700">
            <a:solidFill>
              <a:srgbClr val="2F80ED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8577072" y="2679192"/>
            <a:ext cx="203911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820" b="1" dirty="0">
                <a:solidFill>
                  <a:srgbClr val="FFFFFF"/>
                </a:solidFill>
              </a:rPr>
              <a:t>plain text</a:t>
            </a:r>
            <a:endParaRPr lang="en-US" sz="820" dirty="0"/>
          </a:p>
        </p:txBody>
      </p:sp>
      <p:sp>
        <p:nvSpPr>
          <p:cNvPr id="21" name="Shape 19"/>
          <p:cNvSpPr/>
          <p:nvPr/>
        </p:nvSpPr>
        <p:spPr>
          <a:xfrm>
            <a:off x="6035040" y="3136392"/>
            <a:ext cx="2148840" cy="292608"/>
          </a:xfrm>
          <a:prstGeom prst="roundRect">
            <a:avLst>
              <a:gd name="adj" fmla="val 25000"/>
            </a:avLst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089904" y="3182112"/>
            <a:ext cx="203911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820" b="1" dirty="0">
                <a:solidFill>
                  <a:srgbClr val="FFFFFF"/>
                </a:solidFill>
              </a:rPr>
              <a:t>table</a:t>
            </a:r>
            <a:endParaRPr lang="en-US" sz="820" dirty="0"/>
          </a:p>
        </p:txBody>
      </p:sp>
      <p:sp>
        <p:nvSpPr>
          <p:cNvPr id="23" name="Shape 21"/>
          <p:cNvSpPr/>
          <p:nvPr/>
        </p:nvSpPr>
        <p:spPr>
          <a:xfrm>
            <a:off x="8522208" y="3136392"/>
            <a:ext cx="2148840" cy="292608"/>
          </a:xfrm>
          <a:prstGeom prst="roundRect">
            <a:avLst>
              <a:gd name="adj" fmla="val 25000"/>
            </a:avLst>
          </a:prstGeom>
          <a:solidFill>
            <a:srgbClr val="2FA36B"/>
          </a:solidFill>
          <a:ln w="12700">
            <a:solidFill>
              <a:srgbClr val="2FA36B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8577072" y="3182112"/>
            <a:ext cx="203911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820" b="1" dirty="0">
                <a:solidFill>
                  <a:srgbClr val="FFFFFF"/>
                </a:solidFill>
              </a:rPr>
              <a:t>figure</a:t>
            </a:r>
            <a:endParaRPr lang="en-US" sz="820" dirty="0"/>
          </a:p>
        </p:txBody>
      </p:sp>
      <p:sp>
        <p:nvSpPr>
          <p:cNvPr id="25" name="Shape 23"/>
          <p:cNvSpPr/>
          <p:nvPr/>
        </p:nvSpPr>
        <p:spPr>
          <a:xfrm>
            <a:off x="6035040" y="3639312"/>
            <a:ext cx="2148840" cy="292608"/>
          </a:xfrm>
          <a:prstGeom prst="roundRect">
            <a:avLst>
              <a:gd name="adj" fmla="val 250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6089904" y="3685032"/>
            <a:ext cx="203911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820" b="1" dirty="0">
                <a:solidFill>
                  <a:srgbClr val="FFFFFF"/>
                </a:solidFill>
              </a:rPr>
              <a:t>figure caption</a:t>
            </a:r>
            <a:endParaRPr lang="en-US" sz="820" dirty="0"/>
          </a:p>
        </p:txBody>
      </p:sp>
      <p:sp>
        <p:nvSpPr>
          <p:cNvPr id="27" name="Shape 25"/>
          <p:cNvSpPr/>
          <p:nvPr/>
        </p:nvSpPr>
        <p:spPr>
          <a:xfrm>
            <a:off x="8522208" y="3639312"/>
            <a:ext cx="2148840" cy="292608"/>
          </a:xfrm>
          <a:prstGeom prst="roundRect">
            <a:avLst>
              <a:gd name="adj" fmla="val 25000"/>
            </a:avLst>
          </a:prstGeom>
          <a:solidFill>
            <a:srgbClr val="25A7D9"/>
          </a:solidFill>
          <a:ln w="12700">
            <a:solidFill>
              <a:srgbClr val="25A7D9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8577072" y="3685032"/>
            <a:ext cx="203911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820" b="1" dirty="0">
                <a:solidFill>
                  <a:srgbClr val="FFFFFF"/>
                </a:solidFill>
              </a:rPr>
              <a:t>table caption</a:t>
            </a:r>
            <a:endParaRPr lang="en-US" sz="820" dirty="0"/>
          </a:p>
        </p:txBody>
      </p:sp>
      <p:sp>
        <p:nvSpPr>
          <p:cNvPr id="29" name="Shape 27"/>
          <p:cNvSpPr/>
          <p:nvPr/>
        </p:nvSpPr>
        <p:spPr>
          <a:xfrm>
            <a:off x="6035040" y="4142232"/>
            <a:ext cx="2148840" cy="292608"/>
          </a:xfrm>
          <a:prstGeom prst="roundRect">
            <a:avLst>
              <a:gd name="adj" fmla="val 25000"/>
            </a:avLst>
          </a:prstGeom>
          <a:solidFill>
            <a:srgbClr val="8C6E3E"/>
          </a:solidFill>
          <a:ln w="12700">
            <a:solidFill>
              <a:srgbClr val="8C6E3E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089904" y="4187952"/>
            <a:ext cx="203911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820" b="1" dirty="0">
                <a:solidFill>
                  <a:srgbClr val="FFFFFF"/>
                </a:solidFill>
              </a:rPr>
              <a:t>table footnote</a:t>
            </a:r>
            <a:endParaRPr lang="en-US" sz="820" dirty="0"/>
          </a:p>
        </p:txBody>
      </p:sp>
      <p:sp>
        <p:nvSpPr>
          <p:cNvPr id="31" name="Shape 29"/>
          <p:cNvSpPr/>
          <p:nvPr/>
        </p:nvSpPr>
        <p:spPr>
          <a:xfrm>
            <a:off x="8522208" y="4142232"/>
            <a:ext cx="2148840" cy="292608"/>
          </a:xfrm>
          <a:prstGeom prst="roundRect">
            <a:avLst>
              <a:gd name="adj" fmla="val 25000"/>
            </a:avLst>
          </a:prstGeom>
          <a:solidFill>
            <a:srgbClr val="E45757"/>
          </a:solidFill>
          <a:ln w="12700">
            <a:solidFill>
              <a:srgbClr val="E45757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8577072" y="4187952"/>
            <a:ext cx="203911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820" b="1" dirty="0">
                <a:solidFill>
                  <a:srgbClr val="FFFFFF"/>
                </a:solidFill>
              </a:rPr>
              <a:t>formula</a:t>
            </a:r>
            <a:endParaRPr lang="en-US" sz="820" dirty="0"/>
          </a:p>
        </p:txBody>
      </p:sp>
      <p:sp>
        <p:nvSpPr>
          <p:cNvPr id="33" name="Shape 31"/>
          <p:cNvSpPr/>
          <p:nvPr/>
        </p:nvSpPr>
        <p:spPr>
          <a:xfrm>
            <a:off x="6035040" y="4645152"/>
            <a:ext cx="2148840" cy="292608"/>
          </a:xfrm>
          <a:prstGeom prst="roundRect">
            <a:avLst>
              <a:gd name="adj" fmla="val 25000"/>
            </a:avLst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6089904" y="4690872"/>
            <a:ext cx="203911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820" b="1" dirty="0">
                <a:solidFill>
                  <a:srgbClr val="FFFFFF"/>
                </a:solidFill>
              </a:rPr>
              <a:t>formula caption</a:t>
            </a:r>
            <a:endParaRPr lang="en-US" sz="820" dirty="0"/>
          </a:p>
        </p:txBody>
      </p:sp>
      <p:sp>
        <p:nvSpPr>
          <p:cNvPr id="35" name="Shape 33"/>
          <p:cNvSpPr/>
          <p:nvPr/>
        </p:nvSpPr>
        <p:spPr>
          <a:xfrm>
            <a:off x="8522208" y="4645152"/>
            <a:ext cx="2148840" cy="292608"/>
          </a:xfrm>
          <a:prstGeom prst="roundRect">
            <a:avLst>
              <a:gd name="adj" fmla="val 25000"/>
            </a:avLst>
          </a:prstGeom>
          <a:solidFill>
            <a:srgbClr val="687385"/>
          </a:solidFill>
          <a:ln w="12700">
            <a:solidFill>
              <a:srgbClr val="687385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8577072" y="4690872"/>
            <a:ext cx="203911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820" b="1" dirty="0">
                <a:solidFill>
                  <a:srgbClr val="FFFFFF"/>
                </a:solidFill>
              </a:rPr>
              <a:t>abandon</a:t>
            </a:r>
            <a:endParaRPr lang="en-US" sz="820" dirty="0"/>
          </a:p>
        </p:txBody>
      </p:sp>
      <p:sp>
        <p:nvSpPr>
          <p:cNvPr id="37" name="Text 35"/>
          <p:cNvSpPr/>
          <p:nvPr/>
        </p:nvSpPr>
        <p:spPr>
          <a:xfrm>
            <a:off x="6035040" y="5193792"/>
            <a:ext cx="47548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70" dirty="0">
                <a:solidFill>
                  <a:srgbClr val="687385"/>
                </a:solidFill>
              </a:rPr>
              <a:t>Real run examples in the provided deck: 19 regions on a Federal Register page; 15 on a NASA factsheet page.</a:t>
            </a:r>
            <a:endParaRPr lang="en-US" sz="1070" dirty="0"/>
          </a:p>
        </p:txBody>
      </p:sp>
      <p:sp>
        <p:nvSpPr>
          <p:cNvPr id="38" name="Text 36"/>
          <p:cNvSpPr/>
          <p:nvPr/>
        </p:nvSpPr>
        <p:spPr>
          <a:xfrm>
            <a:off x="502920" y="6473952"/>
            <a:ext cx="107899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630" dirty="0">
                <a:solidFill>
                  <a:srgbClr val="7A8493"/>
                </a:solidFill>
              </a:rPr>
              <a:t>Technical reference: DocLayout-YOLO GitHub / paper — https://github.com/opendatalab/DocLayout-YOLO  ·  https://arxiv.org/abs/2410.12628</a:t>
            </a:r>
            <a:endParaRPr lang="en-US" sz="630" dirty="0"/>
          </a:p>
        </p:txBody>
      </p:sp>
      <p:sp>
        <p:nvSpPr>
          <p:cNvPr id="39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612880" y="6510528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650">
                <a:solidFill>
                  <a:srgbClr val="9AA4B2"/>
                </a:solidFill>
                <a:latin typeface="Aptos"/>
                <a:ea typeface="Aptos"/>
                <a:cs typeface="Aptos"/>
              </a:defRPr>
            </a:lvl1pPr>
          </a:lstStyle>
          <a:p>
            <a:pPr algn="l"/>
            <a:fld id="{F7021451-1387-4CA6-816F-3879F97B5CBC}" type="slidenum">
              <a:rPr lang="en-US" b="0"/>
              <a:t>12</a:t>
            </a:fld>
            <a:endParaRPr lang="en-US"/>
          </a:p>
        </p:txBody>
      </p:sp>
    </p:spTree>
  </p:cSld>
  <p:clrMapOvr>
    <a:masterClrMapping/>
  </p:clrMapOvr>
  <p:transition spd="med">
    <p:fade/>
  </p:transition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438912"/>
            <a:ext cx="30175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2F80ED"/>
                </a:solidFill>
              </a:rPr>
              <a:t>STEP 3 OF 7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502920" y="713232"/>
            <a:ext cx="109728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600" b="1" dirty="0">
                <a:solidFill>
                  <a:srgbClr val="172033"/>
                </a:solidFill>
              </a:rPr>
              <a:t>Seeing What the Model Actually Found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02920" y="1261872"/>
            <a:ext cx="107899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250" dirty="0">
                <a:solidFill>
                  <a:srgbClr val="687385"/>
                </a:solidFill>
              </a:rPr>
              <a:t>Draw the raw boxes before extraction. This makes detector mistakes visible before a VLM can hide them.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594360" y="1673352"/>
            <a:ext cx="6446520" cy="4526280"/>
          </a:xfrm>
          <a:prstGeom prst="roundRect">
            <a:avLst>
              <a:gd name="adj" fmla="val 1616"/>
            </a:avLst>
          </a:prstGeom>
          <a:solidFill>
            <a:srgbClr val="FFFFFF"/>
          </a:solidFill>
          <a:ln w="12700">
            <a:solidFill>
              <a:srgbClr val="D8DEE9"/>
            </a:solidFill>
            <a:prstDash val="solid"/>
          </a:ln>
          <a:effectLst>
            <a:outerShdw algn="bl" rotWithShape="0">
              <a:srgbClr val="000000">
                <a:alpha val="0"/>
              </a:srgbClr>
            </a:outerShdw>
          </a:effectLst>
        </p:spPr>
      </p:sp>
      <p:pic>
        <p:nvPicPr>
          <p:cNvPr id="6" name="Image 0" descr="/mnt/data/ocr_layout_nas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58568" y="1847088"/>
            <a:ext cx="3108960" cy="402336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7406640" y="1673352"/>
            <a:ext cx="4160520" cy="4526280"/>
          </a:xfrm>
          <a:prstGeom prst="roundRect">
            <a:avLst>
              <a:gd name="adj" fmla="val 1758"/>
            </a:avLst>
          </a:prstGeom>
          <a:solidFill>
            <a:srgbClr val="F7F9FC"/>
          </a:solidFill>
          <a:ln w="12700">
            <a:solidFill>
              <a:srgbClr val="D8DEE9"/>
            </a:solidFill>
            <a:prstDash val="solid"/>
          </a:ln>
          <a:effectLst>
            <a:outerShdw algn="bl" rotWithShape="0">
              <a:srgbClr val="000000">
                <a:alpha val="0"/>
              </a:srgbClr>
            </a:outerShdw>
          </a:effectLst>
        </p:spPr>
      </p:sp>
      <p:sp>
        <p:nvSpPr>
          <p:cNvPr id="8" name="Shape 5"/>
          <p:cNvSpPr/>
          <p:nvPr/>
        </p:nvSpPr>
        <p:spPr>
          <a:xfrm>
            <a:off x="7754112" y="1993392"/>
            <a:ext cx="1143000" cy="292608"/>
          </a:xfrm>
          <a:prstGeom prst="roundRect">
            <a:avLst>
              <a:gd name="adj" fmla="val 25000"/>
            </a:avLst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7808976" y="2039112"/>
            <a:ext cx="103327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820" b="1" dirty="0">
                <a:solidFill>
                  <a:srgbClr val="FFFFFF"/>
                </a:solidFill>
              </a:rPr>
              <a:t>REAL FINDING</a:t>
            </a:r>
            <a:endParaRPr lang="en-US" sz="820" dirty="0"/>
          </a:p>
        </p:txBody>
      </p:sp>
      <p:sp>
        <p:nvSpPr>
          <p:cNvPr id="10" name="Text 7"/>
          <p:cNvSpPr/>
          <p:nvPr/>
        </p:nvSpPr>
        <p:spPr>
          <a:xfrm>
            <a:off x="7754112" y="2523744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F59E0B"/>
                </a:solidFill>
              </a:rPr>
              <a:t>NASA logo → “abandon”</a:t>
            </a:r>
            <a:endParaRPr lang="en-US" sz="1800" dirty="0"/>
          </a:p>
        </p:txBody>
      </p:sp>
      <p:sp>
        <p:nvSpPr>
          <p:cNvPr id="11" name="Text 8"/>
          <p:cNvSpPr/>
          <p:nvPr/>
        </p:nvSpPr>
        <p:spPr>
          <a:xfrm>
            <a:off x="7754112" y="2999232"/>
            <a:ext cx="3182112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250" dirty="0">
                <a:solidFill>
                  <a:srgbClr val="172033"/>
                </a:solidFill>
              </a:rPr>
              <a:t>The detector correctly finds most of the page — but the top-right NASA logo is classified as page furniture rather than a figure.</a:t>
            </a:r>
            <a:endParaRPr lang="en-US" sz="1250" dirty="0"/>
          </a:p>
        </p:txBody>
      </p:sp>
      <p:sp>
        <p:nvSpPr>
          <p:cNvPr id="12" name="Text 9"/>
          <p:cNvSpPr/>
          <p:nvPr/>
        </p:nvSpPr>
        <p:spPr>
          <a:xfrm>
            <a:off x="7754112" y="4160520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687385"/>
                </a:solidFill>
              </a:rPr>
              <a:t>Why it matters</a:t>
            </a:r>
            <a:endParaRPr lang="en-US" sz="1100" dirty="0"/>
          </a:p>
        </p:txBody>
      </p:sp>
      <p:sp>
        <p:nvSpPr>
          <p:cNvPr id="13" name="Shape 10"/>
          <p:cNvSpPr/>
          <p:nvPr/>
        </p:nvSpPr>
        <p:spPr>
          <a:xfrm>
            <a:off x="7790688" y="4498848"/>
            <a:ext cx="256032" cy="256032"/>
          </a:xfrm>
          <a:prstGeom prst="ellipse">
            <a:avLst/>
          </a:prstGeom>
          <a:solidFill>
            <a:srgbClr val="2F80ED"/>
          </a:solidFill>
          <a:ln w="12700">
            <a:solidFill>
              <a:srgbClr val="2F80ED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7790688" y="4581144"/>
            <a:ext cx="256032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</a:rPr>
              <a:t>✓</a:t>
            </a:r>
            <a:endParaRPr lang="en-US" sz="1400" dirty="0"/>
          </a:p>
        </p:txBody>
      </p:sp>
      <p:sp>
        <p:nvSpPr>
          <p:cNvPr id="15" name="Text 12"/>
          <p:cNvSpPr/>
          <p:nvPr/>
        </p:nvSpPr>
        <p:spPr>
          <a:xfrm>
            <a:off x="8156448" y="4553712"/>
            <a:ext cx="2788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990" dirty="0">
                <a:solidFill>
                  <a:srgbClr val="687385"/>
                </a:solidFill>
              </a:rPr>
              <a:t>It stays traceable in metadata.</a:t>
            </a:r>
            <a:endParaRPr lang="en-US" sz="990" dirty="0"/>
          </a:p>
        </p:txBody>
      </p:sp>
      <p:sp>
        <p:nvSpPr>
          <p:cNvPr id="16" name="Shape 13"/>
          <p:cNvSpPr/>
          <p:nvPr/>
        </p:nvSpPr>
        <p:spPr>
          <a:xfrm>
            <a:off x="7790688" y="4956048"/>
            <a:ext cx="256032" cy="256032"/>
          </a:xfrm>
          <a:prstGeom prst="ellipse">
            <a:avLst/>
          </a:prstGeom>
          <a:solidFill>
            <a:srgbClr val="2F80ED"/>
          </a:solidFill>
          <a:ln w="12700">
            <a:solidFill>
              <a:srgbClr val="2F80ED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7790688" y="5038344"/>
            <a:ext cx="256032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</a:rPr>
              <a:t>✓</a:t>
            </a:r>
            <a:endParaRPr lang="en-US" sz="1400" dirty="0"/>
          </a:p>
        </p:txBody>
      </p:sp>
      <p:sp>
        <p:nvSpPr>
          <p:cNvPr id="18" name="Text 15"/>
          <p:cNvSpPr/>
          <p:nvPr/>
        </p:nvSpPr>
        <p:spPr>
          <a:xfrm>
            <a:off x="8156448" y="5010912"/>
            <a:ext cx="2788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990" dirty="0">
                <a:solidFill>
                  <a:srgbClr val="687385"/>
                </a:solidFill>
              </a:rPr>
              <a:t>It is not silently promoted to body text.</a:t>
            </a:r>
            <a:endParaRPr lang="en-US" sz="990" dirty="0"/>
          </a:p>
        </p:txBody>
      </p:sp>
      <p:sp>
        <p:nvSpPr>
          <p:cNvPr id="19" name="Shape 16"/>
          <p:cNvSpPr/>
          <p:nvPr/>
        </p:nvSpPr>
        <p:spPr>
          <a:xfrm>
            <a:off x="7790688" y="5413248"/>
            <a:ext cx="256032" cy="256032"/>
          </a:xfrm>
          <a:prstGeom prst="ellipse">
            <a:avLst/>
          </a:prstGeom>
          <a:solidFill>
            <a:srgbClr val="2FA36B"/>
          </a:solidFill>
          <a:ln w="12700">
            <a:solidFill>
              <a:srgbClr val="2FA36B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7790688" y="5495544"/>
            <a:ext cx="256032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</a:rPr>
              <a:t>✓</a:t>
            </a:r>
            <a:endParaRPr lang="en-US" sz="1400" dirty="0"/>
          </a:p>
        </p:txBody>
      </p:sp>
      <p:sp>
        <p:nvSpPr>
          <p:cNvPr id="21" name="Text 18"/>
          <p:cNvSpPr/>
          <p:nvPr/>
        </p:nvSpPr>
        <p:spPr>
          <a:xfrm>
            <a:off x="8156448" y="5468112"/>
            <a:ext cx="2788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990" dirty="0">
                <a:solidFill>
                  <a:srgbClr val="687385"/>
                </a:solidFill>
              </a:rPr>
              <a:t>Visualization turns a model error into a teachable observation.</a:t>
            </a:r>
            <a:endParaRPr lang="en-US" sz="990" dirty="0"/>
          </a:p>
        </p:txBody>
      </p:sp>
      <p:sp>
        <p:nvSpPr>
          <p:cNvPr id="22" name="Text 19"/>
          <p:cNvSpPr/>
          <p:nvPr/>
        </p:nvSpPr>
        <p:spPr>
          <a:xfrm>
            <a:off x="502920" y="6473952"/>
            <a:ext cx="107899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630" dirty="0">
                <a:solidFill>
                  <a:srgbClr val="7A8493"/>
                </a:solidFill>
              </a:rPr>
              <a:t>Annotated page image: from the provided Module 1 deck / real pipeline output.</a:t>
            </a:r>
            <a:endParaRPr lang="en-US" sz="63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612880" y="6510528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650">
                <a:solidFill>
                  <a:srgbClr val="9AA4B2"/>
                </a:solidFill>
                <a:latin typeface="Aptos"/>
                <a:ea typeface="Aptos"/>
                <a:cs typeface="Aptos"/>
              </a:defRPr>
            </a:lvl1pPr>
          </a:lstStyle>
          <a:p>
            <a:pPr algn="l"/>
            <a:fld id="{F7021451-1387-4CA6-816F-3879F97B5CBC}" type="slidenum">
              <a:rPr lang="en-US" b="0"/>
              <a:t>13</a:t>
            </a:fld>
            <a:endParaRPr lang="en-US"/>
          </a:p>
        </p:txBody>
      </p:sp>
    </p:spTree>
  </p:cSld>
  <p:clrMapOvr>
    <a:masterClrMapping/>
  </p:clrMapOvr>
  <p:transition spd="med">
    <p:fade/>
  </p:transition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438912"/>
            <a:ext cx="30175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2F80ED"/>
                </a:solidFill>
              </a:rPr>
              <a:t>STEP 4 OF 7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502920" y="713232"/>
            <a:ext cx="109728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600" b="1" dirty="0">
                <a:solidFill>
                  <a:srgbClr val="172033"/>
                </a:solidFill>
              </a:rPr>
              <a:t>The Vision-Language Model — Qwen3.5-0.8B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02920" y="1261872"/>
            <a:ext cx="107899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250" dirty="0">
                <a:solidFill>
                  <a:srgbClr val="687385"/>
                </a:solidFill>
              </a:rPr>
              <a:t>One small local model, three extraction behaviors controlled by prompts.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658368" y="1783080"/>
            <a:ext cx="4114800" cy="3840480"/>
          </a:xfrm>
          <a:prstGeom prst="roundRect">
            <a:avLst>
              <a:gd name="adj" fmla="val 1905"/>
            </a:avLst>
          </a:prstGeom>
          <a:solidFill>
            <a:srgbClr val="EAF3FF"/>
          </a:solidFill>
          <a:ln w="12700">
            <a:solidFill>
              <a:srgbClr val="B7D8FF"/>
            </a:solidFill>
            <a:prstDash val="solid"/>
          </a:ln>
          <a:effectLst>
            <a:outerShdw algn="bl" rotWithShape="0">
              <a:srgbClr val="000000">
                <a:alpha val="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1078992" y="2212848"/>
            <a:ext cx="32461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4600" b="1" dirty="0">
                <a:solidFill>
                  <a:srgbClr val="2F80ED"/>
                </a:solidFill>
              </a:rPr>
              <a:t>0.8B</a:t>
            </a:r>
            <a:endParaRPr lang="en-US" sz="4600" dirty="0"/>
          </a:p>
        </p:txBody>
      </p:sp>
      <p:sp>
        <p:nvSpPr>
          <p:cNvPr id="7" name="Text 5"/>
          <p:cNvSpPr/>
          <p:nvPr/>
        </p:nvSpPr>
        <p:spPr>
          <a:xfrm>
            <a:off x="1234440" y="2834640"/>
            <a:ext cx="2926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687385"/>
                </a:solidFill>
              </a:rPr>
              <a:t>parameters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1188720" y="3383280"/>
            <a:ext cx="3017520" cy="530352"/>
          </a:xfrm>
          <a:prstGeom prst="roundRect">
            <a:avLst>
              <a:gd name="adj" fmla="val 8621"/>
            </a:avLst>
          </a:prstGeom>
          <a:solidFill>
            <a:srgbClr val="FFFFFF"/>
          </a:solidFill>
          <a:ln w="12700">
            <a:solidFill>
              <a:srgbClr val="B7D8FF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353312" y="3566160"/>
            <a:ext cx="2697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172033"/>
                </a:solidFill>
              </a:rPr>
              <a:t>CUDA  →  Apple MPS  →  CPU</a:t>
            </a:r>
            <a:endParaRPr lang="en-US" sz="1150" dirty="0"/>
          </a:p>
        </p:txBody>
      </p:sp>
      <p:sp>
        <p:nvSpPr>
          <p:cNvPr id="10" name="Text 8"/>
          <p:cNvSpPr/>
          <p:nvPr/>
        </p:nvSpPr>
        <p:spPr>
          <a:xfrm>
            <a:off x="1115568" y="4297680"/>
            <a:ext cx="32004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150" dirty="0">
                <a:solidFill>
                  <a:srgbClr val="687385"/>
                </a:solidFill>
              </a:rPr>
              <a:t>Small enough to run locally — and small enough to make useful, inspectable mistakes.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5166360" y="1783080"/>
            <a:ext cx="6126480" cy="3840480"/>
          </a:xfrm>
          <a:prstGeom prst="roundRect">
            <a:avLst>
              <a:gd name="adj" fmla="val 1905"/>
            </a:avLst>
          </a:prstGeom>
          <a:solidFill>
            <a:srgbClr val="FFFFFF"/>
          </a:solidFill>
          <a:ln w="12700">
            <a:solidFill>
              <a:srgbClr val="D8DEE9"/>
            </a:solidFill>
            <a:prstDash val="solid"/>
          </a:ln>
          <a:effectLst>
            <a:outerShdw algn="bl" rotWithShape="0">
              <a:srgbClr val="000000">
                <a:alpha val="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5486400" y="2148840"/>
            <a:ext cx="841248" cy="292608"/>
          </a:xfrm>
          <a:prstGeom prst="roundRect">
            <a:avLst>
              <a:gd name="adj" fmla="val 25000"/>
            </a:avLst>
          </a:prstGeom>
          <a:solidFill>
            <a:srgbClr val="2F80ED"/>
          </a:solidFill>
          <a:ln w="12700">
            <a:solidFill>
              <a:srgbClr val="2F80ED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541264" y="2194560"/>
            <a:ext cx="731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820" b="1" dirty="0">
                <a:solidFill>
                  <a:srgbClr val="FFFFFF"/>
                </a:solidFill>
              </a:rPr>
              <a:t>TEXT</a:t>
            </a:r>
            <a:endParaRPr lang="en-US" sz="820" dirty="0"/>
          </a:p>
        </p:txBody>
      </p:sp>
      <p:sp>
        <p:nvSpPr>
          <p:cNvPr id="14" name="Text 12"/>
          <p:cNvSpPr/>
          <p:nvPr/>
        </p:nvSpPr>
        <p:spPr>
          <a:xfrm>
            <a:off x="6492240" y="2167128"/>
            <a:ext cx="1783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30" b="1" dirty="0">
                <a:solidFill>
                  <a:srgbClr val="172033"/>
                </a:solidFill>
              </a:rPr>
              <a:t>Transcribe exactly</a:t>
            </a:r>
            <a:endParaRPr lang="en-US" sz="1230" dirty="0"/>
          </a:p>
        </p:txBody>
      </p:sp>
      <p:sp>
        <p:nvSpPr>
          <p:cNvPr id="15" name="Text 13"/>
          <p:cNvSpPr/>
          <p:nvPr/>
        </p:nvSpPr>
        <p:spPr>
          <a:xfrm>
            <a:off x="8394192" y="2167128"/>
            <a:ext cx="21488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030" dirty="0">
                <a:solidFill>
                  <a:srgbClr val="687385"/>
                </a:solidFill>
              </a:rPr>
              <a:t>title · paragraph · caption · formula</a:t>
            </a:r>
            <a:endParaRPr lang="en-US" sz="1030" dirty="0"/>
          </a:p>
        </p:txBody>
      </p:sp>
      <p:sp>
        <p:nvSpPr>
          <p:cNvPr id="16" name="Shape 14"/>
          <p:cNvSpPr/>
          <p:nvPr/>
        </p:nvSpPr>
        <p:spPr>
          <a:xfrm>
            <a:off x="5486400" y="3108960"/>
            <a:ext cx="841248" cy="292608"/>
          </a:xfrm>
          <a:prstGeom prst="roundRect">
            <a:avLst>
              <a:gd name="adj" fmla="val 25000"/>
            </a:avLst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541264" y="3154680"/>
            <a:ext cx="731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820" b="1" dirty="0">
                <a:solidFill>
                  <a:srgbClr val="FFFFFF"/>
                </a:solidFill>
              </a:rPr>
              <a:t>TABLE</a:t>
            </a:r>
            <a:endParaRPr lang="en-US" sz="820" dirty="0"/>
          </a:p>
        </p:txBody>
      </p:sp>
      <p:sp>
        <p:nvSpPr>
          <p:cNvPr id="18" name="Text 16"/>
          <p:cNvSpPr/>
          <p:nvPr/>
        </p:nvSpPr>
        <p:spPr>
          <a:xfrm>
            <a:off x="6492240" y="3127248"/>
            <a:ext cx="1783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30" b="1" dirty="0">
                <a:solidFill>
                  <a:srgbClr val="172033"/>
                </a:solidFill>
              </a:rPr>
              <a:t>Image → HTML</a:t>
            </a:r>
            <a:endParaRPr lang="en-US" sz="1230" dirty="0"/>
          </a:p>
        </p:txBody>
      </p:sp>
      <p:sp>
        <p:nvSpPr>
          <p:cNvPr id="19" name="Text 17"/>
          <p:cNvSpPr/>
          <p:nvPr/>
        </p:nvSpPr>
        <p:spPr>
          <a:xfrm>
            <a:off x="8394192" y="3127248"/>
            <a:ext cx="21488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030" dirty="0">
                <a:solidFill>
                  <a:srgbClr val="687385"/>
                </a:solidFill>
              </a:rPr>
              <a:t>rows · columns · headers</a:t>
            </a:r>
            <a:endParaRPr lang="en-US" sz="1030" dirty="0"/>
          </a:p>
        </p:txBody>
      </p:sp>
      <p:sp>
        <p:nvSpPr>
          <p:cNvPr id="20" name="Shape 18"/>
          <p:cNvSpPr/>
          <p:nvPr/>
        </p:nvSpPr>
        <p:spPr>
          <a:xfrm>
            <a:off x="5486400" y="4069080"/>
            <a:ext cx="841248" cy="292608"/>
          </a:xfrm>
          <a:prstGeom prst="roundRect">
            <a:avLst>
              <a:gd name="adj" fmla="val 25000"/>
            </a:avLst>
          </a:prstGeom>
          <a:solidFill>
            <a:srgbClr val="2FA36B"/>
          </a:solidFill>
          <a:ln w="12700">
            <a:solidFill>
              <a:srgbClr val="2FA36B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5541264" y="4114800"/>
            <a:ext cx="731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820" b="1" dirty="0">
                <a:solidFill>
                  <a:srgbClr val="FFFFFF"/>
                </a:solidFill>
              </a:rPr>
              <a:t>FIGURE</a:t>
            </a:r>
            <a:endParaRPr lang="en-US" sz="820" dirty="0"/>
          </a:p>
        </p:txBody>
      </p:sp>
      <p:sp>
        <p:nvSpPr>
          <p:cNvPr id="22" name="Text 20"/>
          <p:cNvSpPr/>
          <p:nvPr/>
        </p:nvSpPr>
        <p:spPr>
          <a:xfrm>
            <a:off x="6492240" y="4087368"/>
            <a:ext cx="1783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30" b="1" dirty="0">
                <a:solidFill>
                  <a:srgbClr val="172033"/>
                </a:solidFill>
              </a:rPr>
              <a:t>Classify + describe</a:t>
            </a:r>
            <a:endParaRPr lang="en-US" sz="1230" dirty="0"/>
          </a:p>
        </p:txBody>
      </p:sp>
      <p:sp>
        <p:nvSpPr>
          <p:cNvPr id="23" name="Text 21"/>
          <p:cNvSpPr/>
          <p:nvPr/>
        </p:nvSpPr>
        <p:spPr>
          <a:xfrm>
            <a:off x="8394192" y="4087368"/>
            <a:ext cx="21488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030" dirty="0">
                <a:solidFill>
                  <a:srgbClr val="687385"/>
                </a:solidFill>
              </a:rPr>
              <a:t>chart · photo · logo · signature</a:t>
            </a:r>
            <a:endParaRPr lang="en-US" sz="1030" dirty="0"/>
          </a:p>
        </p:txBody>
      </p:sp>
      <p:sp>
        <p:nvSpPr>
          <p:cNvPr id="24" name="Shape 22"/>
          <p:cNvSpPr/>
          <p:nvPr/>
        </p:nvSpPr>
        <p:spPr>
          <a:xfrm>
            <a:off x="5596128" y="5074920"/>
            <a:ext cx="5148072" cy="411480"/>
          </a:xfrm>
          <a:prstGeom prst="roundRect">
            <a:avLst>
              <a:gd name="adj" fmla="val 8889"/>
            </a:avLst>
          </a:prstGeom>
          <a:solidFill>
            <a:srgbClr val="FFF6D6"/>
          </a:solidFill>
          <a:ln w="12700">
            <a:solidFill>
              <a:srgbClr val="F2D675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5852160" y="5212080"/>
            <a:ext cx="46177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7A5A00"/>
                </a:solidFill>
              </a:rPr>
              <a:t>Same model, different prompt = different structured task.</a:t>
            </a:r>
            <a:endParaRPr lang="en-US" sz="1150" dirty="0"/>
          </a:p>
        </p:txBody>
      </p:sp>
      <p:sp>
        <p:nvSpPr>
          <p:cNvPr id="26" name="Text 24"/>
          <p:cNvSpPr/>
          <p:nvPr/>
        </p:nvSpPr>
        <p:spPr>
          <a:xfrm>
            <a:off x="502920" y="6473952"/>
            <a:ext cx="107899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630" dirty="0">
                <a:solidFill>
                  <a:srgbClr val="7A8493"/>
                </a:solidFill>
              </a:rPr>
              <a:t>Technical reference: Qwen/Qwen3.5-0.8B model card — https://huggingface.co/Qwen/Qwen3.5-0.8B</a:t>
            </a:r>
            <a:endParaRPr lang="en-US" sz="630" dirty="0"/>
          </a:p>
        </p:txBody>
      </p:sp>
      <p:sp>
        <p:nvSpPr>
          <p:cNvPr id="27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612880" y="6510528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650">
                <a:solidFill>
                  <a:srgbClr val="9AA4B2"/>
                </a:solidFill>
                <a:latin typeface="Aptos"/>
                <a:ea typeface="Aptos"/>
                <a:cs typeface="Aptos"/>
              </a:defRPr>
            </a:lvl1pPr>
          </a:lstStyle>
          <a:p>
            <a:pPr algn="l"/>
            <a:fld id="{F7021451-1387-4CA6-816F-3879F97B5CBC}" type="slidenum">
              <a:rPr lang="en-US" b="0"/>
              <a:t>14</a:t>
            </a:fld>
            <a:endParaRPr lang="en-US"/>
          </a:p>
        </p:txBody>
      </p:sp>
    </p:spTree>
  </p:cSld>
  <p:clrMapOvr>
    <a:masterClrMapping/>
  </p:clrMapOvr>
  <p:transition spd="med">
    <p:fade/>
  </p:transition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438912"/>
            <a:ext cx="30175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2F80ED"/>
                </a:solidFill>
              </a:rPr>
              <a:t>THE ACTUAL PROMPTS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502920" y="713232"/>
            <a:ext cx="109728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600" b="1" dirty="0">
                <a:solidFill>
                  <a:srgbClr val="172033"/>
                </a:solidFill>
              </a:rPr>
              <a:t>Prompt 1 of 3 — Plain Text / Title / Caption / Formula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02920" y="1261872"/>
            <a:ext cx="107899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250" dirty="0">
                <a:solidFill>
                  <a:srgbClr val="687385"/>
                </a:solidFill>
              </a:rPr>
              <a:t>One strict transcription prompt covers every text-bearing region class.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777240" y="1874520"/>
            <a:ext cx="6720840" cy="1965960"/>
          </a:xfrm>
          <a:prstGeom prst="roundRect">
            <a:avLst>
              <a:gd name="adj" fmla="val 1860"/>
            </a:avLst>
          </a:prstGeom>
          <a:solidFill>
            <a:srgbClr val="171827"/>
          </a:solidFill>
          <a:ln w="12700">
            <a:solidFill>
              <a:srgbClr val="25273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41832" y="2020824"/>
            <a:ext cx="6391656" cy="1709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500" dirty="0">
                <a:solidFill>
                  <a:srgbClr val="D7F7D3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Transcribe all text in this image exactly as written.</a:t>
            </a:r>
            <a:endParaRPr lang="en-US" sz="1500" dirty="0"/>
          </a:p>
          <a:p>
            <a:pPr marL="0" indent="0">
              <a:buNone/>
            </a:pPr>
            <a:r>
              <a:rPr lang="en-US" sz="1500" dirty="0">
                <a:solidFill>
                  <a:srgbClr val="D7F7D3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Return plain text only, no commentary, no markdown formatting.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7818120" y="1874520"/>
            <a:ext cx="3566160" cy="1965960"/>
          </a:xfrm>
          <a:prstGeom prst="roundRect">
            <a:avLst>
              <a:gd name="adj" fmla="val 3721"/>
            </a:avLst>
          </a:prstGeom>
          <a:solidFill>
            <a:srgbClr val="F7F9FC"/>
          </a:solidFill>
          <a:ln w="12700">
            <a:solidFill>
              <a:srgbClr val="D8DEE9"/>
            </a:solidFill>
            <a:prstDash val="solid"/>
          </a:ln>
          <a:effectLst>
            <a:outerShdw algn="bl" rotWithShape="0">
              <a:srgbClr val="000000">
                <a:alpha val="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8119872" y="2194560"/>
            <a:ext cx="29443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687385"/>
                </a:solidFill>
              </a:rPr>
              <a:t>INPUT REGION TYPES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8165592" y="2697480"/>
            <a:ext cx="1207008" cy="292608"/>
          </a:xfrm>
          <a:prstGeom prst="roundRect">
            <a:avLst>
              <a:gd name="adj" fmla="val 25000"/>
            </a:avLst>
          </a:prstGeom>
          <a:solidFill>
            <a:srgbClr val="E45757"/>
          </a:solidFill>
          <a:ln w="12700">
            <a:solidFill>
              <a:srgbClr val="E4575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220456" y="2743200"/>
            <a:ext cx="10972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820" b="1" dirty="0">
                <a:solidFill>
                  <a:srgbClr val="FFFFFF"/>
                </a:solidFill>
              </a:rPr>
              <a:t>title</a:t>
            </a:r>
            <a:endParaRPr lang="en-US" sz="820" dirty="0"/>
          </a:p>
        </p:txBody>
      </p:sp>
      <p:sp>
        <p:nvSpPr>
          <p:cNvPr id="11" name="Shape 9"/>
          <p:cNvSpPr/>
          <p:nvPr/>
        </p:nvSpPr>
        <p:spPr>
          <a:xfrm>
            <a:off x="9582912" y="2697480"/>
            <a:ext cx="1207008" cy="292608"/>
          </a:xfrm>
          <a:prstGeom prst="roundRect">
            <a:avLst>
              <a:gd name="adj" fmla="val 25000"/>
            </a:avLst>
          </a:prstGeom>
          <a:solidFill>
            <a:srgbClr val="2F80ED"/>
          </a:solidFill>
          <a:ln w="12700">
            <a:solidFill>
              <a:srgbClr val="2F80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9637776" y="2743200"/>
            <a:ext cx="10972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820" b="1" dirty="0">
                <a:solidFill>
                  <a:srgbClr val="FFFFFF"/>
                </a:solidFill>
              </a:rPr>
              <a:t>plain text</a:t>
            </a:r>
            <a:endParaRPr lang="en-US" sz="820" dirty="0"/>
          </a:p>
        </p:txBody>
      </p:sp>
      <p:sp>
        <p:nvSpPr>
          <p:cNvPr id="13" name="Shape 11"/>
          <p:cNvSpPr/>
          <p:nvPr/>
        </p:nvSpPr>
        <p:spPr>
          <a:xfrm>
            <a:off x="8165592" y="3200400"/>
            <a:ext cx="1207008" cy="292608"/>
          </a:xfrm>
          <a:prstGeom prst="roundRect">
            <a:avLst>
              <a:gd name="adj" fmla="val 250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220456" y="3246120"/>
            <a:ext cx="10972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820" b="1" dirty="0">
                <a:solidFill>
                  <a:srgbClr val="FFFFFF"/>
                </a:solidFill>
              </a:rPr>
              <a:t>caption</a:t>
            </a:r>
            <a:endParaRPr lang="en-US" sz="820" dirty="0"/>
          </a:p>
        </p:txBody>
      </p:sp>
      <p:sp>
        <p:nvSpPr>
          <p:cNvPr id="15" name="Shape 13"/>
          <p:cNvSpPr/>
          <p:nvPr/>
        </p:nvSpPr>
        <p:spPr>
          <a:xfrm>
            <a:off x="9582912" y="3200400"/>
            <a:ext cx="1207008" cy="292608"/>
          </a:xfrm>
          <a:prstGeom prst="roundRect">
            <a:avLst>
              <a:gd name="adj" fmla="val 25000"/>
            </a:avLst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637776" y="3246120"/>
            <a:ext cx="10972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820" b="1" dirty="0">
                <a:solidFill>
                  <a:srgbClr val="FFFFFF"/>
                </a:solidFill>
              </a:rPr>
              <a:t>formula</a:t>
            </a:r>
            <a:endParaRPr lang="en-US" sz="820" dirty="0"/>
          </a:p>
        </p:txBody>
      </p:sp>
      <p:sp>
        <p:nvSpPr>
          <p:cNvPr id="17" name="Shape 15"/>
          <p:cNvSpPr/>
          <p:nvPr/>
        </p:nvSpPr>
        <p:spPr>
          <a:xfrm>
            <a:off x="4023360" y="4069080"/>
            <a:ext cx="0" cy="612648"/>
          </a:xfrm>
          <a:prstGeom prst="line">
            <a:avLst/>
          </a:prstGeom>
          <a:noFill/>
          <a:ln w="25400">
            <a:solidFill>
              <a:srgbClr val="2F80ED"/>
            </a:solidFill>
            <a:prstDash val="solid"/>
            <a:headEnd type="none"/>
            <a:tailEnd type="triangle"/>
          </a:ln>
        </p:spPr>
      </p:sp>
      <p:sp>
        <p:nvSpPr>
          <p:cNvPr id="18" name="Shape 16"/>
          <p:cNvSpPr/>
          <p:nvPr/>
        </p:nvSpPr>
        <p:spPr>
          <a:xfrm>
            <a:off x="2011680" y="4754880"/>
            <a:ext cx="4069080" cy="594360"/>
          </a:xfrm>
          <a:prstGeom prst="roundRect">
            <a:avLst>
              <a:gd name="adj" fmla="val 6154"/>
            </a:avLst>
          </a:prstGeom>
          <a:solidFill>
            <a:srgbClr val="EAF3FF"/>
          </a:solidFill>
          <a:ln w="12700">
            <a:solidFill>
              <a:srgbClr val="B7D8FF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2468880" y="4956048"/>
            <a:ext cx="31546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2F80ED"/>
                </a:solidFill>
              </a:rPr>
              <a:t>OUTPUT: plain text only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612880" y="6510528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650">
                <a:solidFill>
                  <a:srgbClr val="9AA4B2"/>
                </a:solidFill>
                <a:latin typeface="Aptos"/>
                <a:ea typeface="Aptos"/>
                <a:cs typeface="Aptos"/>
              </a:defRPr>
            </a:lvl1pPr>
          </a:lstStyle>
          <a:p>
            <a:pPr algn="l"/>
            <a:fld id="{F7021451-1387-4CA6-816F-3879F97B5CBC}" type="slidenum">
              <a:rPr lang="en-US" b="0"/>
              <a:t>15</a:t>
            </a:fld>
            <a:endParaRPr lang="en-US"/>
          </a:p>
        </p:txBody>
      </p:sp>
    </p:spTree>
  </p:cSld>
  <p:clrMapOvr>
    <a:masterClrMapping/>
  </p:clrMapOvr>
  <p:transition spd="med">
    <p:fade/>
  </p:transition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438912"/>
            <a:ext cx="30175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2F80ED"/>
                </a:solidFill>
              </a:rPr>
              <a:t>THE ACTUAL PROMPTS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502920" y="713232"/>
            <a:ext cx="109728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600" b="1" dirty="0">
                <a:solidFill>
                  <a:srgbClr val="172033"/>
                </a:solidFill>
              </a:rPr>
              <a:t>Prompt 2 of 3 — Table → HTML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02920" y="1261872"/>
            <a:ext cx="107899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250" dirty="0">
                <a:solidFill>
                  <a:srgbClr val="687385"/>
                </a:solidFill>
              </a:rPr>
              <a:t>Preserve table structure so the markdown contains a real table, not a wall of numbers.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777240" y="1874520"/>
            <a:ext cx="6217920" cy="2240280"/>
          </a:xfrm>
          <a:prstGeom prst="roundRect">
            <a:avLst>
              <a:gd name="adj" fmla="val 1633"/>
            </a:avLst>
          </a:prstGeom>
          <a:solidFill>
            <a:srgbClr val="171827"/>
          </a:solidFill>
          <a:ln w="12700">
            <a:solidFill>
              <a:srgbClr val="25273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41832" y="2020824"/>
            <a:ext cx="5888736" cy="19842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250" dirty="0">
                <a:solidFill>
                  <a:srgbClr val="D7F7D3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Convert this table image into a single valid HTML &lt;table&gt; element, preserving all rows, columns and header cells. Return only the HTML markup, no markdown code fences, no commentary.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7452360" y="1874520"/>
            <a:ext cx="3886200" cy="3246120"/>
          </a:xfrm>
          <a:prstGeom prst="roundRect">
            <a:avLst>
              <a:gd name="adj" fmla="val 2254"/>
            </a:avLst>
          </a:prstGeom>
          <a:solidFill>
            <a:srgbClr val="FFFFFF"/>
          </a:solidFill>
          <a:ln w="12700">
            <a:solidFill>
              <a:srgbClr val="D8DEE9"/>
            </a:solidFill>
            <a:prstDash val="solid"/>
          </a:ln>
          <a:effectLst>
            <a:outerShdw algn="bl" rotWithShape="0">
              <a:srgbClr val="000000">
                <a:alpha val="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7772400" y="2148840"/>
            <a:ext cx="3246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687385"/>
                </a:solidFill>
              </a:rPr>
              <a:t>TABLE IMAGE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7909560" y="2697480"/>
            <a:ext cx="960120" cy="384048"/>
          </a:xfrm>
          <a:prstGeom prst="rect">
            <a:avLst/>
          </a:prstGeom>
          <a:solidFill>
            <a:srgbClr val="EAF3FF"/>
          </a:solidFill>
          <a:ln w="8890">
            <a:solidFill>
              <a:srgbClr val="D8DEE9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8915400" y="2697480"/>
            <a:ext cx="960120" cy="384048"/>
          </a:xfrm>
          <a:prstGeom prst="rect">
            <a:avLst/>
          </a:prstGeom>
          <a:solidFill>
            <a:srgbClr val="EAF3FF"/>
          </a:solidFill>
          <a:ln w="8890">
            <a:solidFill>
              <a:srgbClr val="D8DEE9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9921240" y="2697480"/>
            <a:ext cx="960120" cy="384048"/>
          </a:xfrm>
          <a:prstGeom prst="rect">
            <a:avLst/>
          </a:prstGeom>
          <a:solidFill>
            <a:srgbClr val="EAF3FF"/>
          </a:solidFill>
          <a:ln w="8890">
            <a:solidFill>
              <a:srgbClr val="D8DEE9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909560" y="3136392"/>
            <a:ext cx="960120" cy="384048"/>
          </a:xfrm>
          <a:prstGeom prst="rect">
            <a:avLst/>
          </a:prstGeom>
          <a:solidFill>
            <a:srgbClr val="FFFFFF"/>
          </a:solidFill>
          <a:ln w="8890">
            <a:solidFill>
              <a:srgbClr val="D8DEE9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8915400" y="3136392"/>
            <a:ext cx="960120" cy="384048"/>
          </a:xfrm>
          <a:prstGeom prst="rect">
            <a:avLst/>
          </a:prstGeom>
          <a:solidFill>
            <a:srgbClr val="FFFFFF"/>
          </a:solidFill>
          <a:ln w="8890">
            <a:solidFill>
              <a:srgbClr val="D8DEE9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9921240" y="3136392"/>
            <a:ext cx="960120" cy="384048"/>
          </a:xfrm>
          <a:prstGeom prst="rect">
            <a:avLst/>
          </a:prstGeom>
          <a:solidFill>
            <a:srgbClr val="FFFFFF"/>
          </a:solidFill>
          <a:ln w="8890">
            <a:solidFill>
              <a:srgbClr val="D8DEE9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909560" y="3575304"/>
            <a:ext cx="960120" cy="384048"/>
          </a:xfrm>
          <a:prstGeom prst="rect">
            <a:avLst/>
          </a:prstGeom>
          <a:solidFill>
            <a:srgbClr val="FFFFFF"/>
          </a:solidFill>
          <a:ln w="8890">
            <a:solidFill>
              <a:srgbClr val="D8DEE9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8915400" y="3575304"/>
            <a:ext cx="960120" cy="384048"/>
          </a:xfrm>
          <a:prstGeom prst="rect">
            <a:avLst/>
          </a:prstGeom>
          <a:solidFill>
            <a:srgbClr val="FFFFFF"/>
          </a:solidFill>
          <a:ln w="8890">
            <a:solidFill>
              <a:srgbClr val="D8DEE9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9921240" y="3575304"/>
            <a:ext cx="960120" cy="384048"/>
          </a:xfrm>
          <a:prstGeom prst="rect">
            <a:avLst/>
          </a:prstGeom>
          <a:solidFill>
            <a:srgbClr val="FFFFFF"/>
          </a:solidFill>
          <a:ln w="8890">
            <a:solidFill>
              <a:srgbClr val="D8DEE9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909560" y="4014216"/>
            <a:ext cx="960120" cy="384048"/>
          </a:xfrm>
          <a:prstGeom prst="rect">
            <a:avLst/>
          </a:prstGeom>
          <a:solidFill>
            <a:srgbClr val="FFFFFF"/>
          </a:solidFill>
          <a:ln w="8890">
            <a:solidFill>
              <a:srgbClr val="D8DEE9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8915400" y="4014216"/>
            <a:ext cx="960120" cy="384048"/>
          </a:xfrm>
          <a:prstGeom prst="rect">
            <a:avLst/>
          </a:prstGeom>
          <a:solidFill>
            <a:srgbClr val="FFFFFF"/>
          </a:solidFill>
          <a:ln w="8890">
            <a:solidFill>
              <a:srgbClr val="D8DEE9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9921240" y="4014216"/>
            <a:ext cx="960120" cy="384048"/>
          </a:xfrm>
          <a:prstGeom prst="rect">
            <a:avLst/>
          </a:prstGeom>
          <a:solidFill>
            <a:srgbClr val="FFFFFF"/>
          </a:solidFill>
          <a:ln w="8890">
            <a:solidFill>
              <a:srgbClr val="D8DEE9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7909560" y="2798064"/>
            <a:ext cx="9601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2F80ED"/>
                </a:solidFill>
              </a:rPr>
              <a:t>A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8915400" y="2798064"/>
            <a:ext cx="9601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2F80ED"/>
                </a:solidFill>
              </a:rPr>
              <a:t>B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9921240" y="2798064"/>
            <a:ext cx="9601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2F80ED"/>
                </a:solidFill>
              </a:rPr>
              <a:t>C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8001000" y="4599432"/>
            <a:ext cx="3063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59E0B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&lt;table&gt;…&lt;/table&gt;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612880" y="6510528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650">
                <a:solidFill>
                  <a:srgbClr val="9AA4B2"/>
                </a:solidFill>
                <a:latin typeface="Aptos"/>
                <a:ea typeface="Aptos"/>
                <a:cs typeface="Aptos"/>
              </a:defRPr>
            </a:lvl1pPr>
          </a:lstStyle>
          <a:p>
            <a:pPr algn="l"/>
            <a:fld id="{F7021451-1387-4CA6-816F-3879F97B5CBC}" type="slidenum">
              <a:rPr lang="en-US" b="0"/>
              <a:t>16</a:t>
            </a:fld>
            <a:endParaRPr lang="en-US"/>
          </a:p>
        </p:txBody>
      </p:sp>
    </p:spTree>
  </p:cSld>
  <p:clrMapOvr>
    <a:masterClrMapping/>
  </p:clrMapOvr>
  <p:transition spd="med">
    <p:fade/>
  </p:transition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438912"/>
            <a:ext cx="30175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2F80ED"/>
                </a:solidFill>
              </a:rPr>
              <a:t>THE ACTUAL PROMPTS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502920" y="713232"/>
            <a:ext cx="109728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600" b="1" dirty="0">
                <a:solidFill>
                  <a:srgbClr val="172033"/>
                </a:solidFill>
              </a:rPr>
              <a:t>Prompt 3 of 3 — Figure Classify + Describe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02920" y="1261872"/>
            <a:ext cx="107899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250" dirty="0">
                <a:solidFill>
                  <a:srgbClr val="687385"/>
                </a:solidFill>
              </a:rPr>
              <a:t>The returned TYPE controls routing; the description becomes useful body context for content figures.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777240" y="1874520"/>
            <a:ext cx="5669280" cy="2788920"/>
          </a:xfrm>
          <a:prstGeom prst="roundRect">
            <a:avLst>
              <a:gd name="adj" fmla="val 1311"/>
            </a:avLst>
          </a:prstGeom>
          <a:solidFill>
            <a:srgbClr val="171827"/>
          </a:solidFill>
          <a:ln w="12700">
            <a:solidFill>
              <a:srgbClr val="25273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41832" y="2020824"/>
            <a:ext cx="5340096" cy="25328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250" dirty="0">
                <a:solidFill>
                  <a:srgbClr val="D7F7D3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Classify it as exactly one of: chart, photo, diagram, logo, signature, stamp_seal, other.</a:t>
            </a:r>
            <a:endParaRPr lang="en-US" sz="1250" dirty="0"/>
          </a:p>
          <a:p>
            <a:pPr marL="0" indent="0">
              <a:buNone/>
            </a:pPr>
            <a:endParaRPr lang="en-US" sz="1250" dirty="0"/>
          </a:p>
          <a:p>
            <a:pPr marL="0" indent="0">
              <a:buNone/>
            </a:pPr>
            <a:r>
              <a:rPr lang="en-US" sz="1250" dirty="0">
                <a:solidFill>
                  <a:srgbClr val="D7F7D3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Reply in exactly this format:</a:t>
            </a:r>
            <a:endParaRPr lang="en-US" sz="1250" dirty="0"/>
          </a:p>
          <a:p>
            <a:pPr marL="0" indent="0">
              <a:buNone/>
            </a:pPr>
            <a:r>
              <a:rPr lang="en-US" sz="1250" dirty="0">
                <a:solidFill>
                  <a:srgbClr val="D7F7D3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TYPE: &lt;type&gt;</a:t>
            </a:r>
            <a:endParaRPr lang="en-US" sz="1250" dirty="0"/>
          </a:p>
          <a:p>
            <a:pPr marL="0" indent="0">
              <a:buNone/>
            </a:pPr>
            <a:r>
              <a:rPr lang="en-US" sz="1250" dirty="0">
                <a:solidFill>
                  <a:srgbClr val="D7F7D3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DESCRIPTION: &lt;description&gt;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6858000" y="1874520"/>
            <a:ext cx="4526280" cy="2788920"/>
          </a:xfrm>
          <a:prstGeom prst="roundRect">
            <a:avLst>
              <a:gd name="adj" fmla="val 2623"/>
            </a:avLst>
          </a:prstGeom>
          <a:solidFill>
            <a:srgbClr val="F7F9FC"/>
          </a:solidFill>
          <a:ln w="12700">
            <a:solidFill>
              <a:srgbClr val="D8DEE9"/>
            </a:solidFill>
            <a:prstDash val="solid"/>
          </a:ln>
          <a:effectLst>
            <a:outerShdw algn="bl" rotWithShape="0">
              <a:srgbClr val="000000">
                <a:alpha val="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7178040" y="2176272"/>
            <a:ext cx="3886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72033"/>
                </a:solidFill>
              </a:rPr>
              <a:t>TYPE → ROUTING DECISION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7269480" y="2724912"/>
            <a:ext cx="1965960" cy="292608"/>
          </a:xfrm>
          <a:prstGeom prst="roundRect">
            <a:avLst>
              <a:gd name="adj" fmla="val 25000"/>
            </a:avLst>
          </a:prstGeom>
          <a:solidFill>
            <a:srgbClr val="2FA36B"/>
          </a:solidFill>
          <a:ln w="12700">
            <a:solidFill>
              <a:srgbClr val="2FA36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324344" y="2770632"/>
            <a:ext cx="185623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820" b="1" dirty="0">
                <a:solidFill>
                  <a:srgbClr val="FFFFFF"/>
                </a:solidFill>
              </a:rPr>
              <a:t>chart / photo / diagram</a:t>
            </a:r>
            <a:endParaRPr lang="en-US" sz="820" dirty="0"/>
          </a:p>
        </p:txBody>
      </p:sp>
      <p:sp>
        <p:nvSpPr>
          <p:cNvPr id="11" name="Shape 9"/>
          <p:cNvSpPr/>
          <p:nvPr/>
        </p:nvSpPr>
        <p:spPr>
          <a:xfrm>
            <a:off x="9326880" y="2871216"/>
            <a:ext cx="457200" cy="0"/>
          </a:xfrm>
          <a:prstGeom prst="line">
            <a:avLst/>
          </a:prstGeom>
          <a:noFill/>
          <a:ln w="21590">
            <a:solidFill>
              <a:srgbClr val="A8B2C1"/>
            </a:solidFill>
            <a:prstDash val="solid"/>
            <a:headEnd type="none"/>
            <a:tailEnd type="triangle"/>
          </a:ln>
        </p:spPr>
      </p:sp>
      <p:sp>
        <p:nvSpPr>
          <p:cNvPr id="12" name="Text 10"/>
          <p:cNvSpPr/>
          <p:nvPr/>
        </p:nvSpPr>
        <p:spPr>
          <a:xfrm>
            <a:off x="9893808" y="2788920"/>
            <a:ext cx="8686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2FA36B"/>
                </a:solidFill>
              </a:rPr>
              <a:t>BODY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7269480" y="3291840"/>
            <a:ext cx="1965960" cy="292608"/>
          </a:xfrm>
          <a:prstGeom prst="roundRect">
            <a:avLst>
              <a:gd name="adj" fmla="val 250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324344" y="3337560"/>
            <a:ext cx="185623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820" b="1" dirty="0">
                <a:solidFill>
                  <a:srgbClr val="FFFFFF"/>
                </a:solidFill>
              </a:rPr>
              <a:t>logo / signature / stamp</a:t>
            </a:r>
            <a:endParaRPr lang="en-US" sz="820" dirty="0"/>
          </a:p>
        </p:txBody>
      </p:sp>
      <p:sp>
        <p:nvSpPr>
          <p:cNvPr id="15" name="Shape 13"/>
          <p:cNvSpPr/>
          <p:nvPr/>
        </p:nvSpPr>
        <p:spPr>
          <a:xfrm>
            <a:off x="9326880" y="3438144"/>
            <a:ext cx="457200" cy="0"/>
          </a:xfrm>
          <a:prstGeom prst="line">
            <a:avLst/>
          </a:prstGeom>
          <a:noFill/>
          <a:ln w="21590">
            <a:solidFill>
              <a:srgbClr val="A8B2C1"/>
            </a:solidFill>
            <a:prstDash val="solid"/>
            <a:headEnd type="none"/>
            <a:tailEnd type="triangle"/>
          </a:ln>
        </p:spPr>
      </p:sp>
      <p:sp>
        <p:nvSpPr>
          <p:cNvPr id="16" name="Text 14"/>
          <p:cNvSpPr/>
          <p:nvPr/>
        </p:nvSpPr>
        <p:spPr>
          <a:xfrm>
            <a:off x="9893808" y="3355848"/>
            <a:ext cx="8686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7C3AED"/>
                </a:solidFill>
              </a:rPr>
              <a:t>METADATA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7269480" y="3858768"/>
            <a:ext cx="1965960" cy="292608"/>
          </a:xfrm>
          <a:prstGeom prst="roundRect">
            <a:avLst>
              <a:gd name="adj" fmla="val 25000"/>
            </a:avLst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324344" y="3904488"/>
            <a:ext cx="185623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820" b="1" dirty="0">
                <a:solidFill>
                  <a:srgbClr val="FFFFFF"/>
                </a:solidFill>
              </a:rPr>
              <a:t>other</a:t>
            </a:r>
            <a:endParaRPr lang="en-US" sz="820" dirty="0"/>
          </a:p>
        </p:txBody>
      </p:sp>
      <p:sp>
        <p:nvSpPr>
          <p:cNvPr id="19" name="Shape 17"/>
          <p:cNvSpPr/>
          <p:nvPr/>
        </p:nvSpPr>
        <p:spPr>
          <a:xfrm>
            <a:off x="9326880" y="4005072"/>
            <a:ext cx="457200" cy="0"/>
          </a:xfrm>
          <a:prstGeom prst="line">
            <a:avLst/>
          </a:prstGeom>
          <a:noFill/>
          <a:ln w="21590">
            <a:solidFill>
              <a:srgbClr val="A8B2C1"/>
            </a:solidFill>
            <a:prstDash val="solid"/>
            <a:headEnd type="none"/>
            <a:tailEnd type="triangle"/>
          </a:ln>
        </p:spPr>
      </p:sp>
      <p:sp>
        <p:nvSpPr>
          <p:cNvPr id="20" name="Text 18"/>
          <p:cNvSpPr/>
          <p:nvPr/>
        </p:nvSpPr>
        <p:spPr>
          <a:xfrm>
            <a:off x="9893808" y="3922776"/>
            <a:ext cx="8686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F59E0B"/>
                </a:solidFill>
              </a:rPr>
              <a:t>REVIEW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7205472" y="4956048"/>
            <a:ext cx="3840480" cy="475488"/>
          </a:xfrm>
          <a:prstGeom prst="roundRect">
            <a:avLst>
              <a:gd name="adj" fmla="val 7692"/>
            </a:avLst>
          </a:prstGeom>
          <a:solidFill>
            <a:srgbClr val="EAF3FF"/>
          </a:solidFill>
          <a:ln w="12700">
            <a:solidFill>
              <a:srgbClr val="B7D8FF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424928" y="5111496"/>
            <a:ext cx="340156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2F80ED"/>
                </a:solidFill>
              </a:rPr>
              <a:t>One inference call → both classification and description.</a:t>
            </a:r>
            <a:endParaRPr lang="en-US" sz="10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612880" y="6510528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650">
                <a:solidFill>
                  <a:srgbClr val="9AA4B2"/>
                </a:solidFill>
                <a:latin typeface="Aptos"/>
                <a:ea typeface="Aptos"/>
                <a:cs typeface="Aptos"/>
              </a:defRPr>
            </a:lvl1pPr>
          </a:lstStyle>
          <a:p>
            <a:pPr algn="l"/>
            <a:fld id="{F7021451-1387-4CA6-816F-3879F97B5CBC}" type="slidenum">
              <a:rPr lang="en-US" b="0"/>
              <a:t>17</a:t>
            </a:fld>
            <a:endParaRPr lang="en-US"/>
          </a:p>
        </p:txBody>
      </p:sp>
    </p:spTree>
  </p:cSld>
  <p:clrMapOvr>
    <a:masterClrMapping/>
  </p:clrMapOvr>
  <p:transition spd="med">
    <p:fade/>
  </p:transition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438912"/>
            <a:ext cx="30175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2F80ED"/>
                </a:solidFill>
              </a:rPr>
              <a:t>REAL FINDING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502920" y="713232"/>
            <a:ext cx="109728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600" b="1" dirty="0">
                <a:solidFill>
                  <a:srgbClr val="172033"/>
                </a:solidFill>
              </a:rPr>
              <a:t>Small Models Don’t Always Follow Instructions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02920" y="1261872"/>
            <a:ext cx="107899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250" dirty="0">
                <a:solidFill>
                  <a:srgbClr val="687385"/>
                </a:solidFill>
              </a:rPr>
              <a:t>Prompt instructions are requests — never treat them as load-bearing validation.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685800" y="1828800"/>
            <a:ext cx="4800600" cy="3611880"/>
          </a:xfrm>
          <a:prstGeom prst="roundRect">
            <a:avLst>
              <a:gd name="adj" fmla="val 2025"/>
            </a:avLst>
          </a:prstGeom>
          <a:solidFill>
            <a:srgbClr val="F7F9FC"/>
          </a:solidFill>
          <a:ln w="12700">
            <a:solidFill>
              <a:srgbClr val="D8DEE9"/>
            </a:solidFill>
            <a:prstDash val="solid"/>
          </a:ln>
          <a:effectLst>
            <a:outerShdw algn="bl" rotWithShape="0">
              <a:srgbClr val="000000">
                <a:alpha val="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1005840" y="2148840"/>
            <a:ext cx="41605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687385"/>
                </a:solidFill>
              </a:rPr>
              <a:t>PROMPT SAYS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1051560" y="2788920"/>
            <a:ext cx="4069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2F80ED"/>
                </a:solidFill>
              </a:rPr>
              <a:t>“no markdown code fences”</a:t>
            </a:r>
            <a:endParaRPr lang="en-US" sz="2200" dirty="0"/>
          </a:p>
        </p:txBody>
      </p:sp>
      <p:sp>
        <p:nvSpPr>
          <p:cNvPr id="8" name="Shape 6"/>
          <p:cNvSpPr/>
          <p:nvPr/>
        </p:nvSpPr>
        <p:spPr>
          <a:xfrm>
            <a:off x="3063240" y="3383280"/>
            <a:ext cx="0" cy="548640"/>
          </a:xfrm>
          <a:prstGeom prst="line">
            <a:avLst/>
          </a:prstGeom>
          <a:noFill/>
          <a:ln w="26670">
            <a:solidFill>
              <a:srgbClr val="E45757"/>
            </a:solidFill>
            <a:prstDash val="solid"/>
            <a:headEnd type="none"/>
            <a:tailEnd type="triangle"/>
          </a:ln>
        </p:spPr>
      </p:sp>
      <p:sp>
        <p:nvSpPr>
          <p:cNvPr id="9" name="Shape 7"/>
          <p:cNvSpPr/>
          <p:nvPr/>
        </p:nvSpPr>
        <p:spPr>
          <a:xfrm>
            <a:off x="2578608" y="4005072"/>
            <a:ext cx="987552" cy="292608"/>
          </a:xfrm>
          <a:prstGeom prst="roundRect">
            <a:avLst>
              <a:gd name="adj" fmla="val 25000"/>
            </a:avLst>
          </a:prstGeom>
          <a:solidFill>
            <a:srgbClr val="E45757"/>
          </a:solidFill>
          <a:ln w="12700">
            <a:solidFill>
              <a:srgbClr val="E4575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2633472" y="4050792"/>
            <a:ext cx="87782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820" b="1" dirty="0">
                <a:solidFill>
                  <a:srgbClr val="FFFFFF"/>
                </a:solidFill>
              </a:rPr>
              <a:t>MODEL DOES</a:t>
            </a:r>
            <a:endParaRPr lang="en-US" sz="820" dirty="0"/>
          </a:p>
        </p:txBody>
      </p:sp>
      <p:sp>
        <p:nvSpPr>
          <p:cNvPr id="11" name="Text 9"/>
          <p:cNvSpPr/>
          <p:nvPr/>
        </p:nvSpPr>
        <p:spPr>
          <a:xfrm>
            <a:off x="1554480" y="4434840"/>
            <a:ext cx="30632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dirty="0">
                <a:solidFill>
                  <a:srgbClr val="E45757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```html</a:t>
            </a:r>
            <a:endParaRPr lang="en-US" sz="1250" dirty="0"/>
          </a:p>
          <a:p>
            <a:pPr marL="0" indent="0" algn="ctr">
              <a:buNone/>
            </a:pPr>
            <a:r>
              <a:rPr lang="en-US" sz="1250" dirty="0">
                <a:solidFill>
                  <a:srgbClr val="E45757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&lt;table&gt; ... &lt;/table&gt;</a:t>
            </a:r>
            <a:endParaRPr lang="en-US" sz="1250" dirty="0"/>
          </a:p>
          <a:p>
            <a:pPr marL="0" indent="0" algn="ctr">
              <a:buNone/>
            </a:pPr>
            <a:r>
              <a:rPr lang="en-US" sz="1250" dirty="0">
                <a:solidFill>
                  <a:srgbClr val="E45757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```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5852160" y="1828800"/>
            <a:ext cx="5440680" cy="3611880"/>
          </a:xfrm>
          <a:prstGeom prst="roundRect">
            <a:avLst>
              <a:gd name="adj" fmla="val 2025"/>
            </a:avLst>
          </a:prstGeom>
          <a:solidFill>
            <a:srgbClr val="FFF7E8"/>
          </a:solidFill>
          <a:ln w="12700">
            <a:solidFill>
              <a:srgbClr val="F2D29A"/>
            </a:solidFill>
            <a:prstDash val="solid"/>
          </a:ln>
          <a:effectLst>
            <a:outerShdw algn="bl" rotWithShape="0">
              <a:srgbClr val="000000">
                <a:alpha val="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6236208" y="2148840"/>
            <a:ext cx="4617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59E0B"/>
                </a:solidFill>
              </a:rPr>
              <a:t>DEFENSIVE PIPELINE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6583680" y="2852928"/>
            <a:ext cx="365760" cy="365760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583680" y="2935224"/>
            <a:ext cx="36576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</a:rPr>
              <a:t>1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7114032" y="2907792"/>
            <a:ext cx="2331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72033"/>
                </a:solidFill>
              </a:rPr>
              <a:t>verify shape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583680" y="3511296"/>
            <a:ext cx="365760" cy="365760"/>
          </a:xfrm>
          <a:prstGeom prst="ellipse">
            <a:avLst/>
          </a:prstGeom>
          <a:solidFill>
            <a:srgbClr val="2F80ED"/>
          </a:solidFill>
          <a:ln w="12700">
            <a:solidFill>
              <a:srgbClr val="2F80ED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583680" y="3593592"/>
            <a:ext cx="36576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</a:rPr>
              <a:t>2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7114032" y="3566160"/>
            <a:ext cx="2331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72033"/>
                </a:solidFill>
              </a:rPr>
              <a:t>strip fence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6583680" y="4169664"/>
            <a:ext cx="365760" cy="365760"/>
          </a:xfrm>
          <a:prstGeom prst="ellipse">
            <a:avLst/>
          </a:prstGeom>
          <a:solidFill>
            <a:srgbClr val="2FA36B"/>
          </a:solidFill>
          <a:ln w="12700">
            <a:solidFill>
              <a:srgbClr val="2FA36B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583680" y="4251960"/>
            <a:ext cx="36576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</a:rPr>
              <a:t>3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7114032" y="4224528"/>
            <a:ext cx="2331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72033"/>
                </a:solidFill>
              </a:rPr>
              <a:t>validate table tags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6537960" y="5010912"/>
            <a:ext cx="4023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59E0B"/>
                </a:solidFill>
              </a:rPr>
              <a:t>Lesson: verify outputs, not prompt intentions.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612880" y="6510528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650">
                <a:solidFill>
                  <a:srgbClr val="9AA4B2"/>
                </a:solidFill>
                <a:latin typeface="Aptos"/>
                <a:ea typeface="Aptos"/>
                <a:cs typeface="Aptos"/>
              </a:defRPr>
            </a:lvl1pPr>
          </a:lstStyle>
          <a:p>
            <a:pPr algn="l"/>
            <a:fld id="{F7021451-1387-4CA6-816F-3879F97B5CBC}" type="slidenum">
              <a:rPr lang="en-US" b="0"/>
              <a:t>18</a:t>
            </a:fld>
            <a:endParaRPr lang="en-US"/>
          </a:p>
        </p:txBody>
      </p:sp>
    </p:spTree>
  </p:cSld>
  <p:clrMapOvr>
    <a:masterClrMapping/>
  </p:clrMapOvr>
  <p:transition spd="med">
    <p:fade/>
  </p:transition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438912"/>
            <a:ext cx="30175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2F80ED"/>
                </a:solidFill>
              </a:rPr>
              <a:t>STEP 5 OF 7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502920" y="713232"/>
            <a:ext cx="109728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600" b="1" dirty="0">
                <a:solidFill>
                  <a:srgbClr val="172033"/>
                </a:solidFill>
              </a:rPr>
              <a:t>Region Routing — Not Everything Becomes Body Text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02920" y="1261872"/>
            <a:ext cx="107899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250" dirty="0">
                <a:solidFill>
                  <a:srgbClr val="687385"/>
                </a:solidFill>
              </a:rPr>
              <a:t>Routing is where region type becomes a document policy.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640080" y="1828800"/>
            <a:ext cx="3429000" cy="3520440"/>
          </a:xfrm>
          <a:prstGeom prst="roundRect">
            <a:avLst>
              <a:gd name="adj" fmla="val 2133"/>
            </a:avLst>
          </a:prstGeom>
          <a:solidFill>
            <a:srgbClr val="FFFFFF"/>
          </a:solidFill>
          <a:ln w="12700">
            <a:solidFill>
              <a:srgbClr val="D8DEE9"/>
            </a:solidFill>
            <a:prstDash val="solid"/>
          </a:ln>
          <a:effectLst>
            <a:outerShdw algn="bl" rotWithShape="0">
              <a:srgbClr val="000000">
                <a:alpha val="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1005840" y="2103120"/>
            <a:ext cx="2697480" cy="292608"/>
          </a:xfrm>
          <a:prstGeom prst="roundRect">
            <a:avLst>
              <a:gd name="adj" fmla="val 25000"/>
            </a:avLst>
          </a:prstGeom>
          <a:solidFill>
            <a:srgbClr val="2FA36B"/>
          </a:solidFill>
          <a:ln w="12700">
            <a:solidFill>
              <a:srgbClr val="2FA36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60704" y="2148840"/>
            <a:ext cx="258775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820" b="1" dirty="0">
                <a:solidFill>
                  <a:srgbClr val="FFFFFF"/>
                </a:solidFill>
              </a:rPr>
              <a:t>BODY CONTENT</a:t>
            </a:r>
            <a:endParaRPr lang="en-US" sz="820" dirty="0"/>
          </a:p>
        </p:txBody>
      </p:sp>
      <p:sp>
        <p:nvSpPr>
          <p:cNvPr id="8" name="Shape 6"/>
          <p:cNvSpPr/>
          <p:nvPr/>
        </p:nvSpPr>
        <p:spPr>
          <a:xfrm>
            <a:off x="1051560" y="2761488"/>
            <a:ext cx="274320" cy="274320"/>
          </a:xfrm>
          <a:prstGeom prst="ellipse">
            <a:avLst/>
          </a:prstGeom>
          <a:solidFill>
            <a:srgbClr val="2FA36B"/>
          </a:solidFill>
          <a:ln w="12700">
            <a:solidFill>
              <a:srgbClr val="2FA36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051560" y="2843784"/>
            <a:ext cx="27432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</a:rPr>
              <a:t>✓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1444752" y="2816352"/>
            <a:ext cx="2331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030" dirty="0">
                <a:solidFill>
                  <a:srgbClr val="172033"/>
                </a:solidFill>
              </a:rPr>
              <a:t>title → ## heading</a:t>
            </a:r>
            <a:endParaRPr lang="en-US" sz="1030" dirty="0"/>
          </a:p>
        </p:txBody>
      </p:sp>
      <p:sp>
        <p:nvSpPr>
          <p:cNvPr id="11" name="Shape 9"/>
          <p:cNvSpPr/>
          <p:nvPr/>
        </p:nvSpPr>
        <p:spPr>
          <a:xfrm>
            <a:off x="1051560" y="3282696"/>
            <a:ext cx="274320" cy="274320"/>
          </a:xfrm>
          <a:prstGeom prst="ellipse">
            <a:avLst/>
          </a:prstGeom>
          <a:solidFill>
            <a:srgbClr val="2FA36B"/>
          </a:solidFill>
          <a:ln w="12700">
            <a:solidFill>
              <a:srgbClr val="2FA36B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051560" y="3364992"/>
            <a:ext cx="27432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</a:rPr>
              <a:t>✓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1444752" y="3337560"/>
            <a:ext cx="2331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030" dirty="0">
                <a:solidFill>
                  <a:srgbClr val="172033"/>
                </a:solidFill>
              </a:rPr>
              <a:t>plain text / captions / formulas</a:t>
            </a:r>
            <a:endParaRPr lang="en-US" sz="1030" dirty="0"/>
          </a:p>
        </p:txBody>
      </p:sp>
      <p:sp>
        <p:nvSpPr>
          <p:cNvPr id="14" name="Shape 12"/>
          <p:cNvSpPr/>
          <p:nvPr/>
        </p:nvSpPr>
        <p:spPr>
          <a:xfrm>
            <a:off x="1051560" y="3803904"/>
            <a:ext cx="274320" cy="274320"/>
          </a:xfrm>
          <a:prstGeom prst="ellipse">
            <a:avLst/>
          </a:prstGeom>
          <a:solidFill>
            <a:srgbClr val="2FA36B"/>
          </a:solidFill>
          <a:ln w="12700">
            <a:solidFill>
              <a:srgbClr val="2FA36B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051560" y="3886200"/>
            <a:ext cx="27432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</a:rPr>
              <a:t>✓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1444752" y="3858768"/>
            <a:ext cx="2331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030" dirty="0">
                <a:solidFill>
                  <a:srgbClr val="172033"/>
                </a:solidFill>
              </a:rPr>
              <a:t>table → raw HTML</a:t>
            </a:r>
            <a:endParaRPr lang="en-US" sz="1030" dirty="0"/>
          </a:p>
        </p:txBody>
      </p:sp>
      <p:sp>
        <p:nvSpPr>
          <p:cNvPr id="17" name="Shape 15"/>
          <p:cNvSpPr/>
          <p:nvPr/>
        </p:nvSpPr>
        <p:spPr>
          <a:xfrm>
            <a:off x="1051560" y="4325112"/>
            <a:ext cx="274320" cy="274320"/>
          </a:xfrm>
          <a:prstGeom prst="ellipse">
            <a:avLst/>
          </a:prstGeom>
          <a:solidFill>
            <a:srgbClr val="2FA36B"/>
          </a:solidFill>
          <a:ln w="12700">
            <a:solidFill>
              <a:srgbClr val="2FA36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1051560" y="4407408"/>
            <a:ext cx="27432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</a:rPr>
              <a:t>✓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1444752" y="4379976"/>
            <a:ext cx="2331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030" dirty="0">
                <a:solidFill>
                  <a:srgbClr val="172033"/>
                </a:solidFill>
              </a:rPr>
              <a:t>chart / photo / diagram → image + description</a:t>
            </a:r>
            <a:endParaRPr lang="en-US" sz="1030" dirty="0"/>
          </a:p>
        </p:txBody>
      </p:sp>
      <p:sp>
        <p:nvSpPr>
          <p:cNvPr id="20" name="Shape 18"/>
          <p:cNvSpPr/>
          <p:nvPr/>
        </p:nvSpPr>
        <p:spPr>
          <a:xfrm>
            <a:off x="4389120" y="1828800"/>
            <a:ext cx="3429000" cy="3520440"/>
          </a:xfrm>
          <a:prstGeom prst="roundRect">
            <a:avLst>
              <a:gd name="adj" fmla="val 2133"/>
            </a:avLst>
          </a:prstGeom>
          <a:solidFill>
            <a:srgbClr val="FFFFFF"/>
          </a:solidFill>
          <a:ln w="12700">
            <a:solidFill>
              <a:srgbClr val="D8DEE9"/>
            </a:solidFill>
            <a:prstDash val="solid"/>
          </a:ln>
          <a:effectLst>
            <a:outerShdw algn="bl" rotWithShape="0">
              <a:srgbClr val="000000">
                <a:alpha val="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4754880" y="2103120"/>
            <a:ext cx="2697480" cy="292608"/>
          </a:xfrm>
          <a:prstGeom prst="roundRect">
            <a:avLst>
              <a:gd name="adj" fmla="val 250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4809744" y="2148840"/>
            <a:ext cx="258775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820" b="1" dirty="0">
                <a:solidFill>
                  <a:srgbClr val="FFFFFF"/>
                </a:solidFill>
              </a:rPr>
              <a:t>METADATA ONLY</a:t>
            </a:r>
            <a:endParaRPr lang="en-US" sz="820" dirty="0"/>
          </a:p>
        </p:txBody>
      </p:sp>
      <p:sp>
        <p:nvSpPr>
          <p:cNvPr id="23" name="Shape 21"/>
          <p:cNvSpPr/>
          <p:nvPr/>
        </p:nvSpPr>
        <p:spPr>
          <a:xfrm>
            <a:off x="4800600" y="2761488"/>
            <a:ext cx="274320" cy="274320"/>
          </a:xfrm>
          <a:prstGeom prst="ellipse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4800600" y="2843784"/>
            <a:ext cx="27432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</a:rPr>
              <a:t>✓</a:t>
            </a:r>
            <a:endParaRPr lang="en-US" sz="1400" dirty="0"/>
          </a:p>
        </p:txBody>
      </p:sp>
      <p:sp>
        <p:nvSpPr>
          <p:cNvPr id="25" name="Text 23"/>
          <p:cNvSpPr/>
          <p:nvPr/>
        </p:nvSpPr>
        <p:spPr>
          <a:xfrm>
            <a:off x="5193792" y="2816352"/>
            <a:ext cx="2331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030" dirty="0">
                <a:solidFill>
                  <a:srgbClr val="172033"/>
                </a:solidFill>
              </a:rPr>
              <a:t>logo</a:t>
            </a:r>
            <a:endParaRPr lang="en-US" sz="1030" dirty="0"/>
          </a:p>
        </p:txBody>
      </p:sp>
      <p:sp>
        <p:nvSpPr>
          <p:cNvPr id="26" name="Shape 24"/>
          <p:cNvSpPr/>
          <p:nvPr/>
        </p:nvSpPr>
        <p:spPr>
          <a:xfrm>
            <a:off x="4800600" y="3282696"/>
            <a:ext cx="274320" cy="274320"/>
          </a:xfrm>
          <a:prstGeom prst="ellipse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4800600" y="3364992"/>
            <a:ext cx="27432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</a:rPr>
              <a:t>✓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5193792" y="3337560"/>
            <a:ext cx="2331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030" dirty="0">
                <a:solidFill>
                  <a:srgbClr val="172033"/>
                </a:solidFill>
              </a:rPr>
              <a:t>signature</a:t>
            </a:r>
            <a:endParaRPr lang="en-US" sz="1030" dirty="0"/>
          </a:p>
        </p:txBody>
      </p:sp>
      <p:sp>
        <p:nvSpPr>
          <p:cNvPr id="29" name="Shape 27"/>
          <p:cNvSpPr/>
          <p:nvPr/>
        </p:nvSpPr>
        <p:spPr>
          <a:xfrm>
            <a:off x="4800600" y="3803904"/>
            <a:ext cx="274320" cy="274320"/>
          </a:xfrm>
          <a:prstGeom prst="ellipse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4800600" y="3886200"/>
            <a:ext cx="27432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</a:rPr>
              <a:t>✓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5193792" y="3858768"/>
            <a:ext cx="2331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030" dirty="0">
                <a:solidFill>
                  <a:srgbClr val="172033"/>
                </a:solidFill>
              </a:rPr>
              <a:t>stamp / seal</a:t>
            </a:r>
            <a:endParaRPr lang="en-US" sz="1030" dirty="0"/>
          </a:p>
        </p:txBody>
      </p:sp>
      <p:sp>
        <p:nvSpPr>
          <p:cNvPr id="32" name="Shape 30"/>
          <p:cNvSpPr/>
          <p:nvPr/>
        </p:nvSpPr>
        <p:spPr>
          <a:xfrm>
            <a:off x="4800600" y="4325112"/>
            <a:ext cx="274320" cy="274320"/>
          </a:xfrm>
          <a:prstGeom prst="ellipse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4800600" y="4407408"/>
            <a:ext cx="27432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</a:rPr>
              <a:t>✓</a:t>
            </a:r>
            <a:endParaRPr lang="en-US" sz="1400" dirty="0"/>
          </a:p>
        </p:txBody>
      </p:sp>
      <p:sp>
        <p:nvSpPr>
          <p:cNvPr id="34" name="Text 32"/>
          <p:cNvSpPr/>
          <p:nvPr/>
        </p:nvSpPr>
        <p:spPr>
          <a:xfrm>
            <a:off x="5193792" y="4379976"/>
            <a:ext cx="2331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030" dirty="0">
                <a:solidFill>
                  <a:srgbClr val="172033"/>
                </a:solidFill>
              </a:rPr>
              <a:t>artifact description + location</a:t>
            </a:r>
            <a:endParaRPr lang="en-US" sz="1030" dirty="0"/>
          </a:p>
        </p:txBody>
      </p:sp>
      <p:sp>
        <p:nvSpPr>
          <p:cNvPr id="35" name="Shape 33"/>
          <p:cNvSpPr/>
          <p:nvPr/>
        </p:nvSpPr>
        <p:spPr>
          <a:xfrm>
            <a:off x="8138160" y="1828800"/>
            <a:ext cx="3429000" cy="3520440"/>
          </a:xfrm>
          <a:prstGeom prst="roundRect">
            <a:avLst>
              <a:gd name="adj" fmla="val 2133"/>
            </a:avLst>
          </a:prstGeom>
          <a:solidFill>
            <a:srgbClr val="FFFFFF"/>
          </a:solidFill>
          <a:ln w="12700">
            <a:solidFill>
              <a:srgbClr val="D8DEE9"/>
            </a:solidFill>
            <a:prstDash val="solid"/>
          </a:ln>
          <a:effectLst>
            <a:outerShdw algn="bl" rotWithShape="0">
              <a:srgbClr val="000000">
                <a:alpha val="0"/>
              </a:srgbClr>
            </a:outerShdw>
          </a:effectLst>
        </p:spPr>
      </p:sp>
      <p:sp>
        <p:nvSpPr>
          <p:cNvPr id="36" name="Shape 34"/>
          <p:cNvSpPr/>
          <p:nvPr/>
        </p:nvSpPr>
        <p:spPr>
          <a:xfrm>
            <a:off x="8503920" y="2103120"/>
            <a:ext cx="2697480" cy="292608"/>
          </a:xfrm>
          <a:prstGeom prst="roundRect">
            <a:avLst>
              <a:gd name="adj" fmla="val 25000"/>
            </a:avLst>
          </a:prstGeom>
          <a:solidFill>
            <a:srgbClr val="687385"/>
          </a:solidFill>
          <a:ln w="12700">
            <a:solidFill>
              <a:srgbClr val="687385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8558784" y="2148840"/>
            <a:ext cx="258775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820" b="1" dirty="0">
                <a:solidFill>
                  <a:srgbClr val="FFFFFF"/>
                </a:solidFill>
              </a:rPr>
              <a:t>DROPPED FROM BODY</a:t>
            </a:r>
            <a:endParaRPr lang="en-US" sz="820" dirty="0"/>
          </a:p>
        </p:txBody>
      </p:sp>
      <p:sp>
        <p:nvSpPr>
          <p:cNvPr id="38" name="Shape 36"/>
          <p:cNvSpPr/>
          <p:nvPr/>
        </p:nvSpPr>
        <p:spPr>
          <a:xfrm>
            <a:off x="8549640" y="2761488"/>
            <a:ext cx="274320" cy="274320"/>
          </a:xfrm>
          <a:prstGeom prst="ellipse">
            <a:avLst/>
          </a:prstGeom>
          <a:solidFill>
            <a:srgbClr val="687385"/>
          </a:solidFill>
          <a:ln w="12700">
            <a:solidFill>
              <a:srgbClr val="687385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8549640" y="2843784"/>
            <a:ext cx="27432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</a:rPr>
              <a:t>✓</a:t>
            </a:r>
            <a:endParaRPr lang="en-US" sz="1400" dirty="0"/>
          </a:p>
        </p:txBody>
      </p:sp>
      <p:sp>
        <p:nvSpPr>
          <p:cNvPr id="40" name="Text 38"/>
          <p:cNvSpPr/>
          <p:nvPr/>
        </p:nvSpPr>
        <p:spPr>
          <a:xfrm>
            <a:off x="8942832" y="2816352"/>
            <a:ext cx="2331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030" dirty="0">
                <a:solidFill>
                  <a:srgbClr val="172033"/>
                </a:solidFill>
              </a:rPr>
              <a:t>headers</a:t>
            </a:r>
            <a:endParaRPr lang="en-US" sz="1030" dirty="0"/>
          </a:p>
        </p:txBody>
      </p:sp>
      <p:sp>
        <p:nvSpPr>
          <p:cNvPr id="41" name="Shape 39"/>
          <p:cNvSpPr/>
          <p:nvPr/>
        </p:nvSpPr>
        <p:spPr>
          <a:xfrm>
            <a:off x="8549640" y="3282696"/>
            <a:ext cx="274320" cy="274320"/>
          </a:xfrm>
          <a:prstGeom prst="ellipse">
            <a:avLst/>
          </a:prstGeom>
          <a:solidFill>
            <a:srgbClr val="687385"/>
          </a:solidFill>
          <a:ln w="12700">
            <a:solidFill>
              <a:srgbClr val="687385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8549640" y="3364992"/>
            <a:ext cx="27432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</a:rPr>
              <a:t>✓</a:t>
            </a:r>
            <a:endParaRPr lang="en-US" sz="1400" dirty="0"/>
          </a:p>
        </p:txBody>
      </p:sp>
      <p:sp>
        <p:nvSpPr>
          <p:cNvPr id="43" name="Text 41"/>
          <p:cNvSpPr/>
          <p:nvPr/>
        </p:nvSpPr>
        <p:spPr>
          <a:xfrm>
            <a:off x="8942832" y="3337560"/>
            <a:ext cx="2331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030" dirty="0">
                <a:solidFill>
                  <a:srgbClr val="172033"/>
                </a:solidFill>
              </a:rPr>
              <a:t>footers</a:t>
            </a:r>
            <a:endParaRPr lang="en-US" sz="1030" dirty="0"/>
          </a:p>
        </p:txBody>
      </p:sp>
      <p:sp>
        <p:nvSpPr>
          <p:cNvPr id="44" name="Shape 42"/>
          <p:cNvSpPr/>
          <p:nvPr/>
        </p:nvSpPr>
        <p:spPr>
          <a:xfrm>
            <a:off x="8549640" y="3803904"/>
            <a:ext cx="274320" cy="274320"/>
          </a:xfrm>
          <a:prstGeom prst="ellipse">
            <a:avLst/>
          </a:prstGeom>
          <a:solidFill>
            <a:srgbClr val="687385"/>
          </a:solidFill>
          <a:ln w="12700">
            <a:solidFill>
              <a:srgbClr val="687385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8549640" y="3886200"/>
            <a:ext cx="27432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</a:rPr>
              <a:t>✓</a:t>
            </a:r>
            <a:endParaRPr lang="en-US" sz="1400" dirty="0"/>
          </a:p>
        </p:txBody>
      </p:sp>
      <p:sp>
        <p:nvSpPr>
          <p:cNvPr id="46" name="Text 44"/>
          <p:cNvSpPr/>
          <p:nvPr/>
        </p:nvSpPr>
        <p:spPr>
          <a:xfrm>
            <a:off x="8942832" y="3858768"/>
            <a:ext cx="2331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030" dirty="0">
                <a:solidFill>
                  <a:srgbClr val="172033"/>
                </a:solidFill>
              </a:rPr>
              <a:t>watermarks</a:t>
            </a:r>
            <a:endParaRPr lang="en-US" sz="1030" dirty="0"/>
          </a:p>
        </p:txBody>
      </p:sp>
      <p:sp>
        <p:nvSpPr>
          <p:cNvPr id="47" name="Shape 45"/>
          <p:cNvSpPr/>
          <p:nvPr/>
        </p:nvSpPr>
        <p:spPr>
          <a:xfrm>
            <a:off x="8549640" y="4325112"/>
            <a:ext cx="274320" cy="274320"/>
          </a:xfrm>
          <a:prstGeom prst="ellipse">
            <a:avLst/>
          </a:prstGeom>
          <a:solidFill>
            <a:srgbClr val="687385"/>
          </a:solidFill>
          <a:ln w="12700">
            <a:solidFill>
              <a:srgbClr val="687385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8549640" y="4407408"/>
            <a:ext cx="27432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</a:rPr>
              <a:t>✓</a:t>
            </a:r>
            <a:endParaRPr lang="en-US" sz="1400" dirty="0"/>
          </a:p>
        </p:txBody>
      </p:sp>
      <p:sp>
        <p:nvSpPr>
          <p:cNvPr id="49" name="Text 47"/>
          <p:cNvSpPr/>
          <p:nvPr/>
        </p:nvSpPr>
        <p:spPr>
          <a:xfrm>
            <a:off x="8942832" y="4379976"/>
            <a:ext cx="2331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030" dirty="0">
                <a:solidFill>
                  <a:srgbClr val="172033"/>
                </a:solidFill>
              </a:rPr>
              <a:t>abandon regions — still logged</a:t>
            </a:r>
            <a:endParaRPr lang="en-US" sz="1030" dirty="0"/>
          </a:p>
        </p:txBody>
      </p:sp>
      <p:sp>
        <p:nvSpPr>
          <p:cNvPr id="50" name="Text 48"/>
          <p:cNvSpPr/>
          <p:nvPr/>
        </p:nvSpPr>
        <p:spPr>
          <a:xfrm>
            <a:off x="1234440" y="5705856"/>
            <a:ext cx="9784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72033"/>
                </a:solidFill>
              </a:rPr>
              <a:t>A good extraction pipeline decides what should not become “content” just as deliberately as what should.</a:t>
            </a:r>
            <a:endParaRPr lang="en-US" sz="1300" dirty="0"/>
          </a:p>
        </p:txBody>
      </p:sp>
      <p:sp>
        <p:nvSpPr>
          <p:cNvPr id="51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612880" y="6510528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650">
                <a:solidFill>
                  <a:srgbClr val="9AA4B2"/>
                </a:solidFill>
                <a:latin typeface="Aptos"/>
                <a:ea typeface="Aptos"/>
                <a:cs typeface="Aptos"/>
              </a:defRPr>
            </a:lvl1pPr>
          </a:lstStyle>
          <a:p>
            <a:pPr algn="l"/>
            <a:fld id="{F7021451-1387-4CA6-816F-3879F97B5CBC}" type="slidenum">
              <a:rPr lang="en-US" b="0"/>
              <a:t>19</a:t>
            </a:fld>
            <a:endParaRPr lang="en-US"/>
          </a:p>
        </p:txBody>
      </p:sp>
    </p:spTree>
  </p:cSld>
  <p:clrMapOvr>
    <a:masterClrMapping/>
  </p:clrMapOvr>
  <p:transition spd="med">
    <p:fade/>
  </p:transition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438912"/>
            <a:ext cx="30175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2F80ED"/>
                </a:solidFill>
              </a:rPr>
              <a:t>STEP 6 OF 7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502920" y="713232"/>
            <a:ext cx="109728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600" b="1" dirty="0">
                <a:solidFill>
                  <a:srgbClr val="172033"/>
                </a:solidFill>
              </a:rPr>
              <a:t>Assembly — Reading Order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02920" y="1261872"/>
            <a:ext cx="107899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250" dirty="0">
                <a:solidFill>
                  <a:srgbClr val="687385"/>
                </a:solidFill>
              </a:rPr>
              <a:t>Top-to-bottom, then left-to-right works for single-column pages — and fails visibly on true two-column layouts.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685800" y="1828800"/>
            <a:ext cx="4800600" cy="3611880"/>
          </a:xfrm>
          <a:prstGeom prst="roundRect">
            <a:avLst>
              <a:gd name="adj" fmla="val 2025"/>
            </a:avLst>
          </a:prstGeom>
          <a:solidFill>
            <a:srgbClr val="F2FBF6"/>
          </a:solidFill>
          <a:ln w="12700">
            <a:solidFill>
              <a:srgbClr val="9AD7B5"/>
            </a:solidFill>
            <a:prstDash val="solid"/>
          </a:ln>
          <a:effectLst>
            <a:outerShdw algn="bl" rotWithShape="0">
              <a:srgbClr val="000000">
                <a:alpha val="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1005840" y="2121408"/>
            <a:ext cx="41605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2FA36B"/>
                </a:solidFill>
              </a:rPr>
              <a:t>SINGLE COLUMN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1234440" y="2724912"/>
            <a:ext cx="3611880" cy="310896"/>
          </a:xfrm>
          <a:prstGeom prst="roundRect">
            <a:avLst>
              <a:gd name="adj" fmla="val 8824"/>
            </a:avLst>
          </a:prstGeom>
          <a:solidFill>
            <a:srgbClr val="FFFFFF"/>
          </a:solidFill>
          <a:ln w="12700">
            <a:solidFill>
              <a:srgbClr val="BFD7C8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353312" y="2807208"/>
            <a:ext cx="21945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2FA36B"/>
                </a:solidFill>
              </a:rPr>
              <a:t>1</a:t>
            </a:r>
            <a:endParaRPr lang="en-US" sz="800" dirty="0"/>
          </a:p>
        </p:txBody>
      </p:sp>
      <p:sp>
        <p:nvSpPr>
          <p:cNvPr id="9" name="Shape 7"/>
          <p:cNvSpPr/>
          <p:nvPr/>
        </p:nvSpPr>
        <p:spPr>
          <a:xfrm>
            <a:off x="4434840" y="2871216"/>
            <a:ext cx="228600" cy="0"/>
          </a:xfrm>
          <a:prstGeom prst="line">
            <a:avLst/>
          </a:prstGeom>
          <a:noFill/>
          <a:ln w="15240">
            <a:solidFill>
              <a:srgbClr val="2FA36B"/>
            </a:solidFill>
            <a:prstDash val="solid"/>
            <a:headEnd type="none"/>
            <a:tailEnd type="triangle"/>
          </a:ln>
        </p:spPr>
      </p:sp>
      <p:sp>
        <p:nvSpPr>
          <p:cNvPr id="10" name="Shape 8"/>
          <p:cNvSpPr/>
          <p:nvPr/>
        </p:nvSpPr>
        <p:spPr>
          <a:xfrm>
            <a:off x="1234440" y="3163824"/>
            <a:ext cx="3611880" cy="310896"/>
          </a:xfrm>
          <a:prstGeom prst="roundRect">
            <a:avLst>
              <a:gd name="adj" fmla="val 8824"/>
            </a:avLst>
          </a:prstGeom>
          <a:solidFill>
            <a:srgbClr val="FFFFFF"/>
          </a:solidFill>
          <a:ln w="12700">
            <a:solidFill>
              <a:srgbClr val="BFD7C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353312" y="3246120"/>
            <a:ext cx="21945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2FA36B"/>
                </a:solidFill>
              </a:rPr>
              <a:t>2</a:t>
            </a:r>
            <a:endParaRPr lang="en-US" sz="800" dirty="0"/>
          </a:p>
        </p:txBody>
      </p:sp>
      <p:sp>
        <p:nvSpPr>
          <p:cNvPr id="12" name="Shape 10"/>
          <p:cNvSpPr/>
          <p:nvPr/>
        </p:nvSpPr>
        <p:spPr>
          <a:xfrm>
            <a:off x="4434840" y="3310128"/>
            <a:ext cx="228600" cy="0"/>
          </a:xfrm>
          <a:prstGeom prst="line">
            <a:avLst/>
          </a:prstGeom>
          <a:noFill/>
          <a:ln w="15240">
            <a:solidFill>
              <a:srgbClr val="2FA36B"/>
            </a:solidFill>
            <a:prstDash val="solid"/>
            <a:headEnd type="none"/>
            <a:tailEnd type="triangle"/>
          </a:ln>
        </p:spPr>
      </p:sp>
      <p:sp>
        <p:nvSpPr>
          <p:cNvPr id="13" name="Shape 11"/>
          <p:cNvSpPr/>
          <p:nvPr/>
        </p:nvSpPr>
        <p:spPr>
          <a:xfrm>
            <a:off x="1234440" y="3602736"/>
            <a:ext cx="3611880" cy="310896"/>
          </a:xfrm>
          <a:prstGeom prst="roundRect">
            <a:avLst>
              <a:gd name="adj" fmla="val 8824"/>
            </a:avLst>
          </a:prstGeom>
          <a:solidFill>
            <a:srgbClr val="FFFFFF"/>
          </a:solidFill>
          <a:ln w="12700">
            <a:solidFill>
              <a:srgbClr val="BFD7C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353312" y="3685032"/>
            <a:ext cx="21945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2FA36B"/>
                </a:solidFill>
              </a:rPr>
              <a:t>3</a:t>
            </a:r>
            <a:endParaRPr lang="en-US" sz="800" dirty="0"/>
          </a:p>
        </p:txBody>
      </p:sp>
      <p:sp>
        <p:nvSpPr>
          <p:cNvPr id="15" name="Shape 13"/>
          <p:cNvSpPr/>
          <p:nvPr/>
        </p:nvSpPr>
        <p:spPr>
          <a:xfrm>
            <a:off x="4434840" y="3749040"/>
            <a:ext cx="228600" cy="0"/>
          </a:xfrm>
          <a:prstGeom prst="line">
            <a:avLst/>
          </a:prstGeom>
          <a:noFill/>
          <a:ln w="15240">
            <a:solidFill>
              <a:srgbClr val="2FA36B"/>
            </a:solidFill>
            <a:prstDash val="solid"/>
            <a:headEnd type="none"/>
            <a:tailEnd type="triangle"/>
          </a:ln>
        </p:spPr>
      </p:sp>
      <p:sp>
        <p:nvSpPr>
          <p:cNvPr id="16" name="Shape 14"/>
          <p:cNvSpPr/>
          <p:nvPr/>
        </p:nvSpPr>
        <p:spPr>
          <a:xfrm>
            <a:off x="1234440" y="4041648"/>
            <a:ext cx="3611880" cy="310896"/>
          </a:xfrm>
          <a:prstGeom prst="roundRect">
            <a:avLst>
              <a:gd name="adj" fmla="val 8824"/>
            </a:avLst>
          </a:prstGeom>
          <a:solidFill>
            <a:srgbClr val="FFFFFF"/>
          </a:solidFill>
          <a:ln w="12700">
            <a:solidFill>
              <a:srgbClr val="BFD7C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1353312" y="4123944"/>
            <a:ext cx="21945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2FA36B"/>
                </a:solidFill>
              </a:rPr>
              <a:t>4</a:t>
            </a:r>
            <a:endParaRPr lang="en-US" sz="800" dirty="0"/>
          </a:p>
        </p:txBody>
      </p:sp>
      <p:sp>
        <p:nvSpPr>
          <p:cNvPr id="18" name="Shape 16"/>
          <p:cNvSpPr/>
          <p:nvPr/>
        </p:nvSpPr>
        <p:spPr>
          <a:xfrm>
            <a:off x="4434840" y="4187952"/>
            <a:ext cx="228600" cy="0"/>
          </a:xfrm>
          <a:prstGeom prst="line">
            <a:avLst/>
          </a:prstGeom>
          <a:noFill/>
          <a:ln w="15240">
            <a:solidFill>
              <a:srgbClr val="2FA36B"/>
            </a:solidFill>
            <a:prstDash val="solid"/>
            <a:headEnd type="none"/>
            <a:tailEnd type="triangle"/>
          </a:ln>
        </p:spPr>
      </p:sp>
      <p:sp>
        <p:nvSpPr>
          <p:cNvPr id="19" name="Shape 17"/>
          <p:cNvSpPr/>
          <p:nvPr/>
        </p:nvSpPr>
        <p:spPr>
          <a:xfrm>
            <a:off x="1234440" y="4480560"/>
            <a:ext cx="3611880" cy="310896"/>
          </a:xfrm>
          <a:prstGeom prst="roundRect">
            <a:avLst>
              <a:gd name="adj" fmla="val 8824"/>
            </a:avLst>
          </a:prstGeom>
          <a:solidFill>
            <a:srgbClr val="FFFFFF"/>
          </a:solidFill>
          <a:ln w="12700">
            <a:solidFill>
              <a:srgbClr val="BFD7C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1353312" y="4562856"/>
            <a:ext cx="21945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2FA36B"/>
                </a:solidFill>
              </a:rPr>
              <a:t>5</a:t>
            </a:r>
            <a:endParaRPr lang="en-US" sz="800" dirty="0"/>
          </a:p>
        </p:txBody>
      </p:sp>
      <p:sp>
        <p:nvSpPr>
          <p:cNvPr id="21" name="Shape 19"/>
          <p:cNvSpPr/>
          <p:nvPr/>
        </p:nvSpPr>
        <p:spPr>
          <a:xfrm>
            <a:off x="4434840" y="4626864"/>
            <a:ext cx="228600" cy="0"/>
          </a:xfrm>
          <a:prstGeom prst="line">
            <a:avLst/>
          </a:prstGeom>
          <a:noFill/>
          <a:ln w="15240">
            <a:solidFill>
              <a:srgbClr val="2FA36B"/>
            </a:solidFill>
            <a:prstDash val="solid"/>
            <a:headEnd type="none"/>
            <a:tailEnd type="triangle"/>
          </a:ln>
        </p:spPr>
      </p:sp>
      <p:sp>
        <p:nvSpPr>
          <p:cNvPr id="22" name="Text 20"/>
          <p:cNvSpPr/>
          <p:nvPr/>
        </p:nvSpPr>
        <p:spPr>
          <a:xfrm>
            <a:off x="1417320" y="5120640"/>
            <a:ext cx="3246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2FA36B"/>
                </a:solidFill>
              </a:rPr>
              <a:t>simple sort → correct order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5852160" y="1828800"/>
            <a:ext cx="5440680" cy="3611880"/>
          </a:xfrm>
          <a:prstGeom prst="roundRect">
            <a:avLst>
              <a:gd name="adj" fmla="val 2025"/>
            </a:avLst>
          </a:prstGeom>
          <a:solidFill>
            <a:srgbClr val="FFF1F1"/>
          </a:solidFill>
          <a:ln w="12700">
            <a:solidFill>
              <a:srgbClr val="F1B1B1"/>
            </a:solidFill>
            <a:prstDash val="solid"/>
          </a:ln>
          <a:effectLst>
            <a:outerShdw algn="bl" rotWithShape="0">
              <a:srgbClr val="000000">
                <a:alpha val="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6217920" y="2121408"/>
            <a:ext cx="4709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E45757"/>
                </a:solidFill>
              </a:rPr>
              <a:t>TWO COLUMNS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6446520" y="2743200"/>
            <a:ext cx="1874520" cy="384048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12700">
            <a:solidFill>
              <a:srgbClr val="F1B1B1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196328" y="2843784"/>
            <a:ext cx="3200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E45757"/>
                </a:solidFill>
              </a:rPr>
              <a:t>1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8705088" y="2743200"/>
            <a:ext cx="1874520" cy="384048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12700">
            <a:solidFill>
              <a:srgbClr val="F1B1B1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9454896" y="2843784"/>
            <a:ext cx="3200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E45757"/>
                </a:solidFill>
              </a:rPr>
              <a:t>2</a:t>
            </a:r>
            <a:endParaRPr lang="en-US" sz="900" dirty="0"/>
          </a:p>
        </p:txBody>
      </p:sp>
      <p:sp>
        <p:nvSpPr>
          <p:cNvPr id="29" name="Shape 27"/>
          <p:cNvSpPr/>
          <p:nvPr/>
        </p:nvSpPr>
        <p:spPr>
          <a:xfrm>
            <a:off x="6446520" y="3310128"/>
            <a:ext cx="1874520" cy="384048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12700">
            <a:solidFill>
              <a:srgbClr val="F1B1B1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196328" y="3410712"/>
            <a:ext cx="3200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E45757"/>
                </a:solidFill>
              </a:rPr>
              <a:t>3</a:t>
            </a:r>
            <a:endParaRPr lang="en-US" sz="900" dirty="0"/>
          </a:p>
        </p:txBody>
      </p:sp>
      <p:sp>
        <p:nvSpPr>
          <p:cNvPr id="31" name="Shape 29"/>
          <p:cNvSpPr/>
          <p:nvPr/>
        </p:nvSpPr>
        <p:spPr>
          <a:xfrm>
            <a:off x="8705088" y="3310128"/>
            <a:ext cx="1874520" cy="384048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12700">
            <a:solidFill>
              <a:srgbClr val="F1B1B1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9454896" y="3410712"/>
            <a:ext cx="3200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E45757"/>
                </a:solidFill>
              </a:rPr>
              <a:t>4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6446520" y="3877056"/>
            <a:ext cx="1874520" cy="384048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12700">
            <a:solidFill>
              <a:srgbClr val="F1B1B1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7196328" y="3977640"/>
            <a:ext cx="3200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E45757"/>
                </a:solidFill>
              </a:rPr>
              <a:t>5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8705088" y="3877056"/>
            <a:ext cx="1874520" cy="384048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12700">
            <a:solidFill>
              <a:srgbClr val="F1B1B1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9454896" y="3977640"/>
            <a:ext cx="3200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E45757"/>
                </a:solidFill>
              </a:rPr>
              <a:t>6</a:t>
            </a:r>
            <a:endParaRPr lang="en-US" sz="900" dirty="0"/>
          </a:p>
        </p:txBody>
      </p:sp>
      <p:sp>
        <p:nvSpPr>
          <p:cNvPr id="37" name="Text 35"/>
          <p:cNvSpPr/>
          <p:nvPr/>
        </p:nvSpPr>
        <p:spPr>
          <a:xfrm>
            <a:off x="6629400" y="5120640"/>
            <a:ext cx="3977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E45757"/>
                </a:solidFill>
              </a:rPr>
              <a:t>naive global sort interleaves columns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2788920" y="5760720"/>
            <a:ext cx="6720840" cy="384048"/>
          </a:xfrm>
          <a:prstGeom prst="roundRect">
            <a:avLst>
              <a:gd name="adj" fmla="val 9524"/>
            </a:avLst>
          </a:prstGeom>
          <a:solidFill>
            <a:srgbClr val="FFF6D6"/>
          </a:solidFill>
          <a:ln w="12700">
            <a:solidFill>
              <a:srgbClr val="F2D675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154680" y="5879592"/>
            <a:ext cx="598932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80" b="1" dirty="0">
                <a:solidFill>
                  <a:srgbClr val="7A5A00"/>
                </a:solidFill>
              </a:rPr>
              <a:t>Fix: detect columns first, then sort within each column.</a:t>
            </a:r>
            <a:endParaRPr lang="en-US" sz="1080" dirty="0"/>
          </a:p>
        </p:txBody>
      </p:sp>
      <p:sp>
        <p:nvSpPr>
          <p:cNvPr id="40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612880" y="6510528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650">
                <a:solidFill>
                  <a:srgbClr val="9AA4B2"/>
                </a:solidFill>
                <a:latin typeface="Aptos"/>
                <a:ea typeface="Aptos"/>
                <a:cs typeface="Aptos"/>
              </a:defRPr>
            </a:lvl1pPr>
          </a:lstStyle>
          <a:p>
            <a:pPr algn="l"/>
            <a:fld id="{F7021451-1387-4CA6-816F-3879F97B5CBC}" type="slidenum">
              <a:rPr lang="en-US" b="0"/>
              <a:t>20</a:t>
            </a:fld>
            <a:endParaRPr lang="en-US"/>
          </a:p>
        </p:txBody>
      </p:sp>
    </p:spTree>
  </p:cSld>
  <p:clrMapOvr>
    <a:masterClrMapping/>
  </p:clrMapOvr>
  <p:transition spd="med">
    <p:fade/>
  </p:transition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438912"/>
            <a:ext cx="30175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2F80ED"/>
                </a:solidFill>
              </a:rPr>
              <a:t>STEP 7 OF 7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502920" y="713232"/>
            <a:ext cx="109728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600" b="1" dirty="0">
                <a:solidFill>
                  <a:srgbClr val="172033"/>
                </a:solidFill>
              </a:rPr>
              <a:t>Post-Processing, Validation &amp; Metadata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02920" y="1261872"/>
            <a:ext cx="107899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250" dirty="0">
                <a:solidFill>
                  <a:srgbClr val="687385"/>
                </a:solidFill>
              </a:rPr>
              <a:t>The final markdown is only one artifact; the layout evidence stays available for later modules.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685800" y="1828800"/>
            <a:ext cx="3017520" cy="3520440"/>
          </a:xfrm>
          <a:prstGeom prst="roundRect">
            <a:avLst>
              <a:gd name="adj" fmla="val 2424"/>
            </a:avLst>
          </a:prstGeom>
          <a:solidFill>
            <a:srgbClr val="FFFFFF"/>
          </a:solidFill>
          <a:ln w="12700">
            <a:solidFill>
              <a:srgbClr val="D8DEE9"/>
            </a:solidFill>
            <a:prstDash val="solid"/>
          </a:ln>
          <a:effectLst>
            <a:outerShdw algn="bl" rotWithShape="0">
              <a:srgbClr val="000000">
                <a:alpha val="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1097280" y="2148840"/>
            <a:ext cx="2194560" cy="292608"/>
          </a:xfrm>
          <a:prstGeom prst="roundRect">
            <a:avLst>
              <a:gd name="adj" fmla="val 25000"/>
            </a:avLst>
          </a:prstGeom>
          <a:solidFill>
            <a:srgbClr val="2FA36B"/>
          </a:solidFill>
          <a:ln w="12700">
            <a:solidFill>
              <a:srgbClr val="2FA36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52144" y="2194560"/>
            <a:ext cx="208483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820" b="1" dirty="0">
                <a:solidFill>
                  <a:srgbClr val="FFFFFF"/>
                </a:solidFill>
              </a:rPr>
              <a:t>&lt;doc&gt;.md</a:t>
            </a:r>
            <a:endParaRPr lang="en-US" sz="820" dirty="0"/>
          </a:p>
        </p:txBody>
      </p:sp>
      <p:sp>
        <p:nvSpPr>
          <p:cNvPr id="8" name="Shape 6"/>
          <p:cNvSpPr/>
          <p:nvPr/>
        </p:nvSpPr>
        <p:spPr>
          <a:xfrm>
            <a:off x="1124712" y="2834640"/>
            <a:ext cx="237744" cy="237744"/>
          </a:xfrm>
          <a:prstGeom prst="ellipse">
            <a:avLst/>
          </a:prstGeom>
          <a:solidFill>
            <a:srgbClr val="2FA36B"/>
          </a:solidFill>
          <a:ln w="12700">
            <a:solidFill>
              <a:srgbClr val="2FA36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124712" y="2916936"/>
            <a:ext cx="237744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</a:rPr>
              <a:t>•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1490472" y="2862072"/>
            <a:ext cx="1783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050" dirty="0">
                <a:solidFill>
                  <a:srgbClr val="172033"/>
                </a:solidFill>
              </a:rPr>
              <a:t>reading-order text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1124712" y="3346704"/>
            <a:ext cx="237744" cy="237744"/>
          </a:xfrm>
          <a:prstGeom prst="ellipse">
            <a:avLst/>
          </a:prstGeom>
          <a:solidFill>
            <a:srgbClr val="2FA36B"/>
          </a:solidFill>
          <a:ln w="12700">
            <a:solidFill>
              <a:srgbClr val="2FA36B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124712" y="3429000"/>
            <a:ext cx="237744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</a:rPr>
              <a:t>•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1490472" y="3374136"/>
            <a:ext cx="1783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050" dirty="0">
                <a:solidFill>
                  <a:srgbClr val="172033"/>
                </a:solidFill>
              </a:rPr>
              <a:t>raw HTML tables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1124712" y="3858768"/>
            <a:ext cx="237744" cy="237744"/>
          </a:xfrm>
          <a:prstGeom prst="ellipse">
            <a:avLst/>
          </a:prstGeom>
          <a:solidFill>
            <a:srgbClr val="2FA36B"/>
          </a:solidFill>
          <a:ln w="12700">
            <a:solidFill>
              <a:srgbClr val="2FA36B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124712" y="3941064"/>
            <a:ext cx="237744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</a:rPr>
              <a:t>•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1490472" y="3886200"/>
            <a:ext cx="1783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050" dirty="0">
                <a:solidFill>
                  <a:srgbClr val="172033"/>
                </a:solidFill>
              </a:rPr>
              <a:t>figure descriptions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4114800" y="1828800"/>
            <a:ext cx="3017520" cy="3520440"/>
          </a:xfrm>
          <a:prstGeom prst="roundRect">
            <a:avLst>
              <a:gd name="adj" fmla="val 2424"/>
            </a:avLst>
          </a:prstGeom>
          <a:solidFill>
            <a:srgbClr val="FFFFFF"/>
          </a:solidFill>
          <a:ln w="12700">
            <a:solidFill>
              <a:srgbClr val="D8DEE9"/>
            </a:solidFill>
            <a:prstDash val="solid"/>
          </a:ln>
          <a:effectLst>
            <a:outerShdw algn="bl" rotWithShape="0">
              <a:srgbClr val="000000">
                <a:alpha val="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4526280" y="2148840"/>
            <a:ext cx="2194560" cy="292608"/>
          </a:xfrm>
          <a:prstGeom prst="roundRect">
            <a:avLst>
              <a:gd name="adj" fmla="val 25000"/>
            </a:avLst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581144" y="2194560"/>
            <a:ext cx="208483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820" b="1" dirty="0">
                <a:solidFill>
                  <a:srgbClr val="FFFFFF"/>
                </a:solidFill>
              </a:rPr>
              <a:t>metadata.json</a:t>
            </a:r>
            <a:endParaRPr lang="en-US" sz="820" dirty="0"/>
          </a:p>
        </p:txBody>
      </p:sp>
      <p:sp>
        <p:nvSpPr>
          <p:cNvPr id="20" name="Shape 18"/>
          <p:cNvSpPr/>
          <p:nvPr/>
        </p:nvSpPr>
        <p:spPr>
          <a:xfrm>
            <a:off x="4553712" y="2834640"/>
            <a:ext cx="237744" cy="237744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553712" y="2916936"/>
            <a:ext cx="237744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</a:rPr>
              <a:t>•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4919472" y="2862072"/>
            <a:ext cx="1783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050" dirty="0">
                <a:solidFill>
                  <a:srgbClr val="172033"/>
                </a:solidFill>
              </a:rPr>
              <a:t>native PDF metadata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4553712" y="3346704"/>
            <a:ext cx="237744" cy="237744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4553712" y="3429000"/>
            <a:ext cx="237744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</a:rPr>
              <a:t>•</a:t>
            </a:r>
            <a:endParaRPr lang="en-US" sz="1400" dirty="0"/>
          </a:p>
        </p:txBody>
      </p:sp>
      <p:sp>
        <p:nvSpPr>
          <p:cNvPr id="25" name="Text 23"/>
          <p:cNvSpPr/>
          <p:nvPr/>
        </p:nvSpPr>
        <p:spPr>
          <a:xfrm>
            <a:off x="4919472" y="3374136"/>
            <a:ext cx="1783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050" dirty="0">
                <a:solidFill>
                  <a:srgbClr val="172033"/>
                </a:solidFill>
              </a:rPr>
              <a:t>region counts</a:t>
            </a:r>
            <a:endParaRPr lang="en-US" sz="1050" dirty="0"/>
          </a:p>
        </p:txBody>
      </p:sp>
      <p:sp>
        <p:nvSpPr>
          <p:cNvPr id="26" name="Shape 24"/>
          <p:cNvSpPr/>
          <p:nvPr/>
        </p:nvSpPr>
        <p:spPr>
          <a:xfrm>
            <a:off x="4553712" y="3858768"/>
            <a:ext cx="237744" cy="237744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4553712" y="3941064"/>
            <a:ext cx="237744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</a:rPr>
              <a:t>•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4919472" y="3886200"/>
            <a:ext cx="1783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050" dirty="0">
                <a:solidFill>
                  <a:srgbClr val="172033"/>
                </a:solidFill>
              </a:rPr>
              <a:t>artifacts</a:t>
            </a:r>
            <a:endParaRPr lang="en-US" sz="1050" dirty="0"/>
          </a:p>
        </p:txBody>
      </p:sp>
      <p:sp>
        <p:nvSpPr>
          <p:cNvPr id="29" name="Shape 27"/>
          <p:cNvSpPr/>
          <p:nvPr/>
        </p:nvSpPr>
        <p:spPr>
          <a:xfrm>
            <a:off x="4553712" y="4370832"/>
            <a:ext cx="237744" cy="237744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4553712" y="4453128"/>
            <a:ext cx="237744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</a:rPr>
              <a:t>•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4919472" y="4398264"/>
            <a:ext cx="1783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050" dirty="0">
                <a:solidFill>
                  <a:srgbClr val="172033"/>
                </a:solidFill>
              </a:rPr>
              <a:t>low-confidence + dropped</a:t>
            </a:r>
            <a:endParaRPr lang="en-US" sz="1050" dirty="0"/>
          </a:p>
        </p:txBody>
      </p:sp>
      <p:sp>
        <p:nvSpPr>
          <p:cNvPr id="32" name="Shape 30"/>
          <p:cNvSpPr/>
          <p:nvPr/>
        </p:nvSpPr>
        <p:spPr>
          <a:xfrm>
            <a:off x="7543800" y="1828800"/>
            <a:ext cx="3017520" cy="3520440"/>
          </a:xfrm>
          <a:prstGeom prst="roundRect">
            <a:avLst>
              <a:gd name="adj" fmla="val 2424"/>
            </a:avLst>
          </a:prstGeom>
          <a:solidFill>
            <a:srgbClr val="FFFFFF"/>
          </a:solidFill>
          <a:ln w="12700">
            <a:solidFill>
              <a:srgbClr val="D8DEE9"/>
            </a:solidFill>
            <a:prstDash val="solid"/>
          </a:ln>
          <a:effectLst>
            <a:outerShdw algn="bl" rotWithShape="0">
              <a:srgbClr val="000000">
                <a:alpha val="0"/>
              </a:srgbClr>
            </a:outerShdw>
          </a:effectLst>
        </p:spPr>
      </p:sp>
      <p:sp>
        <p:nvSpPr>
          <p:cNvPr id="33" name="Shape 31"/>
          <p:cNvSpPr/>
          <p:nvPr/>
        </p:nvSpPr>
        <p:spPr>
          <a:xfrm>
            <a:off x="7955280" y="2148840"/>
            <a:ext cx="2194560" cy="292608"/>
          </a:xfrm>
          <a:prstGeom prst="roundRect">
            <a:avLst>
              <a:gd name="adj" fmla="val 25000"/>
            </a:avLst>
          </a:prstGeom>
          <a:solidFill>
            <a:srgbClr val="2F80ED"/>
          </a:solidFill>
          <a:ln w="12700">
            <a:solidFill>
              <a:srgbClr val="2F80ED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8010144" y="2194560"/>
            <a:ext cx="208483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820" b="1" dirty="0">
                <a:solidFill>
                  <a:srgbClr val="FFFFFF"/>
                </a:solidFill>
              </a:rPr>
              <a:t>regions.json</a:t>
            </a:r>
            <a:endParaRPr lang="en-US" sz="820" dirty="0"/>
          </a:p>
        </p:txBody>
      </p:sp>
      <p:sp>
        <p:nvSpPr>
          <p:cNvPr id="35" name="Shape 33"/>
          <p:cNvSpPr/>
          <p:nvPr/>
        </p:nvSpPr>
        <p:spPr>
          <a:xfrm>
            <a:off x="7982712" y="2834640"/>
            <a:ext cx="237744" cy="237744"/>
          </a:xfrm>
          <a:prstGeom prst="ellipse">
            <a:avLst/>
          </a:prstGeom>
          <a:solidFill>
            <a:srgbClr val="2F80ED"/>
          </a:solidFill>
          <a:ln w="12700">
            <a:solidFill>
              <a:srgbClr val="2F80ED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7982712" y="2916936"/>
            <a:ext cx="237744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</a:rPr>
              <a:t>•</a:t>
            </a:r>
            <a:endParaRPr lang="en-US" sz="1400" dirty="0"/>
          </a:p>
        </p:txBody>
      </p:sp>
      <p:sp>
        <p:nvSpPr>
          <p:cNvPr id="37" name="Text 35"/>
          <p:cNvSpPr/>
          <p:nvPr/>
        </p:nvSpPr>
        <p:spPr>
          <a:xfrm>
            <a:off x="8348472" y="2862072"/>
            <a:ext cx="1783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050" dirty="0">
                <a:solidFill>
                  <a:srgbClr val="172033"/>
                </a:solidFill>
              </a:rPr>
              <a:t>true class</a:t>
            </a:r>
            <a:endParaRPr lang="en-US" sz="1050" dirty="0"/>
          </a:p>
        </p:txBody>
      </p:sp>
      <p:sp>
        <p:nvSpPr>
          <p:cNvPr id="38" name="Shape 36"/>
          <p:cNvSpPr/>
          <p:nvPr/>
        </p:nvSpPr>
        <p:spPr>
          <a:xfrm>
            <a:off x="7982712" y="3346704"/>
            <a:ext cx="237744" cy="237744"/>
          </a:xfrm>
          <a:prstGeom prst="ellipse">
            <a:avLst/>
          </a:prstGeom>
          <a:solidFill>
            <a:srgbClr val="2F80ED"/>
          </a:solidFill>
          <a:ln w="12700">
            <a:solidFill>
              <a:srgbClr val="2F80ED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7982712" y="3429000"/>
            <a:ext cx="237744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</a:rPr>
              <a:t>•</a:t>
            </a:r>
            <a:endParaRPr lang="en-US" sz="1400" dirty="0"/>
          </a:p>
        </p:txBody>
      </p:sp>
      <p:sp>
        <p:nvSpPr>
          <p:cNvPr id="40" name="Text 38"/>
          <p:cNvSpPr/>
          <p:nvPr/>
        </p:nvSpPr>
        <p:spPr>
          <a:xfrm>
            <a:off x="8348472" y="3374136"/>
            <a:ext cx="1783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050" dirty="0">
                <a:solidFill>
                  <a:srgbClr val="172033"/>
                </a:solidFill>
              </a:rPr>
              <a:t>confidence</a:t>
            </a:r>
            <a:endParaRPr lang="en-US" sz="1050" dirty="0"/>
          </a:p>
        </p:txBody>
      </p:sp>
      <p:sp>
        <p:nvSpPr>
          <p:cNvPr id="41" name="Shape 39"/>
          <p:cNvSpPr/>
          <p:nvPr/>
        </p:nvSpPr>
        <p:spPr>
          <a:xfrm>
            <a:off x="7982712" y="3858768"/>
            <a:ext cx="237744" cy="237744"/>
          </a:xfrm>
          <a:prstGeom prst="ellipse">
            <a:avLst/>
          </a:prstGeom>
          <a:solidFill>
            <a:srgbClr val="2F80ED"/>
          </a:solidFill>
          <a:ln w="12700">
            <a:solidFill>
              <a:srgbClr val="2F80ED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7982712" y="3941064"/>
            <a:ext cx="237744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</a:rPr>
              <a:t>•</a:t>
            </a:r>
            <a:endParaRPr lang="en-US" sz="1400" dirty="0"/>
          </a:p>
        </p:txBody>
      </p:sp>
      <p:sp>
        <p:nvSpPr>
          <p:cNvPr id="43" name="Text 41"/>
          <p:cNvSpPr/>
          <p:nvPr/>
        </p:nvSpPr>
        <p:spPr>
          <a:xfrm>
            <a:off x="8348472" y="3886200"/>
            <a:ext cx="1783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050" dirty="0">
                <a:solidFill>
                  <a:srgbClr val="172033"/>
                </a:solidFill>
              </a:rPr>
              <a:t>page + bbox</a:t>
            </a:r>
            <a:endParaRPr lang="en-US" sz="1050" dirty="0"/>
          </a:p>
        </p:txBody>
      </p:sp>
      <p:sp>
        <p:nvSpPr>
          <p:cNvPr id="44" name="Shape 42"/>
          <p:cNvSpPr/>
          <p:nvPr/>
        </p:nvSpPr>
        <p:spPr>
          <a:xfrm>
            <a:off x="7982712" y="4370832"/>
            <a:ext cx="237744" cy="237744"/>
          </a:xfrm>
          <a:prstGeom prst="ellipse">
            <a:avLst/>
          </a:prstGeom>
          <a:solidFill>
            <a:srgbClr val="2F80ED"/>
          </a:solidFill>
          <a:ln w="12700">
            <a:solidFill>
              <a:srgbClr val="2F80ED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7982712" y="4453128"/>
            <a:ext cx="237744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</a:rPr>
              <a:t>•</a:t>
            </a:r>
            <a:endParaRPr lang="en-US" sz="1400" dirty="0"/>
          </a:p>
        </p:txBody>
      </p:sp>
      <p:sp>
        <p:nvSpPr>
          <p:cNvPr id="46" name="Text 44"/>
          <p:cNvSpPr/>
          <p:nvPr/>
        </p:nvSpPr>
        <p:spPr>
          <a:xfrm>
            <a:off x="8348472" y="4398264"/>
            <a:ext cx="1783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050" dirty="0">
                <a:solidFill>
                  <a:srgbClr val="172033"/>
                </a:solidFill>
              </a:rPr>
              <a:t>clean per-region text</a:t>
            </a:r>
            <a:endParaRPr lang="en-US" sz="1050" dirty="0"/>
          </a:p>
        </p:txBody>
      </p:sp>
      <p:sp>
        <p:nvSpPr>
          <p:cNvPr id="47" name="Shape 45"/>
          <p:cNvSpPr/>
          <p:nvPr/>
        </p:nvSpPr>
        <p:spPr>
          <a:xfrm>
            <a:off x="9144000" y="5468112"/>
            <a:ext cx="0" cy="402336"/>
          </a:xfrm>
          <a:prstGeom prst="line">
            <a:avLst/>
          </a:prstGeom>
          <a:noFill/>
          <a:ln w="25400">
            <a:solidFill>
              <a:srgbClr val="2F80ED"/>
            </a:solidFill>
            <a:prstDash val="solid"/>
            <a:headEnd type="none"/>
            <a:tailEnd type="triangle"/>
          </a:ln>
        </p:spPr>
      </p:sp>
      <p:sp>
        <p:nvSpPr>
          <p:cNvPr id="48" name="Shape 46"/>
          <p:cNvSpPr/>
          <p:nvPr/>
        </p:nvSpPr>
        <p:spPr>
          <a:xfrm>
            <a:off x="7040880" y="5870448"/>
            <a:ext cx="4206240" cy="347472"/>
          </a:xfrm>
          <a:prstGeom prst="roundRect">
            <a:avLst>
              <a:gd name="adj" fmla="val 10526"/>
            </a:avLst>
          </a:prstGeom>
          <a:solidFill>
            <a:srgbClr val="EAF3FF"/>
          </a:solidFill>
          <a:ln w="12700">
            <a:solidFill>
              <a:srgbClr val="B7D8FF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7260336" y="5980176"/>
            <a:ext cx="3767328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960" b="1" dirty="0">
                <a:solidFill>
                  <a:srgbClr val="2F80ED"/>
                </a:solidFill>
              </a:rPr>
              <a:t>Module 3 reads regions.json to avoid re-guessing structure from markdown.</a:t>
            </a:r>
            <a:endParaRPr lang="en-US" sz="960" dirty="0"/>
          </a:p>
        </p:txBody>
      </p:sp>
      <p:sp>
        <p:nvSpPr>
          <p:cNvPr id="50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612880" y="6510528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650">
                <a:solidFill>
                  <a:srgbClr val="9AA4B2"/>
                </a:solidFill>
                <a:latin typeface="Aptos"/>
                <a:ea typeface="Aptos"/>
                <a:cs typeface="Aptos"/>
              </a:defRPr>
            </a:lvl1pPr>
          </a:lstStyle>
          <a:p>
            <a:pPr algn="l"/>
            <a:fld id="{F7021451-1387-4CA6-816F-3879F97B5CBC}" type="slidenum">
              <a:rPr lang="en-US" b="0"/>
              <a:t>21</a:t>
            </a:fld>
            <a:endParaRPr lang="en-US"/>
          </a:p>
        </p:txBody>
      </p:sp>
    </p:spTree>
  </p:cSld>
  <p:clrMapOvr>
    <a:masterClrMapping/>
  </p:clrMapOvr>
  <p:transition spd="med">
    <p:fade/>
  </p:transition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438912"/>
            <a:ext cx="30175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2F80ED"/>
                </a:solidFill>
              </a:rPr>
              <a:t>ENGINEERING DETAIL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502920" y="713232"/>
            <a:ext cx="109728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600" b="1" dirty="0">
                <a:solidFill>
                  <a:srgbClr val="172033"/>
                </a:solidFill>
              </a:rPr>
              <a:t>Running on Real Hardware, Not Just “a GPU”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02920" y="1261872"/>
            <a:ext cx="107899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250" dirty="0">
                <a:solidFill>
                  <a:srgbClr val="687385"/>
                </a:solidFill>
              </a:rPr>
              <a:t>The backend-selection logic is part of reliability: the batch should degrade gracefully, not die halfway through.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868680" y="2011680"/>
            <a:ext cx="2926080" cy="1234440"/>
          </a:xfrm>
          <a:prstGeom prst="roundRect">
            <a:avLst>
              <a:gd name="adj" fmla="val 5926"/>
            </a:avLst>
          </a:prstGeom>
          <a:solidFill>
            <a:srgbClr val="FFFFFF"/>
          </a:solidFill>
          <a:ln w="12700">
            <a:solidFill>
              <a:srgbClr val="D8DEE9"/>
            </a:solidFill>
            <a:prstDash val="solid"/>
          </a:ln>
          <a:effectLst>
            <a:outerShdw algn="bl" rotWithShape="0">
              <a:srgbClr val="000000">
                <a:alpha val="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1161288" y="2286000"/>
            <a:ext cx="777240" cy="292608"/>
          </a:xfrm>
          <a:prstGeom prst="roundRect">
            <a:avLst>
              <a:gd name="adj" fmla="val 25000"/>
            </a:avLst>
          </a:prstGeom>
          <a:solidFill>
            <a:srgbClr val="2FA36B"/>
          </a:solidFill>
          <a:ln w="12700">
            <a:solidFill>
              <a:srgbClr val="2FA36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216152" y="2331720"/>
            <a:ext cx="66751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820" b="1" dirty="0">
                <a:solidFill>
                  <a:srgbClr val="FFFFFF"/>
                </a:solidFill>
              </a:rPr>
              <a:t>CUDA</a:t>
            </a:r>
            <a:endParaRPr lang="en-US" sz="820" dirty="0"/>
          </a:p>
        </p:txBody>
      </p:sp>
      <p:sp>
        <p:nvSpPr>
          <p:cNvPr id="8" name="Text 6"/>
          <p:cNvSpPr/>
          <p:nvPr/>
        </p:nvSpPr>
        <p:spPr>
          <a:xfrm>
            <a:off x="2084832" y="2322576"/>
            <a:ext cx="1280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172033"/>
                </a:solidFill>
              </a:rPr>
              <a:t>NVIDIA GPU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3840480" y="2633472"/>
            <a:ext cx="457200" cy="0"/>
          </a:xfrm>
          <a:prstGeom prst="line">
            <a:avLst/>
          </a:prstGeom>
          <a:noFill/>
          <a:ln w="21590">
            <a:solidFill>
              <a:srgbClr val="A8B2C1"/>
            </a:solidFill>
            <a:prstDash val="solid"/>
            <a:headEnd type="none"/>
            <a:tailEnd type="triangle"/>
          </a:ln>
        </p:spPr>
      </p:sp>
      <p:sp>
        <p:nvSpPr>
          <p:cNvPr id="10" name="Shape 8"/>
          <p:cNvSpPr/>
          <p:nvPr/>
        </p:nvSpPr>
        <p:spPr>
          <a:xfrm>
            <a:off x="4389120" y="2011680"/>
            <a:ext cx="2926080" cy="1234440"/>
          </a:xfrm>
          <a:prstGeom prst="roundRect">
            <a:avLst>
              <a:gd name="adj" fmla="val 5926"/>
            </a:avLst>
          </a:prstGeom>
          <a:solidFill>
            <a:srgbClr val="FFFFFF"/>
          </a:solidFill>
          <a:ln w="12700">
            <a:solidFill>
              <a:srgbClr val="D8DEE9"/>
            </a:solidFill>
            <a:prstDash val="solid"/>
          </a:ln>
          <a:effectLst>
            <a:outerShdw algn="bl" rotWithShape="0">
              <a:srgbClr val="000000">
                <a:alpha val="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4681728" y="2286000"/>
            <a:ext cx="777240" cy="292608"/>
          </a:xfrm>
          <a:prstGeom prst="roundRect">
            <a:avLst>
              <a:gd name="adj" fmla="val 25000"/>
            </a:avLst>
          </a:prstGeom>
          <a:solidFill>
            <a:srgbClr val="2F80ED"/>
          </a:solidFill>
          <a:ln w="12700">
            <a:solidFill>
              <a:srgbClr val="2F80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736592" y="2331720"/>
            <a:ext cx="66751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820" b="1" dirty="0">
                <a:solidFill>
                  <a:srgbClr val="FFFFFF"/>
                </a:solidFill>
              </a:rPr>
              <a:t>MPS</a:t>
            </a:r>
            <a:endParaRPr lang="en-US" sz="820" dirty="0"/>
          </a:p>
        </p:txBody>
      </p:sp>
      <p:sp>
        <p:nvSpPr>
          <p:cNvPr id="13" name="Text 11"/>
          <p:cNvSpPr/>
          <p:nvPr/>
        </p:nvSpPr>
        <p:spPr>
          <a:xfrm>
            <a:off x="5605272" y="2322576"/>
            <a:ext cx="1280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172033"/>
                </a:solidFill>
              </a:rPr>
              <a:t>Apple Silicon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7360920" y="2633472"/>
            <a:ext cx="457200" cy="0"/>
          </a:xfrm>
          <a:prstGeom prst="line">
            <a:avLst/>
          </a:prstGeom>
          <a:noFill/>
          <a:ln w="21590">
            <a:solidFill>
              <a:srgbClr val="A8B2C1"/>
            </a:solidFill>
            <a:prstDash val="solid"/>
            <a:headEnd type="none"/>
            <a:tailEnd type="triangle"/>
          </a:ln>
        </p:spPr>
      </p:sp>
      <p:sp>
        <p:nvSpPr>
          <p:cNvPr id="15" name="Shape 13"/>
          <p:cNvSpPr/>
          <p:nvPr/>
        </p:nvSpPr>
        <p:spPr>
          <a:xfrm>
            <a:off x="7909560" y="2011680"/>
            <a:ext cx="2926080" cy="1234440"/>
          </a:xfrm>
          <a:prstGeom prst="roundRect">
            <a:avLst>
              <a:gd name="adj" fmla="val 5926"/>
            </a:avLst>
          </a:prstGeom>
          <a:solidFill>
            <a:srgbClr val="FFFFFF"/>
          </a:solidFill>
          <a:ln w="12700">
            <a:solidFill>
              <a:srgbClr val="D8DEE9"/>
            </a:solidFill>
            <a:prstDash val="solid"/>
          </a:ln>
          <a:effectLst>
            <a:outerShdw algn="bl" rotWithShape="0">
              <a:srgbClr val="000000">
                <a:alpha val="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8202168" y="2286000"/>
            <a:ext cx="777240" cy="292608"/>
          </a:xfrm>
          <a:prstGeom prst="roundRect">
            <a:avLst>
              <a:gd name="adj" fmla="val 25000"/>
            </a:avLst>
          </a:prstGeom>
          <a:solidFill>
            <a:srgbClr val="687385"/>
          </a:solidFill>
          <a:ln w="12700">
            <a:solidFill>
              <a:srgbClr val="687385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257032" y="2331720"/>
            <a:ext cx="66751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820" b="1" dirty="0">
                <a:solidFill>
                  <a:srgbClr val="FFFFFF"/>
                </a:solidFill>
              </a:rPr>
              <a:t>CPU</a:t>
            </a:r>
            <a:endParaRPr lang="en-US" sz="820" dirty="0"/>
          </a:p>
        </p:txBody>
      </p:sp>
      <p:sp>
        <p:nvSpPr>
          <p:cNvPr id="18" name="Text 16"/>
          <p:cNvSpPr/>
          <p:nvPr/>
        </p:nvSpPr>
        <p:spPr>
          <a:xfrm>
            <a:off x="9125712" y="2322576"/>
            <a:ext cx="1280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172033"/>
                </a:solidFill>
              </a:rPr>
              <a:t>universal fallback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1234440" y="3886200"/>
            <a:ext cx="9692640" cy="1280160"/>
          </a:xfrm>
          <a:prstGeom prst="roundRect">
            <a:avLst>
              <a:gd name="adj" fmla="val 5714"/>
            </a:avLst>
          </a:prstGeom>
          <a:solidFill>
            <a:srgbClr val="F7F9FC"/>
          </a:solidFill>
          <a:ln w="12700">
            <a:solidFill>
              <a:srgbClr val="D8DEE9"/>
            </a:solidFill>
            <a:prstDash val="solid"/>
          </a:ln>
          <a:effectLst>
            <a:outerShdw algn="bl" rotWithShape="0">
              <a:srgbClr val="000000">
                <a:alpha val="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1554480" y="4224528"/>
            <a:ext cx="384048" cy="292608"/>
          </a:xfrm>
          <a:prstGeom prst="roundRect">
            <a:avLst>
              <a:gd name="adj" fmla="val 25000"/>
            </a:avLst>
          </a:prstGeom>
          <a:solidFill>
            <a:srgbClr val="E45757"/>
          </a:solidFill>
          <a:ln w="12700">
            <a:solidFill>
              <a:srgbClr val="E45757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1609344" y="4270248"/>
            <a:ext cx="2743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820" b="1" dirty="0">
                <a:solidFill>
                  <a:srgbClr val="FFFFFF"/>
                </a:solidFill>
              </a:rPr>
              <a:t>1</a:t>
            </a:r>
            <a:endParaRPr lang="en-US" sz="820" dirty="0"/>
          </a:p>
        </p:txBody>
      </p:sp>
      <p:sp>
        <p:nvSpPr>
          <p:cNvPr id="22" name="Text 20"/>
          <p:cNvSpPr/>
          <p:nvPr/>
        </p:nvSpPr>
        <p:spPr>
          <a:xfrm>
            <a:off x="2029968" y="4197096"/>
            <a:ext cx="1234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172033"/>
                </a:solidFill>
              </a:rPr>
              <a:t>device absent</a:t>
            </a:r>
            <a:endParaRPr lang="en-US" sz="1050" dirty="0"/>
          </a:p>
        </p:txBody>
      </p:sp>
      <p:sp>
        <p:nvSpPr>
          <p:cNvPr id="23" name="Text 21"/>
          <p:cNvSpPr/>
          <p:nvPr/>
        </p:nvSpPr>
        <p:spPr>
          <a:xfrm>
            <a:off x="2029968" y="4572000"/>
            <a:ext cx="18745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980" dirty="0">
                <a:solidFill>
                  <a:srgbClr val="687385"/>
                </a:solidFill>
              </a:rPr>
              <a:t>fail immediately</a:t>
            </a:r>
            <a:endParaRPr lang="en-US" sz="980" dirty="0"/>
          </a:p>
        </p:txBody>
      </p:sp>
      <p:sp>
        <p:nvSpPr>
          <p:cNvPr id="24" name="Shape 22"/>
          <p:cNvSpPr/>
          <p:nvPr/>
        </p:nvSpPr>
        <p:spPr>
          <a:xfrm>
            <a:off x="4663440" y="4224528"/>
            <a:ext cx="384048" cy="292608"/>
          </a:xfrm>
          <a:prstGeom prst="roundRect">
            <a:avLst>
              <a:gd name="adj" fmla="val 25000"/>
            </a:avLst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4718304" y="4270248"/>
            <a:ext cx="2743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820" b="1" dirty="0">
                <a:solidFill>
                  <a:srgbClr val="FFFFFF"/>
                </a:solidFill>
              </a:rPr>
              <a:t>2</a:t>
            </a:r>
            <a:endParaRPr lang="en-US" sz="820" dirty="0"/>
          </a:p>
        </p:txBody>
      </p:sp>
      <p:sp>
        <p:nvSpPr>
          <p:cNvPr id="26" name="Text 24"/>
          <p:cNvSpPr/>
          <p:nvPr/>
        </p:nvSpPr>
        <p:spPr>
          <a:xfrm>
            <a:off x="5138928" y="4197096"/>
            <a:ext cx="1234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172033"/>
                </a:solidFill>
              </a:rPr>
              <a:t>kernel unsupported at runtime</a:t>
            </a:r>
            <a:endParaRPr lang="en-US" sz="1050" dirty="0"/>
          </a:p>
        </p:txBody>
      </p:sp>
      <p:sp>
        <p:nvSpPr>
          <p:cNvPr id="27" name="Text 25"/>
          <p:cNvSpPr/>
          <p:nvPr/>
        </p:nvSpPr>
        <p:spPr>
          <a:xfrm>
            <a:off x="5138928" y="4572000"/>
            <a:ext cx="18745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980" dirty="0">
                <a:solidFill>
                  <a:srgbClr val="687385"/>
                </a:solidFill>
              </a:rPr>
              <a:t>warn + retry on CPU</a:t>
            </a:r>
            <a:endParaRPr lang="en-US" sz="980" dirty="0"/>
          </a:p>
        </p:txBody>
      </p:sp>
      <p:sp>
        <p:nvSpPr>
          <p:cNvPr id="28" name="Shape 26"/>
          <p:cNvSpPr/>
          <p:nvPr/>
        </p:nvSpPr>
        <p:spPr>
          <a:xfrm>
            <a:off x="7772400" y="4224528"/>
            <a:ext cx="384048" cy="292608"/>
          </a:xfrm>
          <a:prstGeom prst="roundRect">
            <a:avLst>
              <a:gd name="adj" fmla="val 25000"/>
            </a:avLst>
          </a:prstGeom>
          <a:solidFill>
            <a:srgbClr val="2F80ED"/>
          </a:solidFill>
          <a:ln w="12700">
            <a:solidFill>
              <a:srgbClr val="2F80ED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7827264" y="4270248"/>
            <a:ext cx="2743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820" b="1" dirty="0">
                <a:solidFill>
                  <a:srgbClr val="FFFFFF"/>
                </a:solidFill>
              </a:rPr>
              <a:t>3</a:t>
            </a:r>
            <a:endParaRPr lang="en-US" sz="820" dirty="0"/>
          </a:p>
        </p:txBody>
      </p:sp>
      <p:sp>
        <p:nvSpPr>
          <p:cNvPr id="30" name="Text 28"/>
          <p:cNvSpPr/>
          <p:nvPr/>
        </p:nvSpPr>
        <p:spPr>
          <a:xfrm>
            <a:off x="8247888" y="4197096"/>
            <a:ext cx="1234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172033"/>
                </a:solidFill>
              </a:rPr>
              <a:t>--device flag</a:t>
            </a:r>
            <a:endParaRPr lang="en-US" sz="1050" dirty="0"/>
          </a:p>
        </p:txBody>
      </p:sp>
      <p:sp>
        <p:nvSpPr>
          <p:cNvPr id="31" name="Text 29"/>
          <p:cNvSpPr/>
          <p:nvPr/>
        </p:nvSpPr>
        <p:spPr>
          <a:xfrm>
            <a:off x="8247888" y="4572000"/>
            <a:ext cx="18745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980" dirty="0">
                <a:solidFill>
                  <a:srgbClr val="687385"/>
                </a:solidFill>
              </a:rPr>
              <a:t>force backend for comparison</a:t>
            </a:r>
            <a:endParaRPr lang="en-US" sz="980" dirty="0"/>
          </a:p>
        </p:txBody>
      </p:sp>
      <p:sp>
        <p:nvSpPr>
          <p:cNvPr id="32" name="Text 30"/>
          <p:cNvSpPr/>
          <p:nvPr/>
        </p:nvSpPr>
        <p:spPr>
          <a:xfrm>
            <a:off x="1874520" y="5715000"/>
            <a:ext cx="8366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172033"/>
                </a:solidFill>
              </a:rPr>
              <a:t>Reliable local AI = explicit fallback behavior, not “works on my GPU.”</a:t>
            </a:r>
            <a:endParaRPr lang="en-US" sz="1500" dirty="0"/>
          </a:p>
        </p:txBody>
      </p:sp>
      <p:sp>
        <p:nvSpPr>
          <p:cNvPr id="33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612880" y="6510528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650">
                <a:solidFill>
                  <a:srgbClr val="9AA4B2"/>
                </a:solidFill>
                <a:latin typeface="Aptos"/>
                <a:ea typeface="Aptos"/>
                <a:cs typeface="Aptos"/>
              </a:defRPr>
            </a:lvl1pPr>
          </a:lstStyle>
          <a:p>
            <a:pPr algn="l"/>
            <a:fld id="{F7021451-1387-4CA6-816F-3879F97B5CBC}" type="slidenum">
              <a:rPr lang="en-US" b="0"/>
              <a:t>22</a:t>
            </a:fld>
            <a:endParaRPr lang="en-US"/>
          </a:p>
        </p:txBody>
      </p:sp>
    </p:spTree>
  </p:cSld>
  <p:clrMapOvr>
    <a:masterClrMapping/>
  </p:clrMapOvr>
  <p:transition spd="med">
    <p:fade/>
  </p:transition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438912"/>
            <a:ext cx="30175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2F80ED"/>
                </a:solidFill>
              </a:rPr>
              <a:t>REAL BUG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502920" y="713232"/>
            <a:ext cx="109728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600" b="1" dirty="0">
                <a:solidFill>
                  <a:srgbClr val="172033"/>
                </a:solidFill>
              </a:rPr>
              <a:t>The Same Text, Boxed Twice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02920" y="1261872"/>
            <a:ext cx="107899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250" dirty="0">
                <a:solidFill>
                  <a:srgbClr val="687385"/>
                </a:solidFill>
              </a:rPr>
              <a:t>Cross-class overlap can cause duplicate transcription even when both detections look individually plausible.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594360" y="1673352"/>
            <a:ext cx="6492240" cy="4526280"/>
          </a:xfrm>
          <a:prstGeom prst="roundRect">
            <a:avLst>
              <a:gd name="adj" fmla="val 1616"/>
            </a:avLst>
          </a:prstGeom>
          <a:solidFill>
            <a:srgbClr val="FFFFFF"/>
          </a:solidFill>
          <a:ln w="12700">
            <a:solidFill>
              <a:srgbClr val="D8DEE9"/>
            </a:solidFill>
            <a:prstDash val="solid"/>
          </a:ln>
          <a:effectLst>
            <a:outerShdw algn="bl" rotWithShape="0">
              <a:srgbClr val="000000">
                <a:alpha val="0"/>
              </a:srgbClr>
            </a:outerShdw>
          </a:effectLst>
        </p:spPr>
      </p:sp>
      <p:pic>
        <p:nvPicPr>
          <p:cNvPr id="6" name="Image 0" descr="/mnt/data/ocr_duplicate_boxe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81428" y="1847088"/>
            <a:ext cx="3108960" cy="402336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7406640" y="1673352"/>
            <a:ext cx="4160520" cy="4526280"/>
          </a:xfrm>
          <a:prstGeom prst="roundRect">
            <a:avLst>
              <a:gd name="adj" fmla="val 1758"/>
            </a:avLst>
          </a:prstGeom>
          <a:solidFill>
            <a:srgbClr val="FFF1F1"/>
          </a:solidFill>
          <a:ln w="12700">
            <a:solidFill>
              <a:srgbClr val="F1B1B1"/>
            </a:solidFill>
            <a:prstDash val="solid"/>
          </a:ln>
          <a:effectLst>
            <a:outerShdw algn="bl" rotWithShape="0">
              <a:srgbClr val="000000">
                <a:alpha val="0"/>
              </a:srgbClr>
            </a:outerShdw>
          </a:effectLst>
        </p:spPr>
      </p:sp>
      <p:sp>
        <p:nvSpPr>
          <p:cNvPr id="8" name="Shape 5"/>
          <p:cNvSpPr/>
          <p:nvPr/>
        </p:nvSpPr>
        <p:spPr>
          <a:xfrm>
            <a:off x="7754112" y="1993392"/>
            <a:ext cx="658368" cy="292608"/>
          </a:xfrm>
          <a:prstGeom prst="roundRect">
            <a:avLst>
              <a:gd name="adj" fmla="val 25000"/>
            </a:avLst>
          </a:prstGeom>
          <a:solidFill>
            <a:srgbClr val="E45757"/>
          </a:solidFill>
          <a:ln w="12700">
            <a:solidFill>
              <a:srgbClr val="E45757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7808976" y="2039112"/>
            <a:ext cx="5486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820" b="1" dirty="0">
                <a:solidFill>
                  <a:srgbClr val="FFFFFF"/>
                </a:solidFill>
              </a:rPr>
              <a:t>BUG</a:t>
            </a:r>
            <a:endParaRPr lang="en-US" sz="820" dirty="0"/>
          </a:p>
        </p:txBody>
      </p:sp>
      <p:sp>
        <p:nvSpPr>
          <p:cNvPr id="10" name="Text 7"/>
          <p:cNvSpPr/>
          <p:nvPr/>
        </p:nvSpPr>
        <p:spPr>
          <a:xfrm>
            <a:off x="7754112" y="2514600"/>
            <a:ext cx="320040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E45757"/>
                </a:solidFill>
              </a:rPr>
              <a:t>“A Proclamation”</a:t>
            </a:r>
            <a:endParaRPr lang="en-US" sz="1800" dirty="0"/>
          </a:p>
        </p:txBody>
      </p:sp>
      <p:sp>
        <p:nvSpPr>
          <p:cNvPr id="11" name="Text 8"/>
          <p:cNvSpPr/>
          <p:nvPr/>
        </p:nvSpPr>
        <p:spPr>
          <a:xfrm>
            <a:off x="7754112" y="2971800"/>
            <a:ext cx="3154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250" dirty="0">
                <a:solidFill>
                  <a:srgbClr val="172033"/>
                </a:solidFill>
              </a:rPr>
              <a:t>The same line is detected as both title and plain text. Both are sent to OCR, so the markdown contains it twice.</a:t>
            </a:r>
            <a:endParaRPr lang="en-US" sz="1250" dirty="0"/>
          </a:p>
        </p:txBody>
      </p:sp>
      <p:sp>
        <p:nvSpPr>
          <p:cNvPr id="12" name="Text 9"/>
          <p:cNvSpPr/>
          <p:nvPr/>
        </p:nvSpPr>
        <p:spPr>
          <a:xfrm>
            <a:off x="7754112" y="4187952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687385"/>
                </a:solidFill>
              </a:rPr>
              <a:t>What is missing?</a:t>
            </a:r>
            <a:endParaRPr lang="en-US" sz="1100" dirty="0"/>
          </a:p>
        </p:txBody>
      </p:sp>
      <p:sp>
        <p:nvSpPr>
          <p:cNvPr id="13" name="Text 10"/>
          <p:cNvSpPr/>
          <p:nvPr/>
        </p:nvSpPr>
        <p:spPr>
          <a:xfrm>
            <a:off x="7754112" y="4553712"/>
            <a:ext cx="3108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140" dirty="0">
                <a:solidFill>
                  <a:srgbClr val="687385"/>
                </a:solidFill>
              </a:rPr>
              <a:t>Cross-class overlap suppression — e.g., an IoU-based rule that decides which overlapping detection wins.</a:t>
            </a:r>
            <a:endParaRPr lang="en-US" sz="1140" dirty="0"/>
          </a:p>
        </p:txBody>
      </p:sp>
      <p:sp>
        <p:nvSpPr>
          <p:cNvPr id="14" name="Shape 11"/>
          <p:cNvSpPr/>
          <p:nvPr/>
        </p:nvSpPr>
        <p:spPr>
          <a:xfrm>
            <a:off x="7772400" y="5440680"/>
            <a:ext cx="3063240" cy="420624"/>
          </a:xfrm>
          <a:prstGeom prst="roundRect">
            <a:avLst>
              <a:gd name="adj" fmla="val 8696"/>
            </a:avLst>
          </a:prstGeom>
          <a:solidFill>
            <a:srgbClr val="FFF6D6"/>
          </a:solidFill>
          <a:ln w="12700">
            <a:solidFill>
              <a:srgbClr val="F2D675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7982712" y="5577840"/>
            <a:ext cx="26517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960" b="1" dirty="0">
                <a:solidFill>
                  <a:srgbClr val="7A5A00"/>
                </a:solidFill>
              </a:rPr>
              <a:t>Great class exercise: define the deduplication policy.</a:t>
            </a:r>
            <a:endParaRPr lang="en-US" sz="960" dirty="0"/>
          </a:p>
        </p:txBody>
      </p:sp>
      <p:sp>
        <p:nvSpPr>
          <p:cNvPr id="16" name="Text 13"/>
          <p:cNvSpPr/>
          <p:nvPr/>
        </p:nvSpPr>
        <p:spPr>
          <a:xfrm>
            <a:off x="502920" y="6473952"/>
            <a:ext cx="107899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630" dirty="0">
                <a:solidFill>
                  <a:srgbClr val="7A8493"/>
                </a:solidFill>
              </a:rPr>
              <a:t>Annotated page image: from the provided Module 1 deck / real pipeline output.</a:t>
            </a:r>
            <a:endParaRPr lang="en-US" sz="63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612880" y="6510528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650">
                <a:solidFill>
                  <a:srgbClr val="9AA4B2"/>
                </a:solidFill>
                <a:latin typeface="Aptos"/>
                <a:ea typeface="Aptos"/>
                <a:cs typeface="Aptos"/>
              </a:defRPr>
            </a:lvl1pPr>
          </a:lstStyle>
          <a:p>
            <a:pPr algn="l"/>
            <a:fld id="{F7021451-1387-4CA6-816F-3879F97B5CBC}" type="slidenum">
              <a:rPr lang="en-US" b="0"/>
              <a:t>23</a:t>
            </a:fld>
            <a:endParaRPr lang="en-US"/>
          </a:p>
        </p:txBody>
      </p:sp>
    </p:spTree>
  </p:cSld>
  <p:clrMapOvr>
    <a:masterClrMapping/>
  </p:clrMapOvr>
  <p:transition spd="med">
    <p:fade/>
  </p:transition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438912"/>
            <a:ext cx="30175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2F80ED"/>
                </a:solidFill>
              </a:rPr>
              <a:t>REAL FINDING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502920" y="713232"/>
            <a:ext cx="109728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600" b="1" dirty="0">
                <a:solidFill>
                  <a:srgbClr val="172033"/>
                </a:solidFill>
              </a:rPr>
              <a:t>Small Models Can Be Confidently Wrong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02920" y="1261872"/>
            <a:ext cx="107899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250" dirty="0">
                <a:solidFill>
                  <a:srgbClr val="687385"/>
                </a:solidFill>
              </a:rPr>
              <a:t>A model can capture the gist of a chart while inventing the details that matter.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685800" y="1874520"/>
            <a:ext cx="5120640" cy="3429000"/>
          </a:xfrm>
          <a:prstGeom prst="roundRect">
            <a:avLst>
              <a:gd name="adj" fmla="val 2133"/>
            </a:avLst>
          </a:prstGeom>
          <a:solidFill>
            <a:srgbClr val="FFFFFF"/>
          </a:solidFill>
          <a:ln w="12700">
            <a:solidFill>
              <a:srgbClr val="D8DEE9"/>
            </a:solidFill>
            <a:prstDash val="solid"/>
          </a:ln>
          <a:effectLst>
            <a:outerShdw algn="bl" rotWithShape="0">
              <a:srgbClr val="000000">
                <a:alpha val="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1051560" y="2157984"/>
            <a:ext cx="4389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687385"/>
                </a:solidFill>
              </a:rPr>
              <a:t>ACTUAL CHART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1234440" y="3680460"/>
            <a:ext cx="502920" cy="708660"/>
          </a:xfrm>
          <a:prstGeom prst="rect">
            <a:avLst/>
          </a:prstGeom>
          <a:solidFill>
            <a:srgbClr val="2F80ED"/>
          </a:solidFill>
          <a:ln w="12700">
            <a:solidFill>
              <a:srgbClr val="2F80ED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069848" y="4590288"/>
            <a:ext cx="8229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687385"/>
                </a:solidFill>
              </a:rPr>
              <a:t>North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2103120" y="3414713"/>
            <a:ext cx="502920" cy="974408"/>
          </a:xfrm>
          <a:prstGeom prst="rect">
            <a:avLst/>
          </a:prstGeom>
          <a:solidFill>
            <a:srgbClr val="2F80ED"/>
          </a:solidFill>
          <a:ln w="12700">
            <a:solidFill>
              <a:srgbClr val="2F80ED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938528" y="4590288"/>
            <a:ext cx="8229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687385"/>
                </a:solidFill>
              </a:rPr>
              <a:t>South</a:t>
            </a:r>
            <a:endParaRPr lang="en-US" sz="850" dirty="0"/>
          </a:p>
        </p:txBody>
      </p:sp>
      <p:sp>
        <p:nvSpPr>
          <p:cNvPr id="11" name="Shape 9"/>
          <p:cNvSpPr/>
          <p:nvPr/>
        </p:nvSpPr>
        <p:spPr>
          <a:xfrm>
            <a:off x="2971800" y="3148965"/>
            <a:ext cx="502920" cy="1240155"/>
          </a:xfrm>
          <a:prstGeom prst="rect">
            <a:avLst/>
          </a:prstGeom>
          <a:solidFill>
            <a:srgbClr val="2F80ED"/>
          </a:solidFill>
          <a:ln w="12700">
            <a:solidFill>
              <a:srgbClr val="2F80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2807208" y="4590288"/>
            <a:ext cx="8229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687385"/>
                </a:solidFill>
              </a:rPr>
              <a:t>East</a:t>
            </a:r>
            <a:endParaRPr lang="en-US" sz="850" dirty="0"/>
          </a:p>
        </p:txBody>
      </p:sp>
      <p:sp>
        <p:nvSpPr>
          <p:cNvPr id="13" name="Shape 11"/>
          <p:cNvSpPr/>
          <p:nvPr/>
        </p:nvSpPr>
        <p:spPr>
          <a:xfrm>
            <a:off x="3840480" y="2971800"/>
            <a:ext cx="502920" cy="1417320"/>
          </a:xfrm>
          <a:prstGeom prst="rect">
            <a:avLst/>
          </a:prstGeom>
          <a:solidFill>
            <a:srgbClr val="2F80ED"/>
          </a:solidFill>
          <a:ln w="12700">
            <a:solidFill>
              <a:srgbClr val="2F80ED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75888" y="4590288"/>
            <a:ext cx="8229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687385"/>
                </a:solidFill>
              </a:rPr>
              <a:t>West</a:t>
            </a:r>
            <a:endParaRPr lang="en-US" sz="850" dirty="0"/>
          </a:p>
        </p:txBody>
      </p:sp>
      <p:sp>
        <p:nvSpPr>
          <p:cNvPr id="15" name="Text 13"/>
          <p:cNvSpPr/>
          <p:nvPr/>
        </p:nvSpPr>
        <p:spPr>
          <a:xfrm>
            <a:off x="1234440" y="2651760"/>
            <a:ext cx="3429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172033"/>
                </a:solidFill>
              </a:rPr>
              <a:t>Q3 Regional Output</a:t>
            </a:r>
            <a:endParaRPr lang="en-US" sz="1700" dirty="0"/>
          </a:p>
        </p:txBody>
      </p:sp>
      <p:sp>
        <p:nvSpPr>
          <p:cNvPr id="16" name="Text 14"/>
          <p:cNvSpPr/>
          <p:nvPr/>
        </p:nvSpPr>
        <p:spPr>
          <a:xfrm>
            <a:off x="1965960" y="4956048"/>
            <a:ext cx="2057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2F80ED"/>
                </a:solidFill>
              </a:rPr>
              <a:t>40–80 units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6172200" y="1874520"/>
            <a:ext cx="5120640" cy="3429000"/>
          </a:xfrm>
          <a:prstGeom prst="roundRect">
            <a:avLst>
              <a:gd name="adj" fmla="val 2133"/>
            </a:avLst>
          </a:prstGeom>
          <a:solidFill>
            <a:srgbClr val="FFF1F1"/>
          </a:solidFill>
          <a:ln w="12700">
            <a:solidFill>
              <a:srgbClr val="F1B1B1"/>
            </a:solidFill>
            <a:prstDash val="solid"/>
          </a:ln>
          <a:effectLst>
            <a:outerShdw algn="bl" rotWithShape="0">
              <a:srgbClr val="000000">
                <a:alpha val="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6537960" y="2157984"/>
            <a:ext cx="4389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E45757"/>
                </a:solidFill>
              </a:rPr>
              <a:t>MODEL DESCRIPTION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6675120" y="2880360"/>
            <a:ext cx="41148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E45757"/>
                </a:solidFill>
              </a:rPr>
              <a:t>“Q5 Regional Output … 40 to 80,000 units”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6949440" y="4069080"/>
            <a:ext cx="35661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230" dirty="0">
                <a:solidFill>
                  <a:srgbClr val="172033"/>
                </a:solidFill>
              </a:rPr>
              <a:t>✓ correct gist: bar chart, four regions</a:t>
            </a:r>
            <a:endParaRPr lang="en-US" sz="1230" dirty="0"/>
          </a:p>
          <a:p>
            <a:pPr marL="0" indent="0">
              <a:buNone/>
            </a:pPr>
            <a:r>
              <a:rPr lang="en-US" sz="1230" dirty="0">
                <a:solidFill>
                  <a:srgbClr val="172033"/>
                </a:solidFill>
              </a:rPr>
              <a:t>✕ wrong title</a:t>
            </a:r>
            <a:endParaRPr lang="en-US" sz="1230" dirty="0"/>
          </a:p>
          <a:p>
            <a:pPr marL="0" indent="0">
              <a:buNone/>
            </a:pPr>
            <a:r>
              <a:rPr lang="en-US" sz="1230" dirty="0">
                <a:solidFill>
                  <a:srgbClr val="172033"/>
                </a:solidFill>
              </a:rPr>
              <a:t>✕ invented magnitude</a:t>
            </a:r>
            <a:endParaRPr lang="en-US" sz="1230" dirty="0"/>
          </a:p>
        </p:txBody>
      </p:sp>
      <p:sp>
        <p:nvSpPr>
          <p:cNvPr id="21" name="Shape 19"/>
          <p:cNvSpPr/>
          <p:nvPr/>
        </p:nvSpPr>
        <p:spPr>
          <a:xfrm>
            <a:off x="1920240" y="5650992"/>
            <a:ext cx="8366760" cy="475488"/>
          </a:xfrm>
          <a:prstGeom prst="roundRect">
            <a:avLst>
              <a:gd name="adj" fmla="val 7692"/>
            </a:avLst>
          </a:prstGeom>
          <a:solidFill>
            <a:srgbClr val="FFF6D6"/>
          </a:solidFill>
          <a:ln w="12700">
            <a:solidFill>
              <a:srgbClr val="F2D675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2240280" y="5806440"/>
            <a:ext cx="77266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140" b="1" dirty="0">
                <a:solidFill>
                  <a:srgbClr val="7A5A00"/>
                </a:solidFill>
              </a:rPr>
              <a:t>Before trusting a VLM to read chart numbers unsupervised, validate the precise values — not just the semantic gist.</a:t>
            </a:r>
            <a:endParaRPr lang="en-US" sz="114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612880" y="6510528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650">
                <a:solidFill>
                  <a:srgbClr val="9AA4B2"/>
                </a:solidFill>
                <a:latin typeface="Aptos"/>
                <a:ea typeface="Aptos"/>
                <a:cs typeface="Aptos"/>
              </a:defRPr>
            </a:lvl1pPr>
          </a:lstStyle>
          <a:p>
            <a:pPr algn="l"/>
            <a:fld id="{F7021451-1387-4CA6-816F-3879F97B5CBC}" type="slidenum">
              <a:rPr lang="en-US" b="0"/>
              <a:t>24</a:t>
            </a:fld>
            <a:endParaRPr lang="en-US"/>
          </a:p>
        </p:txBody>
      </p:sp>
    </p:spTree>
  </p:cSld>
  <p:clrMapOvr>
    <a:masterClrMapping/>
  </p:clrMapOvr>
  <p:transition spd="med">
    <p:fade/>
  </p:transition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438912"/>
            <a:ext cx="30175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2F80ED"/>
                </a:solidFill>
              </a:rPr>
              <a:t>WRAP-UP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502920" y="713232"/>
            <a:ext cx="109728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600" b="1" dirty="0">
                <a:solidFill>
                  <a:srgbClr val="172033"/>
                </a:solidFill>
              </a:rPr>
              <a:t>What Module 1 Actually Produces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02920" y="1261872"/>
            <a:ext cx="107899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250" dirty="0">
                <a:solidFill>
                  <a:srgbClr val="687385"/>
                </a:solidFill>
              </a:rPr>
              <a:t>The important outcome is not just markdown — it is a set of inspectable artifacts for downstream validation and retrieval.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777240" y="2011680"/>
            <a:ext cx="3200400" cy="109728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2700">
            <a:solidFill>
              <a:srgbClr val="D8DEE9"/>
            </a:solidFill>
            <a:prstDash val="solid"/>
          </a:ln>
          <a:effectLst>
            <a:outerShdw algn="bl" rotWithShape="0">
              <a:srgbClr val="000000">
                <a:alpha val="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1033272" y="2267712"/>
            <a:ext cx="1143000" cy="292608"/>
          </a:xfrm>
          <a:prstGeom prst="roundRect">
            <a:avLst>
              <a:gd name="adj" fmla="val 25000"/>
            </a:avLst>
          </a:prstGeom>
          <a:solidFill>
            <a:srgbClr val="2F80ED"/>
          </a:solidFill>
          <a:ln w="12700">
            <a:solidFill>
              <a:srgbClr val="2F80ED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88136" y="2313432"/>
            <a:ext cx="103327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820" b="1" dirty="0">
                <a:solidFill>
                  <a:srgbClr val="FFFFFF"/>
                </a:solidFill>
              </a:rPr>
              <a:t>pages/</a:t>
            </a:r>
            <a:endParaRPr lang="en-US" sz="820" dirty="0"/>
          </a:p>
        </p:txBody>
      </p:sp>
      <p:sp>
        <p:nvSpPr>
          <p:cNvPr id="8" name="Text 6"/>
          <p:cNvSpPr/>
          <p:nvPr/>
        </p:nvSpPr>
        <p:spPr>
          <a:xfrm>
            <a:off x="2377440" y="2331720"/>
            <a:ext cx="1234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130" b="1" dirty="0">
                <a:solidFill>
                  <a:srgbClr val="172033"/>
                </a:solidFill>
              </a:rPr>
              <a:t>rendered PNGs</a:t>
            </a:r>
            <a:endParaRPr lang="en-US" sz="1130" dirty="0"/>
          </a:p>
        </p:txBody>
      </p:sp>
      <p:sp>
        <p:nvSpPr>
          <p:cNvPr id="9" name="Shape 7"/>
          <p:cNvSpPr/>
          <p:nvPr/>
        </p:nvSpPr>
        <p:spPr>
          <a:xfrm>
            <a:off x="4526280" y="2011680"/>
            <a:ext cx="3200400" cy="109728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2700">
            <a:solidFill>
              <a:srgbClr val="D8DEE9"/>
            </a:solidFill>
            <a:prstDash val="solid"/>
          </a:ln>
          <a:effectLst>
            <a:outerShdw algn="bl" rotWithShape="0">
              <a:srgbClr val="000000">
                <a:alpha val="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782312" y="2267712"/>
            <a:ext cx="1143000" cy="292608"/>
          </a:xfrm>
          <a:prstGeom prst="roundRect">
            <a:avLst>
              <a:gd name="adj" fmla="val 25000"/>
            </a:avLst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837176" y="2313432"/>
            <a:ext cx="103327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820" b="1" dirty="0">
                <a:solidFill>
                  <a:srgbClr val="FFFFFF"/>
                </a:solidFill>
              </a:rPr>
              <a:t>annotated/</a:t>
            </a:r>
            <a:endParaRPr lang="en-US" sz="820" dirty="0"/>
          </a:p>
        </p:txBody>
      </p:sp>
      <p:sp>
        <p:nvSpPr>
          <p:cNvPr id="12" name="Text 10"/>
          <p:cNvSpPr/>
          <p:nvPr/>
        </p:nvSpPr>
        <p:spPr>
          <a:xfrm>
            <a:off x="6126480" y="2331720"/>
            <a:ext cx="1234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130" b="1" dirty="0">
                <a:solidFill>
                  <a:srgbClr val="172033"/>
                </a:solidFill>
              </a:rPr>
              <a:t>layout boxes</a:t>
            </a:r>
            <a:endParaRPr lang="en-US" sz="1130" dirty="0"/>
          </a:p>
        </p:txBody>
      </p:sp>
      <p:sp>
        <p:nvSpPr>
          <p:cNvPr id="13" name="Shape 11"/>
          <p:cNvSpPr/>
          <p:nvPr/>
        </p:nvSpPr>
        <p:spPr>
          <a:xfrm>
            <a:off x="8275320" y="2011680"/>
            <a:ext cx="3200400" cy="109728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2700">
            <a:solidFill>
              <a:srgbClr val="D8DEE9"/>
            </a:solidFill>
            <a:prstDash val="solid"/>
          </a:ln>
          <a:effectLst>
            <a:outerShdw algn="bl" rotWithShape="0">
              <a:srgbClr val="000000">
                <a:alpha val="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8531352" y="2267712"/>
            <a:ext cx="1143000" cy="292608"/>
          </a:xfrm>
          <a:prstGeom prst="roundRect">
            <a:avLst>
              <a:gd name="adj" fmla="val 25000"/>
            </a:avLst>
          </a:prstGeom>
          <a:solidFill>
            <a:srgbClr val="2FA36B"/>
          </a:solidFill>
          <a:ln w="12700">
            <a:solidFill>
              <a:srgbClr val="2FA36B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586216" y="2313432"/>
            <a:ext cx="103327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820" b="1" dirty="0">
                <a:solidFill>
                  <a:srgbClr val="FFFFFF"/>
                </a:solidFill>
              </a:rPr>
              <a:t>images/</a:t>
            </a:r>
            <a:endParaRPr lang="en-US" sz="820" dirty="0"/>
          </a:p>
        </p:txBody>
      </p:sp>
      <p:sp>
        <p:nvSpPr>
          <p:cNvPr id="16" name="Text 14"/>
          <p:cNvSpPr/>
          <p:nvPr/>
        </p:nvSpPr>
        <p:spPr>
          <a:xfrm>
            <a:off x="9875520" y="2331720"/>
            <a:ext cx="1234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130" b="1" dirty="0">
                <a:solidFill>
                  <a:srgbClr val="172033"/>
                </a:solidFill>
              </a:rPr>
              <a:t>cropped figures</a:t>
            </a:r>
            <a:endParaRPr lang="en-US" sz="1130" dirty="0"/>
          </a:p>
        </p:txBody>
      </p:sp>
      <p:sp>
        <p:nvSpPr>
          <p:cNvPr id="17" name="Shape 15"/>
          <p:cNvSpPr/>
          <p:nvPr/>
        </p:nvSpPr>
        <p:spPr>
          <a:xfrm>
            <a:off x="777240" y="3520440"/>
            <a:ext cx="3200400" cy="109728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2700">
            <a:solidFill>
              <a:srgbClr val="D8DEE9"/>
            </a:solidFill>
            <a:prstDash val="solid"/>
          </a:ln>
          <a:effectLst>
            <a:outerShdw algn="bl" rotWithShape="0">
              <a:srgbClr val="000000">
                <a:alpha val="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1033272" y="3776472"/>
            <a:ext cx="1143000" cy="292608"/>
          </a:xfrm>
          <a:prstGeom prst="roundRect">
            <a:avLst>
              <a:gd name="adj" fmla="val 250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1088136" y="3822192"/>
            <a:ext cx="103327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820" b="1" dirty="0">
                <a:solidFill>
                  <a:srgbClr val="FFFFFF"/>
                </a:solidFill>
              </a:rPr>
              <a:t>&lt;doc&gt;.md</a:t>
            </a:r>
            <a:endParaRPr lang="en-US" sz="820" dirty="0"/>
          </a:p>
        </p:txBody>
      </p:sp>
      <p:sp>
        <p:nvSpPr>
          <p:cNvPr id="20" name="Text 18"/>
          <p:cNvSpPr/>
          <p:nvPr/>
        </p:nvSpPr>
        <p:spPr>
          <a:xfrm>
            <a:off x="2377440" y="3840480"/>
            <a:ext cx="1234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130" b="1" dirty="0">
                <a:solidFill>
                  <a:srgbClr val="172033"/>
                </a:solidFill>
              </a:rPr>
              <a:t>structured content</a:t>
            </a:r>
            <a:endParaRPr lang="en-US" sz="1130" dirty="0"/>
          </a:p>
        </p:txBody>
      </p:sp>
      <p:sp>
        <p:nvSpPr>
          <p:cNvPr id="21" name="Shape 19"/>
          <p:cNvSpPr/>
          <p:nvPr/>
        </p:nvSpPr>
        <p:spPr>
          <a:xfrm>
            <a:off x="4526280" y="3520440"/>
            <a:ext cx="3200400" cy="109728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2700">
            <a:solidFill>
              <a:srgbClr val="D8DEE9"/>
            </a:solidFill>
            <a:prstDash val="solid"/>
          </a:ln>
          <a:effectLst>
            <a:outerShdw algn="bl" rotWithShape="0">
              <a:srgbClr val="000000">
                <a:alpha val="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4782312" y="3776472"/>
            <a:ext cx="1143000" cy="292608"/>
          </a:xfrm>
          <a:prstGeom prst="roundRect">
            <a:avLst>
              <a:gd name="adj" fmla="val 25000"/>
            </a:avLst>
          </a:prstGeom>
          <a:solidFill>
            <a:srgbClr val="E45757"/>
          </a:solidFill>
          <a:ln w="12700">
            <a:solidFill>
              <a:srgbClr val="E45757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4837176" y="3822192"/>
            <a:ext cx="103327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820" b="1" dirty="0">
                <a:solidFill>
                  <a:srgbClr val="FFFFFF"/>
                </a:solidFill>
              </a:rPr>
              <a:t>metadata.json</a:t>
            </a:r>
            <a:endParaRPr lang="en-US" sz="820" dirty="0"/>
          </a:p>
        </p:txBody>
      </p:sp>
      <p:sp>
        <p:nvSpPr>
          <p:cNvPr id="24" name="Text 22"/>
          <p:cNvSpPr/>
          <p:nvPr/>
        </p:nvSpPr>
        <p:spPr>
          <a:xfrm>
            <a:off x="6126480" y="3840480"/>
            <a:ext cx="1234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130" b="1" dirty="0">
                <a:solidFill>
                  <a:srgbClr val="172033"/>
                </a:solidFill>
              </a:rPr>
              <a:t>summary + flags</a:t>
            </a:r>
            <a:endParaRPr lang="en-US" sz="1130" dirty="0"/>
          </a:p>
        </p:txBody>
      </p:sp>
      <p:sp>
        <p:nvSpPr>
          <p:cNvPr id="25" name="Shape 23"/>
          <p:cNvSpPr/>
          <p:nvPr/>
        </p:nvSpPr>
        <p:spPr>
          <a:xfrm>
            <a:off x="8275320" y="3520440"/>
            <a:ext cx="3200400" cy="109728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2700">
            <a:solidFill>
              <a:srgbClr val="D8DEE9"/>
            </a:solidFill>
            <a:prstDash val="solid"/>
          </a:ln>
          <a:effectLst>
            <a:outerShdw algn="bl" rotWithShape="0">
              <a:srgbClr val="000000">
                <a:alpha val="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8531352" y="3776472"/>
            <a:ext cx="1143000" cy="292608"/>
          </a:xfrm>
          <a:prstGeom prst="roundRect">
            <a:avLst>
              <a:gd name="adj" fmla="val 25000"/>
            </a:avLst>
          </a:prstGeom>
          <a:solidFill>
            <a:srgbClr val="25A7D9"/>
          </a:solidFill>
          <a:ln w="12700">
            <a:solidFill>
              <a:srgbClr val="25A7D9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8586216" y="3822192"/>
            <a:ext cx="103327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820" b="1" dirty="0">
                <a:solidFill>
                  <a:srgbClr val="FFFFFF"/>
                </a:solidFill>
              </a:rPr>
              <a:t>regions.json</a:t>
            </a:r>
            <a:endParaRPr lang="en-US" sz="820" dirty="0"/>
          </a:p>
        </p:txBody>
      </p:sp>
      <p:sp>
        <p:nvSpPr>
          <p:cNvPr id="28" name="Text 26"/>
          <p:cNvSpPr/>
          <p:nvPr/>
        </p:nvSpPr>
        <p:spPr>
          <a:xfrm>
            <a:off x="9875520" y="3840480"/>
            <a:ext cx="1234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130" b="1" dirty="0">
                <a:solidFill>
                  <a:srgbClr val="172033"/>
                </a:solidFill>
              </a:rPr>
              <a:t>full layout evidence</a:t>
            </a:r>
            <a:endParaRPr lang="en-US" sz="1130" dirty="0"/>
          </a:p>
        </p:txBody>
      </p:sp>
      <p:sp>
        <p:nvSpPr>
          <p:cNvPr id="29" name="Shape 27"/>
          <p:cNvSpPr/>
          <p:nvPr/>
        </p:nvSpPr>
        <p:spPr>
          <a:xfrm>
            <a:off x="1417320" y="5376672"/>
            <a:ext cx="9326880" cy="530352"/>
          </a:xfrm>
          <a:prstGeom prst="roundRect">
            <a:avLst>
              <a:gd name="adj" fmla="val 6897"/>
            </a:avLst>
          </a:prstGeom>
          <a:solidFill>
            <a:srgbClr val="EAF3FF"/>
          </a:solidFill>
          <a:ln w="12700">
            <a:solidFill>
              <a:srgbClr val="B7D8FF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1783080" y="5550408"/>
            <a:ext cx="859536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20" b="1" dirty="0">
                <a:solidFill>
                  <a:srgbClr val="2F80ED"/>
                </a:solidFill>
              </a:rPr>
              <a:t>Module 2 validates these outputs → Module 3 converts validated regions into retrieval-ready chunks.</a:t>
            </a:r>
            <a:endParaRPr lang="en-US" sz="1220" dirty="0"/>
          </a:p>
        </p:txBody>
      </p:sp>
      <p:sp>
        <p:nvSpPr>
          <p:cNvPr id="31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612880" y="6510528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650">
                <a:solidFill>
                  <a:srgbClr val="9AA4B2"/>
                </a:solidFill>
                <a:latin typeface="Aptos"/>
                <a:ea typeface="Aptos"/>
                <a:cs typeface="Aptos"/>
              </a:defRPr>
            </a:lvl1pPr>
          </a:lstStyle>
          <a:p>
            <a:pPr algn="l"/>
            <a:fld id="{F7021451-1387-4CA6-816F-3879F97B5CBC}" type="slidenum">
              <a:rPr lang="en-US" b="0"/>
              <a:t>25</a:t>
            </a:fld>
            <a:endParaRPr lang="en-US"/>
          </a:p>
        </p:txBody>
      </p:sp>
    </p:spTree>
  </p:cSld>
  <p:clrMapOvr>
    <a:masterClrMapping/>
  </p:clrMapOvr>
  <p:transition spd="med">
    <p:fade/>
  </p:transition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438912"/>
            <a:ext cx="30175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2F80ED"/>
                </a:solidFill>
              </a:rPr>
              <a:t>SOURCES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502920" y="713232"/>
            <a:ext cx="109728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600" b="1" dirty="0">
                <a:solidFill>
                  <a:srgbClr val="172033"/>
                </a:solidFill>
              </a:rPr>
              <a:t>Internet Visuals &amp; Technical References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94360" y="1645920"/>
            <a:ext cx="5532120" cy="4526280"/>
          </a:xfrm>
          <a:prstGeom prst="roundRect">
            <a:avLst>
              <a:gd name="adj" fmla="val 1616"/>
            </a:avLst>
          </a:prstGeom>
          <a:solidFill>
            <a:srgbClr val="F7F9FC"/>
          </a:solidFill>
          <a:ln w="12700">
            <a:solidFill>
              <a:srgbClr val="D8DEE9"/>
            </a:solidFill>
            <a:prstDash val="solid"/>
          </a:ln>
          <a:effectLst>
            <a:outerShdw algn="bl" rotWithShape="0">
              <a:srgbClr val="000000">
                <a:alpha val="0"/>
              </a:srgbClr>
            </a:outerShdw>
          </a:effectLst>
        </p:spPr>
      </p:sp>
      <p:pic>
        <p:nvPicPr>
          <p:cNvPr id="5" name="Image 0" descr="/mnt/data/nasa_iss_char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7448" y="1965960"/>
            <a:ext cx="4876800" cy="274320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914400" y="4937760"/>
            <a:ext cx="4846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172033"/>
                </a:solidFill>
              </a:rPr>
              <a:t>Internet visual used in this deck</a:t>
            </a:r>
            <a:endParaRPr lang="en-US" sz="1100" dirty="0"/>
          </a:p>
        </p:txBody>
      </p:sp>
      <p:sp>
        <p:nvSpPr>
          <p:cNvPr id="7" name="Text 4"/>
          <p:cNvSpPr/>
          <p:nvPr/>
        </p:nvSpPr>
        <p:spPr>
          <a:xfrm>
            <a:off x="914400" y="5285232"/>
            <a:ext cx="48463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40" dirty="0">
                <a:solidFill>
                  <a:srgbClr val="687385"/>
                </a:solidFill>
              </a:rPr>
              <a:t>NASA Scientific Visualization Studio — International Space Station Earth Science operating missions graphic.</a:t>
            </a:r>
            <a:endParaRPr lang="en-US" sz="1040" dirty="0"/>
          </a:p>
        </p:txBody>
      </p:sp>
      <p:sp>
        <p:nvSpPr>
          <p:cNvPr id="8" name="Text 5"/>
          <p:cNvSpPr/>
          <p:nvPr/>
        </p:nvSpPr>
        <p:spPr>
          <a:xfrm>
            <a:off x="914400" y="5806440"/>
            <a:ext cx="48463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20" dirty="0">
                <a:solidFill>
                  <a:srgbClr val="2F80ED"/>
                </a:solidFill>
              </a:rPr>
              <a:t>https://svs.gsfc.nasa.gov/30280</a:t>
            </a:r>
            <a:endParaRPr lang="en-US" sz="820" dirty="0"/>
          </a:p>
        </p:txBody>
      </p:sp>
      <p:sp>
        <p:nvSpPr>
          <p:cNvPr id="9" name="Shape 6"/>
          <p:cNvSpPr/>
          <p:nvPr/>
        </p:nvSpPr>
        <p:spPr>
          <a:xfrm>
            <a:off x="6492240" y="1645920"/>
            <a:ext cx="5074920" cy="4526280"/>
          </a:xfrm>
          <a:prstGeom prst="roundRect">
            <a:avLst>
              <a:gd name="adj" fmla="val 1616"/>
            </a:avLst>
          </a:prstGeom>
          <a:solidFill>
            <a:srgbClr val="FFFFFF"/>
          </a:solidFill>
          <a:ln w="12700">
            <a:solidFill>
              <a:srgbClr val="D8DEE9"/>
            </a:solidFill>
            <a:prstDash val="solid"/>
          </a:ln>
          <a:effectLst>
            <a:outerShdw algn="bl" rotWithShape="0">
              <a:srgbClr val="000000">
                <a:alpha val="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6839712" y="2048256"/>
            <a:ext cx="384048" cy="292608"/>
          </a:xfrm>
          <a:prstGeom prst="roundRect">
            <a:avLst>
              <a:gd name="adj" fmla="val 25000"/>
            </a:avLst>
          </a:prstGeom>
          <a:solidFill>
            <a:srgbClr val="2F80ED"/>
          </a:solidFill>
          <a:ln w="12700">
            <a:solidFill>
              <a:srgbClr val="2F80ED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6894576" y="2093976"/>
            <a:ext cx="2743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820" b="1" dirty="0">
                <a:solidFill>
                  <a:srgbClr val="FFFFFF"/>
                </a:solidFill>
              </a:rPr>
              <a:t>1</a:t>
            </a:r>
            <a:endParaRPr lang="en-US" sz="820" dirty="0"/>
          </a:p>
        </p:txBody>
      </p:sp>
      <p:sp>
        <p:nvSpPr>
          <p:cNvPr id="12" name="Text 9"/>
          <p:cNvSpPr/>
          <p:nvPr/>
        </p:nvSpPr>
        <p:spPr>
          <a:xfrm>
            <a:off x="7388352" y="2039112"/>
            <a:ext cx="2057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80" b="1" dirty="0">
                <a:solidFill>
                  <a:srgbClr val="172033"/>
                </a:solidFill>
              </a:rPr>
              <a:t>PyMuPDF page rendering</a:t>
            </a:r>
            <a:endParaRPr lang="en-US" sz="1080" dirty="0"/>
          </a:p>
        </p:txBody>
      </p:sp>
      <p:sp>
        <p:nvSpPr>
          <p:cNvPr id="13" name="Text 10"/>
          <p:cNvSpPr/>
          <p:nvPr/>
        </p:nvSpPr>
        <p:spPr>
          <a:xfrm>
            <a:off x="9400032" y="2057400"/>
            <a:ext cx="17373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840" dirty="0">
                <a:solidFill>
                  <a:srgbClr val="2F80ED"/>
                </a:solidFill>
              </a:rPr>
              <a:t>pymupdf.readthedocs.io/en/latest/page.html</a:t>
            </a:r>
            <a:endParaRPr lang="en-US" sz="840" dirty="0"/>
          </a:p>
        </p:txBody>
      </p:sp>
      <p:sp>
        <p:nvSpPr>
          <p:cNvPr id="14" name="Shape 11"/>
          <p:cNvSpPr/>
          <p:nvPr/>
        </p:nvSpPr>
        <p:spPr>
          <a:xfrm>
            <a:off x="6839712" y="2724912"/>
            <a:ext cx="384048" cy="292608"/>
          </a:xfrm>
          <a:prstGeom prst="roundRect">
            <a:avLst>
              <a:gd name="adj" fmla="val 25000"/>
            </a:avLst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6894576" y="2770632"/>
            <a:ext cx="2743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820" b="1" dirty="0">
                <a:solidFill>
                  <a:srgbClr val="FFFFFF"/>
                </a:solidFill>
              </a:rPr>
              <a:t>2</a:t>
            </a:r>
            <a:endParaRPr lang="en-US" sz="820" dirty="0"/>
          </a:p>
        </p:txBody>
      </p:sp>
      <p:sp>
        <p:nvSpPr>
          <p:cNvPr id="16" name="Text 13"/>
          <p:cNvSpPr/>
          <p:nvPr/>
        </p:nvSpPr>
        <p:spPr>
          <a:xfrm>
            <a:off x="7388352" y="2715768"/>
            <a:ext cx="2057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80" b="1" dirty="0">
                <a:solidFill>
                  <a:srgbClr val="172033"/>
                </a:solidFill>
              </a:rPr>
              <a:t>DocLayout-YOLO</a:t>
            </a:r>
            <a:endParaRPr lang="en-US" sz="1080" dirty="0"/>
          </a:p>
        </p:txBody>
      </p:sp>
      <p:sp>
        <p:nvSpPr>
          <p:cNvPr id="17" name="Text 14"/>
          <p:cNvSpPr/>
          <p:nvPr/>
        </p:nvSpPr>
        <p:spPr>
          <a:xfrm>
            <a:off x="9400032" y="2734056"/>
            <a:ext cx="17373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840" dirty="0">
                <a:solidFill>
                  <a:srgbClr val="2F80ED"/>
                </a:solidFill>
              </a:rPr>
              <a:t>github.com/opendatalab/DocLayout-YOLO</a:t>
            </a:r>
            <a:endParaRPr lang="en-US" sz="840" dirty="0"/>
          </a:p>
        </p:txBody>
      </p:sp>
      <p:sp>
        <p:nvSpPr>
          <p:cNvPr id="18" name="Shape 15"/>
          <p:cNvSpPr/>
          <p:nvPr/>
        </p:nvSpPr>
        <p:spPr>
          <a:xfrm>
            <a:off x="6839712" y="3401568"/>
            <a:ext cx="384048" cy="292608"/>
          </a:xfrm>
          <a:prstGeom prst="roundRect">
            <a:avLst>
              <a:gd name="adj" fmla="val 25000"/>
            </a:avLst>
          </a:prstGeom>
          <a:solidFill>
            <a:srgbClr val="25A7D9"/>
          </a:solidFill>
          <a:ln w="12700">
            <a:solidFill>
              <a:srgbClr val="25A7D9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6894576" y="3447288"/>
            <a:ext cx="2743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820" b="1" dirty="0">
                <a:solidFill>
                  <a:srgbClr val="FFFFFF"/>
                </a:solidFill>
              </a:rPr>
              <a:t>3</a:t>
            </a:r>
            <a:endParaRPr lang="en-US" sz="820" dirty="0"/>
          </a:p>
        </p:txBody>
      </p:sp>
      <p:sp>
        <p:nvSpPr>
          <p:cNvPr id="20" name="Text 17"/>
          <p:cNvSpPr/>
          <p:nvPr/>
        </p:nvSpPr>
        <p:spPr>
          <a:xfrm>
            <a:off x="7388352" y="3392424"/>
            <a:ext cx="2057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80" b="1" dirty="0">
                <a:solidFill>
                  <a:srgbClr val="172033"/>
                </a:solidFill>
              </a:rPr>
              <a:t>DocLayout-YOLO paper</a:t>
            </a:r>
            <a:endParaRPr lang="en-US" sz="1080" dirty="0"/>
          </a:p>
        </p:txBody>
      </p:sp>
      <p:sp>
        <p:nvSpPr>
          <p:cNvPr id="21" name="Text 18"/>
          <p:cNvSpPr/>
          <p:nvPr/>
        </p:nvSpPr>
        <p:spPr>
          <a:xfrm>
            <a:off x="9400032" y="3410712"/>
            <a:ext cx="17373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840" dirty="0">
                <a:solidFill>
                  <a:srgbClr val="2F80ED"/>
                </a:solidFill>
              </a:rPr>
              <a:t>arxiv.org/abs/2410.12628</a:t>
            </a:r>
            <a:endParaRPr lang="en-US" sz="840" dirty="0"/>
          </a:p>
        </p:txBody>
      </p:sp>
      <p:sp>
        <p:nvSpPr>
          <p:cNvPr id="22" name="Shape 19"/>
          <p:cNvSpPr/>
          <p:nvPr/>
        </p:nvSpPr>
        <p:spPr>
          <a:xfrm>
            <a:off x="6839712" y="4078224"/>
            <a:ext cx="384048" cy="292608"/>
          </a:xfrm>
          <a:prstGeom prst="roundRect">
            <a:avLst>
              <a:gd name="adj" fmla="val 250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6894576" y="4123944"/>
            <a:ext cx="2743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820" b="1" dirty="0">
                <a:solidFill>
                  <a:srgbClr val="FFFFFF"/>
                </a:solidFill>
              </a:rPr>
              <a:t>4</a:t>
            </a:r>
            <a:endParaRPr lang="en-US" sz="820" dirty="0"/>
          </a:p>
        </p:txBody>
      </p:sp>
      <p:sp>
        <p:nvSpPr>
          <p:cNvPr id="24" name="Text 21"/>
          <p:cNvSpPr/>
          <p:nvPr/>
        </p:nvSpPr>
        <p:spPr>
          <a:xfrm>
            <a:off x="7388352" y="4069080"/>
            <a:ext cx="2057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80" b="1" dirty="0">
                <a:solidFill>
                  <a:srgbClr val="172033"/>
                </a:solidFill>
              </a:rPr>
              <a:t>Qwen3.5-0.8B model card</a:t>
            </a:r>
            <a:endParaRPr lang="en-US" sz="1080" dirty="0"/>
          </a:p>
        </p:txBody>
      </p:sp>
      <p:sp>
        <p:nvSpPr>
          <p:cNvPr id="25" name="Text 22"/>
          <p:cNvSpPr/>
          <p:nvPr/>
        </p:nvSpPr>
        <p:spPr>
          <a:xfrm>
            <a:off x="9400032" y="4087368"/>
            <a:ext cx="17373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840" dirty="0">
                <a:solidFill>
                  <a:srgbClr val="2F80ED"/>
                </a:solidFill>
              </a:rPr>
              <a:t>huggingface.co/Qwen/Qwen3.5-0.8B</a:t>
            </a:r>
            <a:endParaRPr lang="en-US" sz="840" dirty="0"/>
          </a:p>
        </p:txBody>
      </p:sp>
      <p:sp>
        <p:nvSpPr>
          <p:cNvPr id="26" name="Shape 23"/>
          <p:cNvSpPr/>
          <p:nvPr/>
        </p:nvSpPr>
        <p:spPr>
          <a:xfrm>
            <a:off x="6839712" y="4754880"/>
            <a:ext cx="384048" cy="292608"/>
          </a:xfrm>
          <a:prstGeom prst="roundRect">
            <a:avLst>
              <a:gd name="adj" fmla="val 25000"/>
            </a:avLst>
          </a:prstGeom>
          <a:solidFill>
            <a:srgbClr val="2FA36B"/>
          </a:solidFill>
          <a:ln w="12700">
            <a:solidFill>
              <a:srgbClr val="2FA36B"/>
            </a:solidFill>
            <a:prstDash val="solid"/>
          </a:ln>
        </p:spPr>
      </p:sp>
      <p:sp>
        <p:nvSpPr>
          <p:cNvPr id="27" name="Text 24"/>
          <p:cNvSpPr/>
          <p:nvPr/>
        </p:nvSpPr>
        <p:spPr>
          <a:xfrm>
            <a:off x="6894576" y="4800600"/>
            <a:ext cx="2743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820" b="1" dirty="0">
                <a:solidFill>
                  <a:srgbClr val="FFFFFF"/>
                </a:solidFill>
              </a:rPr>
              <a:t>5</a:t>
            </a:r>
            <a:endParaRPr lang="en-US" sz="820" dirty="0"/>
          </a:p>
        </p:txBody>
      </p:sp>
      <p:sp>
        <p:nvSpPr>
          <p:cNvPr id="28" name="Text 25"/>
          <p:cNvSpPr/>
          <p:nvPr/>
        </p:nvSpPr>
        <p:spPr>
          <a:xfrm>
            <a:off x="7388352" y="4745736"/>
            <a:ext cx="2057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80" b="1" dirty="0">
                <a:solidFill>
                  <a:srgbClr val="172033"/>
                </a:solidFill>
              </a:rPr>
              <a:t>Measured findings / screenshots</a:t>
            </a:r>
            <a:endParaRPr lang="en-US" sz="1080" dirty="0"/>
          </a:p>
        </p:txBody>
      </p:sp>
      <p:sp>
        <p:nvSpPr>
          <p:cNvPr id="29" name="Text 26"/>
          <p:cNvSpPr/>
          <p:nvPr/>
        </p:nvSpPr>
        <p:spPr>
          <a:xfrm>
            <a:off x="9400032" y="4764024"/>
            <a:ext cx="17373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840" dirty="0">
                <a:solidFill>
                  <a:srgbClr val="2F80ED"/>
                </a:solidFill>
              </a:rPr>
              <a:t>Provided OCR_Module_Overview.pptx</a:t>
            </a:r>
            <a:endParaRPr lang="en-US" sz="840" dirty="0"/>
          </a:p>
        </p:txBody>
      </p:sp>
      <p:sp>
        <p:nvSpPr>
          <p:cNvPr id="30" name="Text 27"/>
          <p:cNvSpPr/>
          <p:nvPr/>
        </p:nvSpPr>
        <p:spPr>
          <a:xfrm>
            <a:off x="6949440" y="5623560"/>
            <a:ext cx="41605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30" b="1" dirty="0">
                <a:solidFill>
                  <a:srgbClr val="172033"/>
                </a:solidFill>
              </a:rPr>
              <a:t>No AI-generated imagery is used. All teaching diagrams are native PowerPoint shapes; the NASA graphic is web-sourced and cited above.</a:t>
            </a:r>
            <a:endParaRPr lang="en-US" sz="1030" dirty="0"/>
          </a:p>
        </p:txBody>
      </p:sp>
      <p:sp>
        <p:nvSpPr>
          <p:cNvPr id="31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612880" y="6510528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650">
                <a:solidFill>
                  <a:srgbClr val="9AA4B2"/>
                </a:solidFill>
                <a:latin typeface="Aptos"/>
                <a:ea typeface="Aptos"/>
                <a:cs typeface="Aptos"/>
              </a:defRPr>
            </a:lvl1pPr>
          </a:lstStyle>
          <a:p>
            <a:pPr algn="l"/>
            <a:fld id="{F7021451-1387-4CA6-816F-3879F97B5CBC}" type="slidenum">
              <a:rPr lang="en-US" b="0"/>
              <a:t>26</a:t>
            </a:fld>
            <a:endParaRPr lang="en-US"/>
          </a:p>
        </p:txBody>
      </p:sp>
    </p:spTree>
  </p:cSld>
  <p:clrMapOvr>
    <a:masterClrMapping/>
  </p:clrMapOvr>
  <p:transition spd="med">
    <p:fade/>
  </p:transition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05840" y="2743200"/>
            <a:ext cx="45720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FFFFFF"/>
                </a:solidFill>
              </a:rPr>
              <a:t>Questions?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1005840" y="3694176"/>
            <a:ext cx="8046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100" dirty="0">
                <a:solidFill>
                  <a:srgbClr val="9FB0C7"/>
                </a:solidFill>
              </a:rPr>
              <a:t>1. OCR/  —  README.md has the full pipeline detail, every prompt, and every finding in this deck.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1005840" y="5715000"/>
            <a:ext cx="5029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718096"/>
                </a:solidFill>
              </a:rPr>
              <a:t>Module 1  ·  Data Processing → Analysis → Chunking</a:t>
            </a:r>
            <a:endParaRPr lang="en-US" sz="800" dirty="0"/>
          </a:p>
        </p:txBody>
      </p:sp>
    </p:spTree>
  </p:cSld>
  <p:clrMapOvr>
    <a:masterClrMapping/>
  </p:clrMapOvr>
  <p:transition spd="med">
    <p:fade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ptos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Widescreen</PresentationFormat>
  <Paragraphs>0</Paragraphs>
  <Slides>27</Slides>
  <Notes>27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27</vt:i4>
      </vt:variant>
    </vt:vector>
  </HeadingPairs>
  <TitlesOfParts>
    <vt:vector size="28" baseType="lpstr"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OpenAI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OCR &amp; Document Understanding</dc:title>
  <dc:subject>Module 1 OCR &amp; Document Understanding — enhanced teaching deck</dc:subject>
  <dc:creator>OpenAI</dc:creator>
  <cp:lastModifiedBy>OpenAI</cp:lastModifiedBy>
  <cp:revision>3</cp:revision>
  <dcterms:created xsi:type="dcterms:W3CDTF">2026-08-12T07:50:20Z</dcterms:created>
  <dcterms:modified xsi:type="dcterms:W3CDTF">2026-08-12T08:09:55Z</dcterms:modified>
</cp:coreProperties>
</file>